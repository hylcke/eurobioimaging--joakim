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 id="2147483661" r:id="rId2"/>
  </p:sldMasterIdLst>
  <p:notesMasterIdLst>
    <p:notesMasterId r:id="rId16"/>
  </p:notesMasterIdLst>
  <p:sldIdLst>
    <p:sldId id="256" r:id="rId15"/>
    <p:sldId id="257" r:id="rId14"/>
    <p:sldId id="258" r:id="rId13"/>
    <p:sldId id="259" r:id="rId12"/>
    <p:sldId id="260" r:id="rId11"/>
  </p:sldIdLst>
  <p:sldSz cx="9144000" cy="5143500" type="screen16x9"/>
  <p:notesSz cx="6858000" cy="9144000"/>
  <p:embeddedFontLst>
    <p:embeddedFont>
      <p:font typeface="Source Sans 3" panose="020B0604020202020204" charset="0"/>
      <p:regular r:id="rId17"/>
      <p:bold r:id="rId18"/>
      <p:italic r:id="rId19"/>
      <p:boldItalic r:id="rId20"/>
    </p:embeddedFont>
    <p:embeddedFont>
      <p:font typeface="Trebuchet MS" panose="020B0603020202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xot8lDP454PmE5ymi9AGf9wZqG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udeep Das"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3" d="100"/>
          <a:sy n="123" d="100"/>
        </p:scale>
        <p:origin x="64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2.xml"/><Relationship Id="rId15" Type="http://schemas.openxmlformats.org/officeDocument/2006/relationships/slide" Target="slides/slide1.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48" Type="http://customschemas.google.com/relationships/presentationmetadata" Target="metadata"/><Relationship Id="rId49" Type="http://schemas.openxmlformats.org/officeDocument/2006/relationships/commentAuthors" Target="commentAuthors.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520" y="764280"/>
            <a:ext cx="6704640" cy="37713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372840" cy="50256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9200" y="0"/>
            <a:ext cx="3372840" cy="502560"/>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480"/>
            <a:ext cx="3372840" cy="50256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Times New Roman"/>
              <a:buNone/>
            </a:pPr>
            <a:fld id="{00000000-1234-1234-1234-123412341234}" type="slidenum">
              <a:rPr lang="en-GB"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Knowledge Base Master is an Excel file on the local computer. Python scripts there turn it into one JSON file per Node. We upload that folder to Google Drive. The n8n workflow runs in the cloud, reads the files from Drive, has Claude write the text, builds each page and saves it in the EB-Nodes folder. The finished pages are then uploaded to GitHub by hand, together with the code and the prompt.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sheet feeds a different part of the Node file. The AI writer gets the facts it needs to write. Contacts, websites and the service list are printed by code and never go to the AI. Anything that is missing or on hold is collected in a review list for me and for Data Enrichment. The older August master is only used for the Node description, specialties, website and contact, after reconcile.py has checked it against the Knowledge Base.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workflow is called EB-NODES KB descriptions and runs in n8n cloud. Two Google Sheets nodes are still in the workflow but switched off. Code nodes are written as files on my laptop, tested there and then pasted into n8n.</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Node page has the same six sections, so researchers can compare Nodes. The text is written by the AI from the checked data. The tables, the service list and the contacts are copied straight from the Knowledge Base.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type="title">
  <p:cSld name="TITLE">
    <p:spTree>
      <p:nvGrpSpPr>
        <p:cNvPr id="1" name="Shape 86"/>
        <p:cNvGrpSpPr/>
        <p:nvPr/>
      </p:nvGrpSpPr>
      <p:grpSpPr>
        <a:xfrm>
          <a:off x="0" y="0"/>
          <a:ext cx="0" cy="0"/>
          <a:chOff x="0" y="0"/>
          <a:chExt cx="0" cy="0"/>
        </a:xfrm>
      </p:grpSpPr>
      <p:sp>
        <p:nvSpPr>
          <p:cNvPr id="87" name="Google Shape;87;g3d53f3296fc_0_842"/>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g3d53f3296fc_0_842"/>
          <p:cNvSpPr txBox="1">
            <a:spLocks noGrp="1"/>
          </p:cNvSpPr>
          <p:nvPr>
            <p:ph type="subTitle" idx="1"/>
          </p:nvPr>
        </p:nvSpPr>
        <p:spPr>
          <a:xfrm>
            <a:off x="311760" y="1152360"/>
            <a:ext cx="8520000" cy="34161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Slide" type="obj">
  <p:cSld name="OBJECT">
    <p:spTree>
      <p:nvGrpSpPr>
        <p:cNvPr id="1" name="Shape 89"/>
        <p:cNvGrpSpPr/>
        <p:nvPr/>
      </p:nvGrpSpPr>
      <p:grpSpPr>
        <a:xfrm>
          <a:off x="0" y="0"/>
          <a:ext cx="0" cy="0"/>
          <a:chOff x="0" y="0"/>
          <a:chExt cx="0" cy="0"/>
        </a:xfrm>
      </p:grpSpPr>
      <p:sp>
        <p:nvSpPr>
          <p:cNvPr id="90" name="Google Shape;90;g3d53f3296fc_0_845"/>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g3d53f3296fc_0_845"/>
          <p:cNvSpPr txBox="1">
            <a:spLocks noGrp="1"/>
          </p:cNvSpPr>
          <p:nvPr>
            <p:ph type="body" idx="1"/>
          </p:nvPr>
        </p:nvSpPr>
        <p:spPr>
          <a:xfrm>
            <a:off x="311760" y="1152360"/>
            <a:ext cx="8520000" cy="34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blank">
  <p:cSld name="BLANK">
    <p:spTree>
      <p:nvGrpSpPr>
        <p:cNvPr id="1" name="Shape 10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obj">
  <p:cSld name="OBJECT">
    <p:spTree>
      <p:nvGrpSpPr>
        <p:cNvPr id="1" name="Shape 109"/>
        <p:cNvGrpSpPr/>
        <p:nvPr/>
      </p:nvGrpSpPr>
      <p:grpSpPr>
        <a:xfrm>
          <a:off x="0" y="0"/>
          <a:ext cx="0" cy="0"/>
          <a:chOff x="0" y="0"/>
          <a:chExt cx="0" cy="0"/>
        </a:xfrm>
      </p:grpSpPr>
      <p:sp>
        <p:nvSpPr>
          <p:cNvPr id="110" name="Google Shape;110;g3d53f3296fc_0_865"/>
          <p:cNvSpPr txBox="1">
            <a:spLocks noGrp="1"/>
          </p:cNvSpPr>
          <p:nvPr>
            <p:ph type="title"/>
          </p:nvPr>
        </p:nvSpPr>
        <p:spPr>
          <a:xfrm>
            <a:off x="311760" y="444960"/>
            <a:ext cx="8520000" cy="5724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g3d53f3296fc_0_865"/>
          <p:cNvSpPr txBox="1">
            <a:spLocks noGrp="1"/>
          </p:cNvSpPr>
          <p:nvPr>
            <p:ph type="body" idx="1"/>
          </p:nvPr>
        </p:nvSpPr>
        <p:spPr>
          <a:xfrm>
            <a:off x="311760" y="1152360"/>
            <a:ext cx="8520000" cy="34161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pic>
        <p:nvPicPr>
          <p:cNvPr id="71" name="Google Shape;71;g3d53f3296fc_0_826" descr="A picture containing drawing, sketch, child art, art&#10;&#10;Description automatically generated"/>
          <p:cNvPicPr preferRelativeResize="0"/>
          <p:nvPr/>
        </p:nvPicPr>
        <p:blipFill rotWithShape="1">
          <a:blip r:embed="rId4">
            <a:alphaModFix amt="65000"/>
          </a:blip>
          <a:srcRect r="2997" b="2997"/>
          <a:stretch/>
        </p:blipFill>
        <p:spPr>
          <a:xfrm>
            <a:off x="360" y="0"/>
            <a:ext cx="9143281" cy="5143320"/>
          </a:xfrm>
          <a:prstGeom prst="rect">
            <a:avLst/>
          </a:prstGeom>
          <a:noFill/>
          <a:ln>
            <a:noFill/>
          </a:ln>
        </p:spPr>
      </p:pic>
      <p:grpSp>
        <p:nvGrpSpPr>
          <p:cNvPr id="72" name="Google Shape;72;g3d53f3296fc_0_826"/>
          <p:cNvGrpSpPr/>
          <p:nvPr/>
        </p:nvGrpSpPr>
        <p:grpSpPr>
          <a:xfrm>
            <a:off x="0" y="4808880"/>
            <a:ext cx="9144300" cy="342420"/>
            <a:chOff x="0" y="4808880"/>
            <a:chExt cx="9144300" cy="342420"/>
          </a:xfrm>
        </p:grpSpPr>
        <p:pic>
          <p:nvPicPr>
            <p:cNvPr id="73" name="Google Shape;73;g3d53f3296fc_0_826"/>
            <p:cNvPicPr preferRelativeResize="0"/>
            <p:nvPr/>
          </p:nvPicPr>
          <p:blipFill rotWithShape="1">
            <a:blip r:embed="rId5">
              <a:alphaModFix/>
            </a:blip>
            <a:srcRect/>
            <a:stretch/>
          </p:blipFill>
          <p:spPr>
            <a:xfrm>
              <a:off x="608400" y="4836960"/>
              <a:ext cx="758160" cy="264240"/>
            </a:xfrm>
            <a:prstGeom prst="rect">
              <a:avLst/>
            </a:prstGeom>
            <a:noFill/>
            <a:ln>
              <a:noFill/>
            </a:ln>
          </p:spPr>
        </p:pic>
        <p:grpSp>
          <p:nvGrpSpPr>
            <p:cNvPr id="74" name="Google Shape;74;g3d53f3296fc_0_826"/>
            <p:cNvGrpSpPr/>
            <p:nvPr/>
          </p:nvGrpSpPr>
          <p:grpSpPr>
            <a:xfrm>
              <a:off x="2107440" y="4897440"/>
              <a:ext cx="1420260" cy="251700"/>
              <a:chOff x="2107440" y="4897440"/>
              <a:chExt cx="1420260" cy="251700"/>
            </a:xfrm>
          </p:grpSpPr>
          <p:pic>
            <p:nvPicPr>
              <p:cNvPr id="75" name="Google Shape;75;g3d53f3296fc_0_826"/>
              <p:cNvPicPr preferRelativeResize="0"/>
              <p:nvPr/>
            </p:nvPicPr>
            <p:blipFill rotWithShape="1">
              <a:blip r:embed="rId6">
                <a:alphaModFix/>
              </a:blip>
              <a:srcRect/>
              <a:stretch/>
            </p:blipFill>
            <p:spPr>
              <a:xfrm>
                <a:off x="2107440" y="4898520"/>
                <a:ext cx="161640" cy="162000"/>
              </a:xfrm>
              <a:prstGeom prst="rect">
                <a:avLst/>
              </a:prstGeom>
              <a:noFill/>
              <a:ln>
                <a:noFill/>
              </a:ln>
            </p:spPr>
          </p:pic>
          <p:sp>
            <p:nvSpPr>
              <p:cNvPr id="76" name="Google Shape;76;g3d53f3296fc_0_826"/>
              <p:cNvSpPr/>
              <p:nvPr/>
            </p:nvSpPr>
            <p:spPr>
              <a:xfrm>
                <a:off x="2255400" y="4897440"/>
                <a:ext cx="12723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w w w . e u r o b i o I m a g i n g . e u</a:t>
                </a:r>
                <a:endParaRPr sz="600" b="0" i="0" u="none" strike="noStrike" cap="none">
                  <a:solidFill>
                    <a:srgbClr val="000000"/>
                  </a:solidFill>
                  <a:latin typeface="Arial"/>
                  <a:ea typeface="Arial"/>
                  <a:cs typeface="Arial"/>
                  <a:sym typeface="Arial"/>
                </a:endParaRPr>
              </a:p>
            </p:txBody>
          </p:sp>
        </p:grpSp>
        <p:grpSp>
          <p:nvGrpSpPr>
            <p:cNvPr id="77" name="Google Shape;77;g3d53f3296fc_0_826"/>
            <p:cNvGrpSpPr/>
            <p:nvPr/>
          </p:nvGrpSpPr>
          <p:grpSpPr>
            <a:xfrm>
              <a:off x="4804200" y="4898880"/>
              <a:ext cx="1519920" cy="252420"/>
              <a:chOff x="4804200" y="4898880"/>
              <a:chExt cx="1519920" cy="252420"/>
            </a:xfrm>
          </p:grpSpPr>
          <p:pic>
            <p:nvPicPr>
              <p:cNvPr id="78" name="Google Shape;78;g3d53f3296fc_0_826"/>
              <p:cNvPicPr preferRelativeResize="0"/>
              <p:nvPr/>
            </p:nvPicPr>
            <p:blipFill rotWithShape="1">
              <a:blip r:embed="rId7">
                <a:alphaModFix/>
              </a:blip>
              <a:srcRect/>
              <a:stretch/>
            </p:blipFill>
            <p:spPr>
              <a:xfrm>
                <a:off x="4804200" y="4898880"/>
                <a:ext cx="162000" cy="162000"/>
              </a:xfrm>
              <a:prstGeom prst="rect">
                <a:avLst/>
              </a:prstGeom>
              <a:noFill/>
              <a:ln>
                <a:noFill/>
              </a:ln>
            </p:spPr>
          </p:pic>
          <p:sp>
            <p:nvSpPr>
              <p:cNvPr id="79" name="Google Shape;79;g3d53f3296fc_0_826"/>
              <p:cNvSpPr/>
              <p:nvPr/>
            </p:nvSpPr>
            <p:spPr>
              <a:xfrm>
                <a:off x="4947120" y="4899600"/>
                <a:ext cx="13770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i n f o @ e u r o b i o i m a g i n g . e u</a:t>
                </a:r>
                <a:endParaRPr sz="600" b="0" i="0" u="none" strike="noStrike" cap="none">
                  <a:solidFill>
                    <a:srgbClr val="000000"/>
                  </a:solidFill>
                  <a:latin typeface="Arial"/>
                  <a:ea typeface="Arial"/>
                  <a:cs typeface="Arial"/>
                  <a:sym typeface="Arial"/>
                </a:endParaRPr>
              </a:p>
            </p:txBody>
          </p:sp>
        </p:grpSp>
        <p:sp>
          <p:nvSpPr>
            <p:cNvPr id="80" name="Google Shape;80;g3d53f3296fc_0_826"/>
            <p:cNvSpPr/>
            <p:nvPr/>
          </p:nvSpPr>
          <p:spPr>
            <a:xfrm>
              <a:off x="7583040" y="4897440"/>
              <a:ext cx="11910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 E u r o -B i o I m a g i n g</a:t>
              </a:r>
              <a:endParaRPr sz="600" b="0" i="0" u="none" strike="noStrike" cap="none">
                <a:solidFill>
                  <a:srgbClr val="000000"/>
                </a:solidFill>
                <a:latin typeface="Arial"/>
                <a:ea typeface="Arial"/>
                <a:cs typeface="Arial"/>
                <a:sym typeface="Arial"/>
              </a:endParaRPr>
            </a:p>
          </p:txBody>
        </p:sp>
        <p:cxnSp>
          <p:nvCxnSpPr>
            <p:cNvPr id="81" name="Google Shape;81;g3d53f3296fc_0_826"/>
            <p:cNvCxnSpPr/>
            <p:nvPr/>
          </p:nvCxnSpPr>
          <p:spPr>
            <a:xfrm>
              <a:off x="0" y="4808880"/>
              <a:ext cx="9144300" cy="300"/>
            </a:xfrm>
            <a:prstGeom prst="straightConnector1">
              <a:avLst/>
            </a:prstGeom>
            <a:noFill/>
            <a:ln w="9525" cap="flat" cmpd="sng">
              <a:solidFill>
                <a:srgbClr val="EDEEEF"/>
              </a:solidFill>
              <a:prstDash val="solid"/>
              <a:miter lim="8000"/>
              <a:headEnd type="none" w="sm" len="sm"/>
              <a:tailEnd type="none" w="sm" len="sm"/>
            </a:ln>
          </p:spPr>
        </p:cxnSp>
      </p:grpSp>
      <p:pic>
        <p:nvPicPr>
          <p:cNvPr id="82" name="Google Shape;82;g3d53f3296fc_0_826"/>
          <p:cNvPicPr preferRelativeResize="0"/>
          <p:nvPr/>
        </p:nvPicPr>
        <p:blipFill rotWithShape="1">
          <a:blip r:embed="rId5">
            <a:alphaModFix/>
          </a:blip>
          <a:srcRect/>
          <a:stretch/>
        </p:blipFill>
        <p:spPr>
          <a:xfrm>
            <a:off x="1353960" y="418320"/>
            <a:ext cx="6436080" cy="2246040"/>
          </a:xfrm>
          <a:prstGeom prst="rect">
            <a:avLst/>
          </a:prstGeom>
          <a:noFill/>
          <a:ln>
            <a:noFill/>
          </a:ln>
        </p:spPr>
      </p:pic>
      <p:sp>
        <p:nvSpPr>
          <p:cNvPr id="83" name="Google Shape;83;g3d53f3296fc_0_826"/>
          <p:cNvSpPr txBox="1">
            <a:spLocks noGrp="1"/>
          </p:cNvSpPr>
          <p:nvPr>
            <p:ph type="title"/>
          </p:nvPr>
        </p:nvSpPr>
        <p:spPr>
          <a:xfrm>
            <a:off x="1143000" y="2577960"/>
            <a:ext cx="6857700" cy="1010400"/>
          </a:xfrm>
          <a:prstGeom prst="rect">
            <a:avLst/>
          </a:prstGeom>
          <a:noFill/>
          <a:ln>
            <a:noFill/>
          </a:ln>
        </p:spPr>
        <p:txBody>
          <a:bodyPr spcFirstLastPara="1" wrap="square" lIns="0" tIns="0" rIns="0" bIns="0" anchor="ctr"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4" name="Google Shape;84;g3d53f3296fc_0_826"/>
          <p:cNvSpPr txBox="1">
            <a:spLocks noGrp="1"/>
          </p:cNvSpPr>
          <p:nvPr>
            <p:ph type="body" idx="1"/>
          </p:nvPr>
        </p:nvSpPr>
        <p:spPr>
          <a:xfrm>
            <a:off x="1143000" y="4203000"/>
            <a:ext cx="6857700" cy="1722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5" name="Google Shape;85;g3d53f3296fc_0_826"/>
          <p:cNvPicPr preferRelativeResize="0"/>
          <p:nvPr/>
        </p:nvPicPr>
        <p:blipFill rotWithShape="1">
          <a:blip r:embed="rId8">
            <a:alphaModFix/>
          </a:blip>
          <a:srcRect/>
          <a:stretch/>
        </p:blipFill>
        <p:spPr>
          <a:xfrm>
            <a:off x="7416360" y="4897440"/>
            <a:ext cx="166680" cy="16668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pic>
        <p:nvPicPr>
          <p:cNvPr id="93" name="Google Shape;93;g3d53f3296fc_0_848" descr="A picture containing graphics, black, circle&#10;&#10;Description automatically generated"/>
          <p:cNvPicPr preferRelativeResize="0"/>
          <p:nvPr/>
        </p:nvPicPr>
        <p:blipFill rotWithShape="1">
          <a:blip r:embed="rId5">
            <a:alphaModFix amt="2000"/>
          </a:blip>
          <a:srcRect t="24046" r="51700" b="12890"/>
          <a:stretch/>
        </p:blipFill>
        <p:spPr>
          <a:xfrm>
            <a:off x="5467320" y="0"/>
            <a:ext cx="3676319" cy="5143320"/>
          </a:xfrm>
          <a:prstGeom prst="rect">
            <a:avLst/>
          </a:prstGeom>
          <a:noFill/>
          <a:ln>
            <a:noFill/>
          </a:ln>
        </p:spPr>
      </p:pic>
      <p:grpSp>
        <p:nvGrpSpPr>
          <p:cNvPr id="94" name="Google Shape;94;g3d53f3296fc_0_848"/>
          <p:cNvGrpSpPr/>
          <p:nvPr/>
        </p:nvGrpSpPr>
        <p:grpSpPr>
          <a:xfrm>
            <a:off x="0" y="4808880"/>
            <a:ext cx="9144300" cy="340260"/>
            <a:chOff x="0" y="4808880"/>
            <a:chExt cx="9144300" cy="340260"/>
          </a:xfrm>
        </p:grpSpPr>
        <p:pic>
          <p:nvPicPr>
            <p:cNvPr id="95" name="Google Shape;95;g3d53f3296fc_0_848"/>
            <p:cNvPicPr preferRelativeResize="0"/>
            <p:nvPr/>
          </p:nvPicPr>
          <p:blipFill rotWithShape="1">
            <a:blip r:embed="rId6">
              <a:alphaModFix/>
            </a:blip>
            <a:srcRect/>
            <a:stretch/>
          </p:blipFill>
          <p:spPr>
            <a:xfrm>
              <a:off x="608400" y="4836960"/>
              <a:ext cx="758160" cy="264240"/>
            </a:xfrm>
            <a:prstGeom prst="rect">
              <a:avLst/>
            </a:prstGeom>
            <a:noFill/>
            <a:ln>
              <a:noFill/>
            </a:ln>
          </p:spPr>
        </p:pic>
        <p:grpSp>
          <p:nvGrpSpPr>
            <p:cNvPr id="96" name="Google Shape;96;g3d53f3296fc_0_848"/>
            <p:cNvGrpSpPr/>
            <p:nvPr/>
          </p:nvGrpSpPr>
          <p:grpSpPr>
            <a:xfrm>
              <a:off x="2107440" y="4897440"/>
              <a:ext cx="1420260" cy="251700"/>
              <a:chOff x="2107440" y="4897440"/>
              <a:chExt cx="1420260" cy="251700"/>
            </a:xfrm>
          </p:grpSpPr>
          <p:pic>
            <p:nvPicPr>
              <p:cNvPr id="97" name="Google Shape;97;g3d53f3296fc_0_848"/>
              <p:cNvPicPr preferRelativeResize="0"/>
              <p:nvPr/>
            </p:nvPicPr>
            <p:blipFill rotWithShape="1">
              <a:blip r:embed="rId7">
                <a:alphaModFix/>
              </a:blip>
              <a:srcRect/>
              <a:stretch/>
            </p:blipFill>
            <p:spPr>
              <a:xfrm>
                <a:off x="2107440" y="4898520"/>
                <a:ext cx="161640" cy="162000"/>
              </a:xfrm>
              <a:prstGeom prst="rect">
                <a:avLst/>
              </a:prstGeom>
              <a:noFill/>
              <a:ln>
                <a:noFill/>
              </a:ln>
            </p:spPr>
          </p:pic>
          <p:sp>
            <p:nvSpPr>
              <p:cNvPr id="98" name="Google Shape;98;g3d53f3296fc_0_848"/>
              <p:cNvSpPr/>
              <p:nvPr/>
            </p:nvSpPr>
            <p:spPr>
              <a:xfrm>
                <a:off x="2255400" y="4897440"/>
                <a:ext cx="1272300" cy="2517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w w w . e u r o b i o I m a g i n g . e u</a:t>
                </a:r>
                <a:endParaRPr sz="600" b="0" i="0" u="none" strike="noStrike" cap="none">
                  <a:solidFill>
                    <a:srgbClr val="000000"/>
                  </a:solidFill>
                  <a:latin typeface="Arial"/>
                  <a:ea typeface="Arial"/>
                  <a:cs typeface="Arial"/>
                  <a:sym typeface="Arial"/>
                </a:endParaRPr>
              </a:p>
            </p:txBody>
          </p:sp>
        </p:grpSp>
        <p:grpSp>
          <p:nvGrpSpPr>
            <p:cNvPr id="99" name="Google Shape;99;g3d53f3296fc_0_848"/>
            <p:cNvGrpSpPr/>
            <p:nvPr/>
          </p:nvGrpSpPr>
          <p:grpSpPr>
            <a:xfrm>
              <a:off x="4804200" y="4898880"/>
              <a:ext cx="1565520" cy="162000"/>
              <a:chOff x="4804200" y="4898880"/>
              <a:chExt cx="1565520" cy="162000"/>
            </a:xfrm>
          </p:grpSpPr>
          <p:pic>
            <p:nvPicPr>
              <p:cNvPr id="100" name="Google Shape;100;g3d53f3296fc_0_848"/>
              <p:cNvPicPr preferRelativeResize="0"/>
              <p:nvPr/>
            </p:nvPicPr>
            <p:blipFill rotWithShape="1">
              <a:blip r:embed="rId8">
                <a:alphaModFix/>
              </a:blip>
              <a:srcRect/>
              <a:stretch/>
            </p:blipFill>
            <p:spPr>
              <a:xfrm>
                <a:off x="4804200" y="4898880"/>
                <a:ext cx="162000" cy="162000"/>
              </a:xfrm>
              <a:prstGeom prst="rect">
                <a:avLst/>
              </a:prstGeom>
              <a:noFill/>
              <a:ln>
                <a:noFill/>
              </a:ln>
            </p:spPr>
          </p:pic>
          <p:sp>
            <p:nvSpPr>
              <p:cNvPr id="101" name="Google Shape;101;g3d53f3296fc_0_848"/>
              <p:cNvSpPr/>
              <p:nvPr/>
            </p:nvSpPr>
            <p:spPr>
              <a:xfrm>
                <a:off x="4947120" y="4899600"/>
                <a:ext cx="14226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i n f o @ e u r o b i o i m a g i n g . e u</a:t>
                </a:r>
                <a:endParaRPr sz="600" b="0" i="0" u="none" strike="noStrike" cap="none">
                  <a:solidFill>
                    <a:srgbClr val="000000"/>
                  </a:solidFill>
                  <a:latin typeface="Arial"/>
                  <a:ea typeface="Arial"/>
                  <a:cs typeface="Arial"/>
                  <a:sym typeface="Arial"/>
                </a:endParaRPr>
              </a:p>
            </p:txBody>
          </p:sp>
        </p:grpSp>
        <p:sp>
          <p:nvSpPr>
            <p:cNvPr id="102" name="Google Shape;102;g3d53f3296fc_0_848"/>
            <p:cNvSpPr/>
            <p:nvPr/>
          </p:nvSpPr>
          <p:spPr>
            <a:xfrm>
              <a:off x="7583040" y="4897440"/>
              <a:ext cx="1162500" cy="160200"/>
            </a:xfrm>
            <a:prstGeom prst="rect">
              <a:avLst/>
            </a:prstGeom>
            <a:noFill/>
            <a:ln>
              <a:noFill/>
            </a:ln>
          </p:spPr>
          <p:txBody>
            <a:bodyPr spcFirstLastPara="1" wrap="square" lIns="68400" tIns="34200" rIns="68400" bIns="342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chemeClr val="dk2"/>
                  </a:solidFill>
                  <a:latin typeface="Source Sans 3"/>
                  <a:ea typeface="Source Sans 3"/>
                  <a:cs typeface="Source Sans 3"/>
                  <a:sym typeface="Source Sans 3"/>
                </a:rPr>
                <a:t>@ E u r o- B i o I m a g i n g</a:t>
              </a:r>
              <a:endParaRPr sz="600" b="0" i="0" u="none" strike="noStrike" cap="none">
                <a:solidFill>
                  <a:srgbClr val="000000"/>
                </a:solidFill>
                <a:latin typeface="Arial"/>
                <a:ea typeface="Arial"/>
                <a:cs typeface="Arial"/>
                <a:sym typeface="Arial"/>
              </a:endParaRPr>
            </a:p>
          </p:txBody>
        </p:sp>
        <p:cxnSp>
          <p:nvCxnSpPr>
            <p:cNvPr id="103" name="Google Shape;103;g3d53f3296fc_0_848"/>
            <p:cNvCxnSpPr/>
            <p:nvPr/>
          </p:nvCxnSpPr>
          <p:spPr>
            <a:xfrm>
              <a:off x="0" y="4808880"/>
              <a:ext cx="9144300" cy="300"/>
            </a:xfrm>
            <a:prstGeom prst="straightConnector1">
              <a:avLst/>
            </a:prstGeom>
            <a:noFill/>
            <a:ln w="9525" cap="flat" cmpd="sng">
              <a:solidFill>
                <a:srgbClr val="EDEEEF"/>
              </a:solidFill>
              <a:prstDash val="solid"/>
              <a:miter lim="8000"/>
              <a:headEnd type="none" w="sm" len="sm"/>
              <a:tailEnd type="none" w="sm" len="sm"/>
            </a:ln>
          </p:spPr>
        </p:cxnSp>
      </p:grpSp>
      <p:sp>
        <p:nvSpPr>
          <p:cNvPr id="104" name="Google Shape;104;g3d53f3296fc_0_848"/>
          <p:cNvSpPr txBox="1">
            <a:spLocks noGrp="1"/>
          </p:cNvSpPr>
          <p:nvPr>
            <p:ph type="body" idx="1"/>
          </p:nvPr>
        </p:nvSpPr>
        <p:spPr>
          <a:xfrm>
            <a:off x="297000" y="334440"/>
            <a:ext cx="4007100" cy="41394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5" name="Google Shape;105;g3d53f3296fc_0_848"/>
          <p:cNvSpPr txBox="1">
            <a:spLocks noGrp="1"/>
          </p:cNvSpPr>
          <p:nvPr>
            <p:ph type="body" idx="2"/>
          </p:nvPr>
        </p:nvSpPr>
        <p:spPr>
          <a:xfrm>
            <a:off x="4572000" y="1207080"/>
            <a:ext cx="3944100" cy="3266700"/>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 name="Google Shape;106;g3d53f3296fc_0_848"/>
          <p:cNvSpPr txBox="1">
            <a:spLocks noGrp="1"/>
          </p:cNvSpPr>
          <p:nvPr>
            <p:ph type="title"/>
          </p:nvPr>
        </p:nvSpPr>
        <p:spPr>
          <a:xfrm>
            <a:off x="4572000" y="444240"/>
            <a:ext cx="3942600" cy="760800"/>
          </a:xfrm>
          <a:prstGeom prst="rect">
            <a:avLst/>
          </a:prstGeom>
          <a:noFill/>
          <a:ln>
            <a:noFill/>
          </a:ln>
        </p:spPr>
        <p:txBody>
          <a:bodyPr spcFirstLastPara="1" wrap="square" lIns="0" tIns="0" rIns="0" bIns="0" anchor="ctr"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07" name="Google Shape;107;g3d53f3296fc_0_848"/>
          <p:cNvPicPr preferRelativeResize="0"/>
          <p:nvPr/>
        </p:nvPicPr>
        <p:blipFill rotWithShape="1">
          <a:blip r:embed="rId9">
            <a:alphaModFix/>
          </a:blip>
          <a:srcRect/>
          <a:stretch/>
        </p:blipFill>
        <p:spPr>
          <a:xfrm>
            <a:off x="7416360" y="4897440"/>
            <a:ext cx="166680" cy="16668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697480"/>
            <a:ext cx="8229600" cy="502920"/>
          </a:xfrm>
          <a:prstGeom prst="rect">
            <a:avLst/>
          </a:prstGeom>
          <a:noFill/>
        </p:spPr>
        <p:txBody>
          <a:bodyPr wrap="square" lIns="0" rIns="0" tIns="0" bIns="0" anchor="ctr">
            <a:spAutoFit/>
          </a:bodyPr>
          <a:lstStyle/>
          <a:p>
            <a:pPr algn="ctr"/>
            <a:r>
              <a:rPr sz="2800" b="1" i="0">
                <a:solidFill>
                  <a:srgbClr val="1D1D1B"/>
                </a:solidFill>
                <a:latin typeface="Source Sans Pro"/>
                <a:cs typeface="Source Sans Pro"/>
              </a:rPr>
              <a:t>Node descriptions</a:t>
            </a:r>
          </a:p>
        </p:txBody>
      </p:sp>
      <p:sp>
        <p:nvSpPr>
          <p:cNvPr id="3" name="TextBox 2"/>
          <p:cNvSpPr txBox="1"/>
          <p:nvPr/>
        </p:nvSpPr>
        <p:spPr>
          <a:xfrm>
            <a:off x="457200" y="3200400"/>
            <a:ext cx="8229600" cy="365760"/>
          </a:xfrm>
          <a:prstGeom prst="rect">
            <a:avLst/>
          </a:prstGeom>
          <a:noFill/>
        </p:spPr>
        <p:txBody>
          <a:bodyPr wrap="square" lIns="0" rIns="0" tIns="0" bIns="0" anchor="ctr">
            <a:spAutoFit/>
          </a:bodyPr>
          <a:lstStyle/>
          <a:p>
            <a:pPr algn="ctr"/>
            <a:r>
              <a:rPr sz="1500" b="0" i="0">
                <a:solidFill>
                  <a:srgbClr val="595959"/>
                </a:solidFill>
                <a:latin typeface="Source Sans Pro"/>
                <a:cs typeface="Source Sans Pro"/>
              </a:rPr>
              <a:t>A page for every Euro-BioImaging Node, built from the Knowledge Base</a:t>
            </a:r>
          </a:p>
        </p:txBody>
      </p:sp>
      <p:sp>
        <p:nvSpPr>
          <p:cNvPr id="4" name="TextBox 3"/>
          <p:cNvSpPr txBox="1"/>
          <p:nvPr/>
        </p:nvSpPr>
        <p:spPr>
          <a:xfrm>
            <a:off x="457200" y="4069080"/>
            <a:ext cx="8229600" cy="274320"/>
          </a:xfrm>
          <a:prstGeom prst="rect">
            <a:avLst/>
          </a:prstGeom>
          <a:noFill/>
        </p:spPr>
        <p:txBody>
          <a:bodyPr wrap="square" lIns="0" rIns="0" tIns="0" bIns="0" anchor="t">
            <a:spAutoFit/>
          </a:bodyPr>
          <a:lstStyle/>
          <a:p>
            <a:pPr algn="ctr"/>
            <a:r>
              <a:rPr sz="1100" b="0" i="0">
                <a:solidFill>
                  <a:srgbClr val="8C8C8C"/>
                </a:solidFill>
                <a:latin typeface="Calibri"/>
                <a:cs typeface="Calibri"/>
              </a:rPr>
              <a:t>Joakim Edman  |  AI4Access, Euro-BioImaging ERIC  |  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Overview</a:t>
            </a:r>
          </a:p>
        </p:txBody>
      </p:sp>
      <p:sp>
        <p:nvSpPr>
          <p:cNvPr id="3" name="Rounded Rectangle 2"/>
          <p:cNvSpPr/>
          <p:nvPr/>
        </p:nvSpPr>
        <p:spPr>
          <a:xfrm>
            <a:off x="457200" y="914400"/>
            <a:ext cx="3017520" cy="2560320"/>
          </a:xfrm>
          <a:prstGeom prst="roundRect">
            <a:avLst>
              <a:gd name="adj" fmla="val 2857"/>
            </a:avLst>
          </a:prstGeom>
          <a:solidFill>
            <a:srgbClr val="F1F3F5"/>
          </a:solidFill>
          <a:ln>
            <a:noFill/>
          </a:ln>
          <a:effectLst/>
        </p:spPr>
        <p:txBody>
          <a:bodyPr rtlCol="0" anchor="ctr" lIns="36576" rIns="36576"/>
          <a:lstStyle/>
          <a:p>
            <a:pPr algn="ctr"/>
          </a:p>
        </p:txBody>
      </p:sp>
      <p:pic>
        <p:nvPicPr>
          <p:cNvPr id="4" name="Picture 3" descr="laptop_brand.png"/>
          <p:cNvPicPr>
            <a:picLocks noChangeAspect="1"/>
          </p:cNvPicPr>
          <p:nvPr/>
        </p:nvPicPr>
        <p:blipFill>
          <a:blip r:embed="rId3"/>
          <a:stretch>
            <a:fillRect/>
          </a:stretch>
        </p:blipFill>
        <p:spPr>
          <a:xfrm>
            <a:off x="594360" y="1033271"/>
            <a:ext cx="237744" cy="237744"/>
          </a:xfrm>
          <a:prstGeom prst="rect">
            <a:avLst/>
          </a:prstGeom>
        </p:spPr>
      </p:pic>
      <p:sp>
        <p:nvSpPr>
          <p:cNvPr id="5" name="TextBox 4"/>
          <p:cNvSpPr txBox="1"/>
          <p:nvPr/>
        </p:nvSpPr>
        <p:spPr>
          <a:xfrm>
            <a:off x="914400" y="1005840"/>
            <a:ext cx="2468879" cy="292608"/>
          </a:xfrm>
          <a:prstGeom prst="rect">
            <a:avLst/>
          </a:prstGeom>
          <a:noFill/>
        </p:spPr>
        <p:txBody>
          <a:bodyPr wrap="square" lIns="0" rIns="0" tIns="0" bIns="0" anchor="ctr">
            <a:spAutoFit/>
          </a:bodyPr>
          <a:lstStyle/>
          <a:p>
            <a:pPr algn="l"/>
            <a:r>
              <a:rPr sz="1200" b="1" i="0">
                <a:solidFill>
                  <a:srgbClr val="444444"/>
                </a:solidFill>
                <a:latin typeface="Source Sans Pro"/>
                <a:cs typeface="Source Sans Pro"/>
              </a:rPr>
              <a:t>Local computer</a:t>
            </a:r>
          </a:p>
        </p:txBody>
      </p:sp>
      <p:sp>
        <p:nvSpPr>
          <p:cNvPr id="6" name="Rounded Rectangle 5"/>
          <p:cNvSpPr/>
          <p:nvPr/>
        </p:nvSpPr>
        <p:spPr>
          <a:xfrm>
            <a:off x="640080" y="1325880"/>
            <a:ext cx="2651760" cy="685800"/>
          </a:xfrm>
          <a:prstGeom prst="roundRect">
            <a:avLst>
              <a:gd name="adj" fmla="val 8000"/>
            </a:avLst>
          </a:prstGeom>
          <a:solidFill>
            <a:srgbClr val="FFFFFF"/>
          </a:solidFill>
          <a:ln w="12700">
            <a:solidFill>
              <a:srgbClr val="CFCFCF"/>
            </a:solidFill>
          </a:ln>
          <a:effectLst/>
        </p:spPr>
        <p:txBody>
          <a:bodyPr rtlCol="0" anchor="ctr" lIns="36576" rIns="36576"/>
          <a:lstStyle/>
          <a:p>
            <a:pPr algn="ctr"/>
          </a:p>
        </p:txBody>
      </p:sp>
      <p:pic>
        <p:nvPicPr>
          <p:cNvPr id="7" name="Picture 6" descr="excel_brand.png"/>
          <p:cNvPicPr>
            <a:picLocks noChangeAspect="1"/>
          </p:cNvPicPr>
          <p:nvPr/>
        </p:nvPicPr>
        <p:blipFill>
          <a:blip r:embed="rId4"/>
          <a:stretch>
            <a:fillRect/>
          </a:stretch>
        </p:blipFill>
        <p:spPr>
          <a:xfrm>
            <a:off x="749808" y="1435607"/>
            <a:ext cx="274320" cy="274320"/>
          </a:xfrm>
          <a:prstGeom prst="rect">
            <a:avLst/>
          </a:prstGeom>
        </p:spPr>
      </p:pic>
      <p:sp>
        <p:nvSpPr>
          <p:cNvPr id="8" name="TextBox 7"/>
          <p:cNvSpPr txBox="1"/>
          <p:nvPr/>
        </p:nvSpPr>
        <p:spPr>
          <a:xfrm>
            <a:off x="1115568" y="139903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Knowledge Base Master</a:t>
            </a:r>
          </a:p>
        </p:txBody>
      </p:sp>
      <p:sp>
        <p:nvSpPr>
          <p:cNvPr id="9" name="TextBox 8"/>
          <p:cNvSpPr txBox="1"/>
          <p:nvPr/>
        </p:nvSpPr>
        <p:spPr>
          <a:xfrm>
            <a:off x="1115568" y="1673352"/>
            <a:ext cx="2103120" cy="301752"/>
          </a:xfrm>
          <a:prstGeom prst="rect">
            <a:avLst/>
          </a:prstGeom>
          <a:noFill/>
        </p:spPr>
        <p:txBody>
          <a:bodyPr wrap="square" lIns="0" rIns="0" tIns="0" bIns="0" anchor="t">
            <a:spAutoFit/>
          </a:bodyPr>
          <a:lstStyle/>
          <a:p>
            <a:pPr algn="l"/>
            <a:r>
              <a:rPr sz="950" b="0" i="0">
                <a:solidFill>
                  <a:srgbClr val="595959"/>
                </a:solidFill>
                <a:latin typeface="Calibri"/>
                <a:cs typeface="Calibri"/>
              </a:rPr>
              <a:t>Excel file built by our team from SLAs and internally confirmed data</a:t>
            </a:r>
          </a:p>
        </p:txBody>
      </p:sp>
      <p:sp>
        <p:nvSpPr>
          <p:cNvPr id="10" name="Rounded Rectangle 9"/>
          <p:cNvSpPr/>
          <p:nvPr/>
        </p:nvSpPr>
        <p:spPr>
          <a:xfrm>
            <a:off x="640080" y="2148840"/>
            <a:ext cx="2651760"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11" name="Picture 10" descr="python_brand.png"/>
          <p:cNvPicPr>
            <a:picLocks noChangeAspect="1"/>
          </p:cNvPicPr>
          <p:nvPr/>
        </p:nvPicPr>
        <p:blipFill>
          <a:blip r:embed="rId5"/>
          <a:stretch>
            <a:fillRect/>
          </a:stretch>
        </p:blipFill>
        <p:spPr>
          <a:xfrm>
            <a:off x="749808" y="2258568"/>
            <a:ext cx="274320" cy="274320"/>
          </a:xfrm>
          <a:prstGeom prst="rect">
            <a:avLst/>
          </a:prstGeom>
        </p:spPr>
      </p:pic>
      <p:sp>
        <p:nvSpPr>
          <p:cNvPr id="12" name="TextBox 11"/>
          <p:cNvSpPr txBox="1"/>
          <p:nvPr/>
        </p:nvSpPr>
        <p:spPr>
          <a:xfrm>
            <a:off x="1115568" y="222199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Python build</a:t>
            </a:r>
          </a:p>
        </p:txBody>
      </p:sp>
      <p:sp>
        <p:nvSpPr>
          <p:cNvPr id="13" name="TextBox 12"/>
          <p:cNvSpPr txBox="1"/>
          <p:nvPr/>
        </p:nvSpPr>
        <p:spPr>
          <a:xfrm>
            <a:off x="1115568" y="2496312"/>
            <a:ext cx="2103120"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check, filter and combine</a:t>
            </a:r>
          </a:p>
        </p:txBody>
      </p:sp>
      <p:sp>
        <p:nvSpPr>
          <p:cNvPr id="14" name="Rounded Rectangle 13"/>
          <p:cNvSpPr/>
          <p:nvPr/>
        </p:nvSpPr>
        <p:spPr>
          <a:xfrm>
            <a:off x="640080" y="2834640"/>
            <a:ext cx="2651760"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15" name="Picture 14" descr="json_brand.png"/>
          <p:cNvPicPr>
            <a:picLocks noChangeAspect="1"/>
          </p:cNvPicPr>
          <p:nvPr/>
        </p:nvPicPr>
        <p:blipFill>
          <a:blip r:embed="rId6"/>
          <a:stretch>
            <a:fillRect/>
          </a:stretch>
        </p:blipFill>
        <p:spPr>
          <a:xfrm>
            <a:off x="749808" y="2944368"/>
            <a:ext cx="274320" cy="274320"/>
          </a:xfrm>
          <a:prstGeom prst="rect">
            <a:avLst/>
          </a:prstGeom>
        </p:spPr>
      </p:pic>
      <p:sp>
        <p:nvSpPr>
          <p:cNvPr id="16" name="TextBox 15"/>
          <p:cNvSpPr txBox="1"/>
          <p:nvPr/>
        </p:nvSpPr>
        <p:spPr>
          <a:xfrm>
            <a:off x="1115568" y="2907792"/>
            <a:ext cx="2103120"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Node files</a:t>
            </a:r>
          </a:p>
        </p:txBody>
      </p:sp>
      <p:sp>
        <p:nvSpPr>
          <p:cNvPr id="17" name="TextBox 16"/>
          <p:cNvSpPr txBox="1"/>
          <p:nvPr/>
        </p:nvSpPr>
        <p:spPr>
          <a:xfrm>
            <a:off x="1115568" y="3182112"/>
            <a:ext cx="2103120"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one JSON file per Node</a:t>
            </a:r>
          </a:p>
        </p:txBody>
      </p:sp>
      <p:cxnSp>
        <p:nvCxnSpPr>
          <p:cNvPr id="18" name="Connector 17"/>
          <p:cNvCxnSpPr/>
          <p:nvPr/>
        </p:nvCxnSpPr>
        <p:spPr>
          <a:xfrm>
            <a:off x="1965960" y="2020824"/>
            <a:ext cx="0" cy="118872"/>
          </a:xfrm>
          <a:prstGeom prst="line">
            <a:avLst/>
          </a:prstGeom>
          <a:ln w="1587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965960" y="2706624"/>
            <a:ext cx="0" cy="118872"/>
          </a:xfrm>
          <a:prstGeom prst="line">
            <a:avLst/>
          </a:prstGeom>
          <a:ln w="1587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40480" y="914400"/>
            <a:ext cx="2011680" cy="2560320"/>
          </a:xfrm>
          <a:prstGeom prst="roundRect">
            <a:avLst>
              <a:gd name="adj" fmla="val 3636"/>
            </a:avLst>
          </a:prstGeom>
          <a:solidFill>
            <a:srgbClr val="E8F0FE"/>
          </a:solidFill>
          <a:ln>
            <a:noFill/>
          </a:ln>
          <a:effectLst/>
        </p:spPr>
        <p:txBody>
          <a:bodyPr rtlCol="0" anchor="ctr" lIns="36576" rIns="36576"/>
          <a:lstStyle/>
          <a:p>
            <a:pPr algn="ctr"/>
          </a:p>
        </p:txBody>
      </p:sp>
      <p:pic>
        <p:nvPicPr>
          <p:cNvPr id="21" name="Picture 20" descr="drive_brand.png"/>
          <p:cNvPicPr>
            <a:picLocks noChangeAspect="1"/>
          </p:cNvPicPr>
          <p:nvPr/>
        </p:nvPicPr>
        <p:blipFill>
          <a:blip r:embed="rId7"/>
          <a:stretch>
            <a:fillRect/>
          </a:stretch>
        </p:blipFill>
        <p:spPr>
          <a:xfrm>
            <a:off x="3977640" y="1033271"/>
            <a:ext cx="237744" cy="237744"/>
          </a:xfrm>
          <a:prstGeom prst="rect">
            <a:avLst/>
          </a:prstGeom>
        </p:spPr>
      </p:pic>
      <p:sp>
        <p:nvSpPr>
          <p:cNvPr id="22" name="TextBox 21"/>
          <p:cNvSpPr txBox="1"/>
          <p:nvPr/>
        </p:nvSpPr>
        <p:spPr>
          <a:xfrm>
            <a:off x="4297680" y="1005840"/>
            <a:ext cx="1463040" cy="292608"/>
          </a:xfrm>
          <a:prstGeom prst="rect">
            <a:avLst/>
          </a:prstGeom>
          <a:noFill/>
        </p:spPr>
        <p:txBody>
          <a:bodyPr wrap="square" lIns="0" rIns="0" tIns="0" bIns="0" anchor="ctr">
            <a:spAutoFit/>
          </a:bodyPr>
          <a:lstStyle/>
          <a:p>
            <a:pPr algn="l"/>
            <a:r>
              <a:rPr sz="1200" b="1" i="0">
                <a:solidFill>
                  <a:srgbClr val="1A73E8"/>
                </a:solidFill>
                <a:latin typeface="Source Sans Pro"/>
                <a:cs typeface="Source Sans Pro"/>
              </a:rPr>
              <a:t>Google Drive</a:t>
            </a:r>
          </a:p>
        </p:txBody>
      </p:sp>
      <p:sp>
        <p:nvSpPr>
          <p:cNvPr id="23" name="Rounded Rectangle 22"/>
          <p:cNvSpPr/>
          <p:nvPr/>
        </p:nvSpPr>
        <p:spPr>
          <a:xfrm>
            <a:off x="4005072" y="1353312"/>
            <a:ext cx="1682496"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24" name="Picture 23" descr="folder_brand.png"/>
          <p:cNvPicPr>
            <a:picLocks noChangeAspect="1"/>
          </p:cNvPicPr>
          <p:nvPr/>
        </p:nvPicPr>
        <p:blipFill>
          <a:blip r:embed="rId8"/>
          <a:stretch>
            <a:fillRect/>
          </a:stretch>
        </p:blipFill>
        <p:spPr>
          <a:xfrm>
            <a:off x="4114800" y="1463040"/>
            <a:ext cx="274320" cy="274320"/>
          </a:xfrm>
          <a:prstGeom prst="rect">
            <a:avLst/>
          </a:prstGeom>
        </p:spPr>
      </p:pic>
      <p:sp>
        <p:nvSpPr>
          <p:cNvPr id="25" name="TextBox 24"/>
          <p:cNvSpPr txBox="1"/>
          <p:nvPr/>
        </p:nvSpPr>
        <p:spPr>
          <a:xfrm>
            <a:off x="4480560" y="1426464"/>
            <a:ext cx="113385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Node files</a:t>
            </a:r>
          </a:p>
        </p:txBody>
      </p:sp>
      <p:sp>
        <p:nvSpPr>
          <p:cNvPr id="26" name="TextBox 25"/>
          <p:cNvSpPr txBox="1"/>
          <p:nvPr/>
        </p:nvSpPr>
        <p:spPr>
          <a:xfrm>
            <a:off x="4480560" y="1700784"/>
            <a:ext cx="1133855"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uploaded copy</a:t>
            </a:r>
          </a:p>
        </p:txBody>
      </p:sp>
      <p:sp>
        <p:nvSpPr>
          <p:cNvPr id="27" name="Rounded Rectangle 26"/>
          <p:cNvSpPr/>
          <p:nvPr/>
        </p:nvSpPr>
        <p:spPr>
          <a:xfrm>
            <a:off x="4005072" y="2724912"/>
            <a:ext cx="1682496" cy="548640"/>
          </a:xfrm>
          <a:prstGeom prst="roundRect">
            <a:avLst>
              <a:gd name="adj" fmla="val 10000"/>
            </a:avLst>
          </a:prstGeom>
          <a:solidFill>
            <a:srgbClr val="FFFFFF"/>
          </a:solidFill>
          <a:ln w="12700">
            <a:solidFill>
              <a:srgbClr val="CFCFCF"/>
            </a:solidFill>
          </a:ln>
          <a:effectLst/>
        </p:spPr>
        <p:txBody>
          <a:bodyPr rtlCol="0" anchor="ctr" lIns="36576" rIns="36576"/>
          <a:lstStyle/>
          <a:p>
            <a:pPr algn="ctr"/>
          </a:p>
        </p:txBody>
      </p:sp>
      <p:pic>
        <p:nvPicPr>
          <p:cNvPr id="28" name="Picture 27" descr="folder_brand.png"/>
          <p:cNvPicPr>
            <a:picLocks noChangeAspect="1"/>
          </p:cNvPicPr>
          <p:nvPr/>
        </p:nvPicPr>
        <p:blipFill>
          <a:blip r:embed="rId8"/>
          <a:stretch>
            <a:fillRect/>
          </a:stretch>
        </p:blipFill>
        <p:spPr>
          <a:xfrm>
            <a:off x="4114800" y="2834640"/>
            <a:ext cx="274320" cy="274320"/>
          </a:xfrm>
          <a:prstGeom prst="rect">
            <a:avLst/>
          </a:prstGeom>
        </p:spPr>
      </p:pic>
      <p:sp>
        <p:nvSpPr>
          <p:cNvPr id="29" name="TextBox 28"/>
          <p:cNvSpPr txBox="1"/>
          <p:nvPr/>
        </p:nvSpPr>
        <p:spPr>
          <a:xfrm>
            <a:off x="4480560" y="2798064"/>
            <a:ext cx="113385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EB-Nodes</a:t>
            </a:r>
          </a:p>
        </p:txBody>
      </p:sp>
      <p:sp>
        <p:nvSpPr>
          <p:cNvPr id="30" name="TextBox 29"/>
          <p:cNvSpPr txBox="1"/>
          <p:nvPr/>
        </p:nvSpPr>
        <p:spPr>
          <a:xfrm>
            <a:off x="4480560" y="3072384"/>
            <a:ext cx="1133855" cy="164592"/>
          </a:xfrm>
          <a:prstGeom prst="rect">
            <a:avLst/>
          </a:prstGeom>
          <a:noFill/>
        </p:spPr>
        <p:txBody>
          <a:bodyPr wrap="square" lIns="0" rIns="0" tIns="0" bIns="0" anchor="t">
            <a:spAutoFit/>
          </a:bodyPr>
          <a:lstStyle/>
          <a:p>
            <a:pPr algn="l"/>
            <a:r>
              <a:rPr sz="1000" b="0" i="0">
                <a:solidFill>
                  <a:srgbClr val="595959"/>
                </a:solidFill>
                <a:latin typeface="Calibri"/>
                <a:cs typeface="Calibri"/>
              </a:rPr>
              <a:t>finished pages</a:t>
            </a:r>
          </a:p>
        </p:txBody>
      </p:sp>
      <p:sp>
        <p:nvSpPr>
          <p:cNvPr id="31" name="Rounded Rectangle 30"/>
          <p:cNvSpPr/>
          <p:nvPr/>
        </p:nvSpPr>
        <p:spPr>
          <a:xfrm>
            <a:off x="6126480" y="914400"/>
            <a:ext cx="2560320" cy="2560320"/>
          </a:xfrm>
          <a:prstGeom prst="roundRect">
            <a:avLst>
              <a:gd name="adj" fmla="val 2857"/>
            </a:avLst>
          </a:prstGeom>
          <a:solidFill>
            <a:srgbClr val="FDECF1"/>
          </a:solidFill>
          <a:ln>
            <a:noFill/>
          </a:ln>
          <a:effectLst/>
        </p:spPr>
        <p:txBody>
          <a:bodyPr rtlCol="0" anchor="ctr" lIns="36576" rIns="36576"/>
          <a:lstStyle/>
          <a:p>
            <a:pPr algn="ctr"/>
          </a:p>
        </p:txBody>
      </p:sp>
      <p:pic>
        <p:nvPicPr>
          <p:cNvPr id="32" name="Picture 31" descr="n8n_brand.png"/>
          <p:cNvPicPr>
            <a:picLocks noChangeAspect="1"/>
          </p:cNvPicPr>
          <p:nvPr/>
        </p:nvPicPr>
        <p:blipFill>
          <a:blip r:embed="rId9"/>
          <a:stretch>
            <a:fillRect/>
          </a:stretch>
        </p:blipFill>
        <p:spPr>
          <a:xfrm>
            <a:off x="6263640" y="1033271"/>
            <a:ext cx="237744" cy="237744"/>
          </a:xfrm>
          <a:prstGeom prst="rect">
            <a:avLst/>
          </a:prstGeom>
        </p:spPr>
      </p:pic>
      <p:sp>
        <p:nvSpPr>
          <p:cNvPr id="33" name="TextBox 32"/>
          <p:cNvSpPr txBox="1"/>
          <p:nvPr/>
        </p:nvSpPr>
        <p:spPr>
          <a:xfrm>
            <a:off x="6583680" y="1005840"/>
            <a:ext cx="2011679" cy="292608"/>
          </a:xfrm>
          <a:prstGeom prst="rect">
            <a:avLst/>
          </a:prstGeom>
          <a:noFill/>
        </p:spPr>
        <p:txBody>
          <a:bodyPr wrap="square" lIns="0" rIns="0" tIns="0" bIns="0" anchor="ctr">
            <a:spAutoFit/>
          </a:bodyPr>
          <a:lstStyle/>
          <a:p>
            <a:pPr algn="l"/>
            <a:r>
              <a:rPr sz="1200" b="1" i="0">
                <a:solidFill>
                  <a:srgbClr val="C2185B"/>
                </a:solidFill>
                <a:latin typeface="Source Sans Pro"/>
                <a:cs typeface="Source Sans Pro"/>
              </a:rPr>
              <a:t>n8n cloud</a:t>
            </a:r>
          </a:p>
        </p:txBody>
      </p:sp>
      <p:sp>
        <p:nvSpPr>
          <p:cNvPr id="34" name="Rounded Rectangle 33"/>
          <p:cNvSpPr/>
          <p:nvPr/>
        </p:nvSpPr>
        <p:spPr>
          <a:xfrm>
            <a:off x="6291072" y="1353312"/>
            <a:ext cx="2231136" cy="868680"/>
          </a:xfrm>
          <a:prstGeom prst="roundRect">
            <a:avLst>
              <a:gd name="adj" fmla="val 6315"/>
            </a:avLst>
          </a:prstGeom>
          <a:solidFill>
            <a:srgbClr val="FFFFFF"/>
          </a:solidFill>
          <a:ln w="12700">
            <a:solidFill>
              <a:srgbClr val="CFCFCF"/>
            </a:solidFill>
          </a:ln>
          <a:effectLst/>
        </p:spPr>
        <p:txBody>
          <a:bodyPr rtlCol="0" anchor="ctr" lIns="36576" rIns="36576"/>
          <a:lstStyle/>
          <a:p>
            <a:pPr algn="ctr"/>
          </a:p>
        </p:txBody>
      </p:sp>
      <p:sp>
        <p:nvSpPr>
          <p:cNvPr id="35" name="TextBox 34"/>
          <p:cNvSpPr txBox="1"/>
          <p:nvPr/>
        </p:nvSpPr>
        <p:spPr>
          <a:xfrm>
            <a:off x="6400800" y="1426464"/>
            <a:ext cx="2048256"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EB-NODES KB descriptions</a:t>
            </a:r>
          </a:p>
        </p:txBody>
      </p:sp>
      <p:sp>
        <p:nvSpPr>
          <p:cNvPr id="36" name="TextBox 35"/>
          <p:cNvSpPr txBox="1"/>
          <p:nvPr/>
        </p:nvSpPr>
        <p:spPr>
          <a:xfrm>
            <a:off x="6400800" y="1700784"/>
            <a:ext cx="2048256" cy="484632"/>
          </a:xfrm>
          <a:prstGeom prst="rect">
            <a:avLst/>
          </a:prstGeom>
          <a:noFill/>
        </p:spPr>
        <p:txBody>
          <a:bodyPr wrap="square" lIns="0" rIns="0" tIns="0" bIns="0" anchor="t">
            <a:spAutoFit/>
          </a:bodyPr>
          <a:lstStyle/>
          <a:p>
            <a:pPr algn="l"/>
            <a:r>
              <a:rPr sz="1000" b="0" i="0">
                <a:solidFill>
                  <a:srgbClr val="595959"/>
                </a:solidFill>
                <a:latin typeface="Calibri"/>
                <a:cs typeface="Calibri"/>
              </a:rPr>
              <a:t>reads each Node file, writes the text, builds the page</a:t>
            </a:r>
          </a:p>
        </p:txBody>
      </p:sp>
      <p:sp>
        <p:nvSpPr>
          <p:cNvPr id="37" name="Rounded Rectangle 36"/>
          <p:cNvSpPr/>
          <p:nvPr/>
        </p:nvSpPr>
        <p:spPr>
          <a:xfrm>
            <a:off x="6291072" y="2514600"/>
            <a:ext cx="2231136" cy="640080"/>
          </a:xfrm>
          <a:prstGeom prst="roundRect">
            <a:avLst>
              <a:gd name="adj" fmla="val 8571"/>
            </a:avLst>
          </a:prstGeom>
          <a:solidFill>
            <a:srgbClr val="FFFFFF"/>
          </a:solidFill>
          <a:ln w="12700">
            <a:solidFill>
              <a:srgbClr val="CFCFCF"/>
            </a:solidFill>
          </a:ln>
          <a:effectLst/>
        </p:spPr>
        <p:txBody>
          <a:bodyPr rtlCol="0" anchor="ctr" lIns="36576" rIns="36576"/>
          <a:lstStyle/>
          <a:p>
            <a:pPr algn="ctr"/>
          </a:p>
        </p:txBody>
      </p:sp>
      <p:pic>
        <p:nvPicPr>
          <p:cNvPr id="38" name="Picture 37" descr="claude_brand.png"/>
          <p:cNvPicPr>
            <a:picLocks noChangeAspect="1"/>
          </p:cNvPicPr>
          <p:nvPr/>
        </p:nvPicPr>
        <p:blipFill>
          <a:blip r:embed="rId10"/>
          <a:stretch>
            <a:fillRect/>
          </a:stretch>
        </p:blipFill>
        <p:spPr>
          <a:xfrm>
            <a:off x="6400800" y="2624328"/>
            <a:ext cx="274320" cy="274320"/>
          </a:xfrm>
          <a:prstGeom prst="rect">
            <a:avLst/>
          </a:prstGeom>
        </p:spPr>
      </p:pic>
      <p:sp>
        <p:nvSpPr>
          <p:cNvPr id="39" name="TextBox 38"/>
          <p:cNvSpPr txBox="1"/>
          <p:nvPr/>
        </p:nvSpPr>
        <p:spPr>
          <a:xfrm>
            <a:off x="6766560" y="2587752"/>
            <a:ext cx="1682495" cy="274320"/>
          </a:xfrm>
          <a:prstGeom prst="rect">
            <a:avLst/>
          </a:prstGeom>
          <a:noFill/>
        </p:spPr>
        <p:txBody>
          <a:bodyPr wrap="square" lIns="0" rIns="0" tIns="0" bIns="0" anchor="ctr">
            <a:spAutoFit/>
          </a:bodyPr>
          <a:lstStyle/>
          <a:p>
            <a:pPr algn="l"/>
            <a:r>
              <a:rPr sz="1200" b="1" i="0">
                <a:solidFill>
                  <a:srgbClr val="1D1D1B"/>
                </a:solidFill>
                <a:latin typeface="Calibri"/>
                <a:cs typeface="Calibri"/>
              </a:rPr>
              <a:t>Claude Opus 5.5</a:t>
            </a:r>
          </a:p>
        </p:txBody>
      </p:sp>
      <p:sp>
        <p:nvSpPr>
          <p:cNvPr id="40" name="TextBox 39"/>
          <p:cNvSpPr txBox="1"/>
          <p:nvPr/>
        </p:nvSpPr>
        <p:spPr>
          <a:xfrm>
            <a:off x="6766560" y="2862072"/>
            <a:ext cx="1682495" cy="256031"/>
          </a:xfrm>
          <a:prstGeom prst="rect">
            <a:avLst/>
          </a:prstGeom>
          <a:noFill/>
        </p:spPr>
        <p:txBody>
          <a:bodyPr wrap="square" lIns="0" rIns="0" tIns="0" bIns="0" anchor="t">
            <a:spAutoFit/>
          </a:bodyPr>
          <a:lstStyle/>
          <a:p>
            <a:pPr algn="l"/>
            <a:r>
              <a:rPr sz="1000" b="0" i="0">
                <a:solidFill>
                  <a:srgbClr val="595959"/>
                </a:solidFill>
                <a:latin typeface="Calibri"/>
                <a:cs typeface="Calibri"/>
              </a:rPr>
              <a:t>writes the text sections</a:t>
            </a:r>
          </a:p>
        </p:txBody>
      </p:sp>
      <p:cxnSp>
        <p:nvCxnSpPr>
          <p:cNvPr id="41" name="Connector 40"/>
          <p:cNvCxnSpPr/>
          <p:nvPr/>
        </p:nvCxnSpPr>
        <p:spPr>
          <a:xfrm flipV="1">
            <a:off x="3310128" y="1691640"/>
            <a:ext cx="676656" cy="1417320"/>
          </a:xfrm>
          <a:prstGeom prst="line">
            <a:avLst/>
          </a:prstGeom>
          <a:ln w="19050">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154680" y="3474720"/>
            <a:ext cx="1097280" cy="274320"/>
          </a:xfrm>
          <a:prstGeom prst="rect">
            <a:avLst/>
          </a:prstGeom>
          <a:noFill/>
        </p:spPr>
        <p:txBody>
          <a:bodyPr wrap="square" lIns="0" rIns="0" tIns="0" bIns="0" anchor="t">
            <a:spAutoFit/>
          </a:bodyPr>
          <a:lstStyle/>
          <a:p>
            <a:pPr algn="l"/>
            <a:r>
              <a:rPr sz="1000" b="0" i="1">
                <a:solidFill>
                  <a:srgbClr val="1A73E8"/>
                </a:solidFill>
                <a:latin typeface="Calibri"/>
                <a:cs typeface="Calibri"/>
              </a:rPr>
              <a:t>upload to Drive</a:t>
            </a:r>
          </a:p>
        </p:txBody>
      </p:sp>
      <p:cxnSp>
        <p:nvCxnSpPr>
          <p:cNvPr id="43" name="Connector 42"/>
          <p:cNvCxnSpPr/>
          <p:nvPr/>
        </p:nvCxnSpPr>
        <p:spPr>
          <a:xfrm>
            <a:off x="5705856" y="1627632"/>
            <a:ext cx="566928" cy="91440"/>
          </a:xfrm>
          <a:prstGeom prst="line">
            <a:avLst/>
          </a:prstGeom>
          <a:ln w="19050">
            <a:solidFill>
              <a:srgbClr val="C218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742432" y="1298448"/>
            <a:ext cx="731520" cy="274320"/>
          </a:xfrm>
          <a:prstGeom prst="rect">
            <a:avLst/>
          </a:prstGeom>
          <a:noFill/>
        </p:spPr>
        <p:txBody>
          <a:bodyPr wrap="square" lIns="0" rIns="0" tIns="0" bIns="0" anchor="t">
            <a:spAutoFit/>
          </a:bodyPr>
          <a:lstStyle/>
          <a:p>
            <a:pPr algn="l"/>
            <a:r>
              <a:rPr sz="1000" b="0" i="1">
                <a:solidFill>
                  <a:srgbClr val="C2185B"/>
                </a:solidFill>
                <a:latin typeface="Calibri"/>
                <a:cs typeface="Calibri"/>
              </a:rPr>
              <a:t>read</a:t>
            </a:r>
          </a:p>
        </p:txBody>
      </p:sp>
      <p:cxnSp>
        <p:nvCxnSpPr>
          <p:cNvPr id="45" name="Connector 44"/>
          <p:cNvCxnSpPr/>
          <p:nvPr/>
        </p:nvCxnSpPr>
        <p:spPr>
          <a:xfrm flipH="1">
            <a:off x="5705856" y="2011680"/>
            <a:ext cx="566928" cy="960120"/>
          </a:xfrm>
          <a:prstGeom prst="line">
            <a:avLst/>
          </a:prstGeom>
          <a:ln w="19050">
            <a:solidFill>
              <a:srgbClr val="C218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0" y="2331720"/>
            <a:ext cx="731520" cy="274320"/>
          </a:xfrm>
          <a:prstGeom prst="rect">
            <a:avLst/>
          </a:prstGeom>
          <a:noFill/>
        </p:spPr>
        <p:txBody>
          <a:bodyPr wrap="square" lIns="0" rIns="0" tIns="0" bIns="0" anchor="t">
            <a:spAutoFit/>
          </a:bodyPr>
          <a:lstStyle/>
          <a:p>
            <a:pPr algn="l"/>
            <a:r>
              <a:rPr sz="1000" b="0" i="1">
                <a:solidFill>
                  <a:srgbClr val="C2185B"/>
                </a:solidFill>
                <a:latin typeface="Calibri"/>
                <a:cs typeface="Calibri"/>
              </a:rPr>
              <a:t>save</a:t>
            </a:r>
          </a:p>
        </p:txBody>
      </p:sp>
      <p:sp>
        <p:nvSpPr>
          <p:cNvPr id="47" name="Rounded Rectangle 46"/>
          <p:cNvSpPr/>
          <p:nvPr/>
        </p:nvSpPr>
        <p:spPr>
          <a:xfrm>
            <a:off x="3840480" y="3657600"/>
            <a:ext cx="4846320" cy="777240"/>
          </a:xfrm>
          <a:prstGeom prst="roundRect">
            <a:avLst>
              <a:gd name="adj" fmla="val 9411"/>
            </a:avLst>
          </a:prstGeom>
          <a:solidFill>
            <a:srgbClr val="EEEEEE"/>
          </a:solidFill>
          <a:ln>
            <a:noFill/>
          </a:ln>
          <a:effectLst/>
        </p:spPr>
        <p:txBody>
          <a:bodyPr rtlCol="0" anchor="ctr" lIns="36576" rIns="36576"/>
          <a:lstStyle/>
          <a:p>
            <a:pPr algn="ctr"/>
          </a:p>
        </p:txBody>
      </p:sp>
      <p:pic>
        <p:nvPicPr>
          <p:cNvPr id="48" name="Picture 47" descr="github_brand.png"/>
          <p:cNvPicPr>
            <a:picLocks noChangeAspect="1"/>
          </p:cNvPicPr>
          <p:nvPr/>
        </p:nvPicPr>
        <p:blipFill>
          <a:blip r:embed="rId11"/>
          <a:stretch>
            <a:fillRect/>
          </a:stretch>
        </p:blipFill>
        <p:spPr>
          <a:xfrm>
            <a:off x="3977640" y="3776472"/>
            <a:ext cx="237744" cy="237744"/>
          </a:xfrm>
          <a:prstGeom prst="rect">
            <a:avLst/>
          </a:prstGeom>
        </p:spPr>
      </p:pic>
      <p:sp>
        <p:nvSpPr>
          <p:cNvPr id="49" name="TextBox 48"/>
          <p:cNvSpPr txBox="1"/>
          <p:nvPr/>
        </p:nvSpPr>
        <p:spPr>
          <a:xfrm>
            <a:off x="4297680" y="3749039"/>
            <a:ext cx="4297680" cy="292608"/>
          </a:xfrm>
          <a:prstGeom prst="rect">
            <a:avLst/>
          </a:prstGeom>
          <a:noFill/>
        </p:spPr>
        <p:txBody>
          <a:bodyPr wrap="square" lIns="0" rIns="0" tIns="0" bIns="0" anchor="ctr">
            <a:spAutoFit/>
          </a:bodyPr>
          <a:lstStyle/>
          <a:p>
            <a:pPr algn="l"/>
            <a:r>
              <a:rPr sz="1200" b="1" i="0">
                <a:solidFill>
                  <a:srgbClr val="1D1D1B"/>
                </a:solidFill>
                <a:latin typeface="Source Sans Pro"/>
                <a:cs typeface="Source Sans Pro"/>
              </a:rPr>
              <a:t>GitHub</a:t>
            </a:r>
          </a:p>
        </p:txBody>
      </p:sp>
      <p:sp>
        <p:nvSpPr>
          <p:cNvPr id="50" name="TextBox 49"/>
          <p:cNvSpPr txBox="1"/>
          <p:nvPr/>
        </p:nvSpPr>
        <p:spPr>
          <a:xfrm>
            <a:off x="5120640" y="3657600"/>
            <a:ext cx="3474720" cy="777240"/>
          </a:xfrm>
          <a:prstGeom prst="rect">
            <a:avLst/>
          </a:prstGeom>
          <a:noFill/>
        </p:spPr>
        <p:txBody>
          <a:bodyPr wrap="square" lIns="0" rIns="0" tIns="0" bIns="0" anchor="ctr">
            <a:spAutoFit/>
          </a:bodyPr>
          <a:lstStyle/>
          <a:p>
            <a:pPr algn="l"/>
            <a:r>
              <a:rPr sz="1100" b="0" i="0">
                <a:solidFill>
                  <a:srgbClr val="595959"/>
                </a:solidFill>
                <a:latin typeface="Calibri"/>
                <a:cs typeface="Calibri"/>
              </a:rPr>
              <a:t>finished pages and code</a:t>
            </a:r>
          </a:p>
        </p:txBody>
      </p:sp>
      <p:cxnSp>
        <p:nvCxnSpPr>
          <p:cNvPr id="51" name="Connector 50"/>
          <p:cNvCxnSpPr/>
          <p:nvPr/>
        </p:nvCxnSpPr>
        <p:spPr>
          <a:xfrm>
            <a:off x="4846320" y="3291840"/>
            <a:ext cx="0" cy="347472"/>
          </a:xfrm>
          <a:prstGeom prst="line">
            <a:avLst/>
          </a:prstGeom>
          <a:ln w="19050">
            <a:solidFill>
              <a:srgbClr val="1D1D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919472" y="3401568"/>
            <a:ext cx="1828800" cy="237744"/>
          </a:xfrm>
          <a:prstGeom prst="rect">
            <a:avLst/>
          </a:prstGeom>
          <a:noFill/>
        </p:spPr>
        <p:txBody>
          <a:bodyPr wrap="square" lIns="0" rIns="0" tIns="0" bIns="0" anchor="t">
            <a:spAutoFit/>
          </a:bodyPr>
          <a:lstStyle/>
          <a:p>
            <a:pPr algn="l"/>
            <a:r>
              <a:rPr sz="1000" b="0" i="1">
                <a:solidFill>
                  <a:srgbClr val="1D1D1B"/>
                </a:solidFill>
                <a:latin typeface="Calibri"/>
                <a:cs typeface="Calibri"/>
              </a:rPr>
              <a:t>uploaded by hand</a:t>
            </a:r>
          </a:p>
        </p:txBody>
      </p:sp>
      <p:cxnSp>
        <p:nvCxnSpPr>
          <p:cNvPr id="53" name="Connector 52"/>
          <p:cNvCxnSpPr/>
          <p:nvPr/>
        </p:nvCxnSpPr>
        <p:spPr>
          <a:xfrm>
            <a:off x="1965960" y="3493008"/>
            <a:ext cx="0" cy="548640"/>
          </a:xfrm>
          <a:prstGeom prst="line">
            <a:avLst/>
          </a:prstGeom>
          <a:ln w="15875">
            <a:solidFill>
              <a:srgbClr val="9E9E9E"/>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965960" y="4041648"/>
            <a:ext cx="1856232" cy="0"/>
          </a:xfrm>
          <a:prstGeom prst="line">
            <a:avLst/>
          </a:prstGeom>
          <a:ln w="15875">
            <a:solidFill>
              <a:srgbClr val="9E9E9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057400" y="3767328"/>
            <a:ext cx="2103120" cy="237744"/>
          </a:xfrm>
          <a:prstGeom prst="rect">
            <a:avLst/>
          </a:prstGeom>
          <a:noFill/>
        </p:spPr>
        <p:txBody>
          <a:bodyPr wrap="square" lIns="0" rIns="0" tIns="0" bIns="0" anchor="t">
            <a:spAutoFit/>
          </a:bodyPr>
          <a:lstStyle/>
          <a:p>
            <a:pPr algn="l"/>
            <a:r>
              <a:rPr sz="1000" b="0" i="1">
                <a:solidFill>
                  <a:srgbClr val="8C8C8C"/>
                </a:solidFill>
                <a:latin typeface="Calibri"/>
                <a:cs typeface="Calibri"/>
              </a:rPr>
              <a:t>code and prompt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What we take from the Knowledge Base Master</a:t>
            </a:r>
          </a:p>
        </p:txBody>
      </p:sp>
      <p:sp>
        <p:nvSpPr>
          <p:cNvPr id="3" name="Rounded Rectangle 2"/>
          <p:cNvSpPr/>
          <p:nvPr/>
        </p:nvSpPr>
        <p:spPr>
          <a:xfrm>
            <a:off x="4572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4" name="Rounded Rectangle 3"/>
          <p:cNvSpPr/>
          <p:nvPr/>
        </p:nvSpPr>
        <p:spPr>
          <a:xfrm>
            <a:off x="457200" y="914400"/>
            <a:ext cx="2590800" cy="566928"/>
          </a:xfrm>
          <a:prstGeom prst="roundRect">
            <a:avLst>
              <a:gd name="adj" fmla="val 12903"/>
            </a:avLst>
          </a:prstGeom>
          <a:solidFill>
            <a:srgbClr val="009B3C"/>
          </a:solidFill>
          <a:ln>
            <a:noFill/>
          </a:ln>
          <a:effectLst/>
        </p:spPr>
        <p:txBody>
          <a:bodyPr rtlCol="0" anchor="ctr" lIns="36576" rIns="36576"/>
          <a:lstStyle/>
          <a:p>
            <a:pPr algn="ctr"/>
          </a:p>
        </p:txBody>
      </p:sp>
      <p:sp>
        <p:nvSpPr>
          <p:cNvPr id="5" name="Rectangle 4"/>
          <p:cNvSpPr/>
          <p:nvPr/>
        </p:nvSpPr>
        <p:spPr>
          <a:xfrm>
            <a:off x="457200" y="1234440"/>
            <a:ext cx="2590800" cy="246888"/>
          </a:xfrm>
          <a:prstGeom prst="rect">
            <a:avLst/>
          </a:prstGeom>
          <a:solidFill>
            <a:srgbClr val="009B3C"/>
          </a:solidFill>
          <a:ln>
            <a:noFill/>
          </a:ln>
          <a:effectLst/>
        </p:spPr>
        <p:txBody>
          <a:bodyPr rtlCol="0" anchor="ctr" lIns="36576" rIns="36576"/>
          <a:lstStyle/>
          <a:p>
            <a:pPr algn="ctr"/>
          </a:p>
        </p:txBody>
      </p:sp>
      <p:sp>
        <p:nvSpPr>
          <p:cNvPr id="6" name="TextBox 5"/>
          <p:cNvSpPr txBox="1"/>
          <p:nvPr/>
        </p:nvSpPr>
        <p:spPr>
          <a:xfrm>
            <a:off x="6217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Used by the AI writer</a:t>
            </a:r>
          </a:p>
        </p:txBody>
      </p:sp>
      <p:sp>
        <p:nvSpPr>
          <p:cNvPr id="7" name="TextBox 6"/>
          <p:cNvSpPr txBox="1"/>
          <p:nvPr/>
        </p:nvSpPr>
        <p:spPr>
          <a:xfrm>
            <a:off x="621792" y="160020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Facilities</a:t>
            </a:r>
          </a:p>
        </p:txBody>
      </p:sp>
      <p:sp>
        <p:nvSpPr>
          <p:cNvPr id="8" name="TextBox 7"/>
          <p:cNvSpPr txBox="1"/>
          <p:nvPr/>
        </p:nvSpPr>
        <p:spPr>
          <a:xfrm>
            <a:off x="621792" y="1911095"/>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what each facility does and knows</a:t>
            </a:r>
          </a:p>
        </p:txBody>
      </p:sp>
      <p:sp>
        <p:nvSpPr>
          <p:cNvPr id="9" name="TextBox 8"/>
          <p:cNvSpPr txBox="1"/>
          <p:nvPr/>
        </p:nvSpPr>
        <p:spPr>
          <a:xfrm>
            <a:off x="621792" y="237744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Technologies</a:t>
            </a:r>
          </a:p>
        </p:txBody>
      </p:sp>
      <p:sp>
        <p:nvSpPr>
          <p:cNvPr id="10" name="TextBox 9"/>
          <p:cNvSpPr txBox="1"/>
          <p:nvPr/>
        </p:nvSpPr>
        <p:spPr>
          <a:xfrm>
            <a:off x="621792" y="2688336"/>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which methods are offered, and where</a:t>
            </a:r>
          </a:p>
        </p:txBody>
      </p:sp>
      <p:sp>
        <p:nvSpPr>
          <p:cNvPr id="11" name="TextBox 10"/>
          <p:cNvSpPr txBox="1"/>
          <p:nvPr/>
        </p:nvSpPr>
        <p:spPr>
          <a:xfrm>
            <a:off x="621792" y="315468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Services</a:t>
            </a:r>
          </a:p>
        </p:txBody>
      </p:sp>
      <p:sp>
        <p:nvSpPr>
          <p:cNvPr id="12" name="TextBox 11"/>
          <p:cNvSpPr txBox="1"/>
          <p:nvPr/>
        </p:nvSpPr>
        <p:spPr>
          <a:xfrm>
            <a:off x="621792" y="3465576"/>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services in the signed agreement</a:t>
            </a:r>
          </a:p>
        </p:txBody>
      </p:sp>
      <p:sp>
        <p:nvSpPr>
          <p:cNvPr id="13" name="Rounded Rectangle 12"/>
          <p:cNvSpPr/>
          <p:nvPr/>
        </p:nvSpPr>
        <p:spPr>
          <a:xfrm>
            <a:off x="32766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14" name="Rounded Rectangle 13"/>
          <p:cNvSpPr/>
          <p:nvPr/>
        </p:nvSpPr>
        <p:spPr>
          <a:xfrm>
            <a:off x="3276600" y="914400"/>
            <a:ext cx="2590800" cy="566928"/>
          </a:xfrm>
          <a:prstGeom prst="roundRect">
            <a:avLst>
              <a:gd name="adj" fmla="val 12903"/>
            </a:avLst>
          </a:prstGeom>
          <a:solidFill>
            <a:srgbClr val="1A73E8"/>
          </a:solidFill>
          <a:ln>
            <a:noFill/>
          </a:ln>
          <a:effectLst/>
        </p:spPr>
        <p:txBody>
          <a:bodyPr rtlCol="0" anchor="ctr" lIns="36576" rIns="36576"/>
          <a:lstStyle/>
          <a:p>
            <a:pPr algn="ctr"/>
          </a:p>
        </p:txBody>
      </p:sp>
      <p:sp>
        <p:nvSpPr>
          <p:cNvPr id="15" name="Rectangle 14"/>
          <p:cNvSpPr/>
          <p:nvPr/>
        </p:nvSpPr>
        <p:spPr>
          <a:xfrm>
            <a:off x="3276600" y="1234440"/>
            <a:ext cx="2590800" cy="246888"/>
          </a:xfrm>
          <a:prstGeom prst="rect">
            <a:avLst/>
          </a:prstGeom>
          <a:solidFill>
            <a:srgbClr val="1A73E8"/>
          </a:solidFill>
          <a:ln>
            <a:noFill/>
          </a:ln>
          <a:effectLst/>
        </p:spPr>
        <p:txBody>
          <a:bodyPr rtlCol="0" anchor="ctr" lIns="36576" rIns="36576"/>
          <a:lstStyle/>
          <a:p>
            <a:pPr algn="ctr"/>
          </a:p>
        </p:txBody>
      </p:sp>
      <p:sp>
        <p:nvSpPr>
          <p:cNvPr id="16" name="TextBox 15"/>
          <p:cNvSpPr txBox="1"/>
          <p:nvPr/>
        </p:nvSpPr>
        <p:spPr>
          <a:xfrm>
            <a:off x="34411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Printed on the page</a:t>
            </a:r>
          </a:p>
        </p:txBody>
      </p:sp>
      <p:sp>
        <p:nvSpPr>
          <p:cNvPr id="17" name="TextBox 16"/>
          <p:cNvSpPr txBox="1"/>
          <p:nvPr/>
        </p:nvSpPr>
        <p:spPr>
          <a:xfrm>
            <a:off x="3441192" y="160020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Tables</a:t>
            </a:r>
          </a:p>
        </p:txBody>
      </p:sp>
      <p:sp>
        <p:nvSpPr>
          <p:cNvPr id="18" name="TextBox 17"/>
          <p:cNvSpPr txBox="1"/>
          <p:nvPr/>
        </p:nvSpPr>
        <p:spPr>
          <a:xfrm>
            <a:off x="3441192" y="1911095"/>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methods, facilities, instruments</a:t>
            </a:r>
          </a:p>
        </p:txBody>
      </p:sp>
      <p:sp>
        <p:nvSpPr>
          <p:cNvPr id="19" name="TextBox 18"/>
          <p:cNvSpPr txBox="1"/>
          <p:nvPr/>
        </p:nvSpPr>
        <p:spPr>
          <a:xfrm>
            <a:off x="3441192" y="237744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Contacts</a:t>
            </a:r>
          </a:p>
        </p:txBody>
      </p:sp>
      <p:sp>
        <p:nvSpPr>
          <p:cNvPr id="20" name="TextBox 19"/>
          <p:cNvSpPr txBox="1"/>
          <p:nvPr/>
        </p:nvSpPr>
        <p:spPr>
          <a:xfrm>
            <a:off x="3441192" y="2688336"/>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public contacts and websites</a:t>
            </a:r>
          </a:p>
        </p:txBody>
      </p:sp>
      <p:sp>
        <p:nvSpPr>
          <p:cNvPr id="21" name="Rounded Rectangle 20"/>
          <p:cNvSpPr/>
          <p:nvPr/>
        </p:nvSpPr>
        <p:spPr>
          <a:xfrm>
            <a:off x="6096000" y="914400"/>
            <a:ext cx="2590800" cy="3108960"/>
          </a:xfrm>
          <a:prstGeom prst="roundRect">
            <a:avLst>
              <a:gd name="adj" fmla="val 2823"/>
            </a:avLst>
          </a:prstGeom>
          <a:solidFill>
            <a:srgbClr val="FAFAFA"/>
          </a:solidFill>
          <a:ln w="9525">
            <a:solidFill>
              <a:srgbClr val="E3E3E3"/>
            </a:solidFill>
          </a:ln>
          <a:effectLst/>
        </p:spPr>
        <p:txBody>
          <a:bodyPr rtlCol="0" anchor="ctr" lIns="36576" rIns="36576"/>
          <a:lstStyle/>
          <a:p>
            <a:pPr algn="ctr"/>
          </a:p>
        </p:txBody>
      </p:sp>
      <p:sp>
        <p:nvSpPr>
          <p:cNvPr id="22" name="Rounded Rectangle 21"/>
          <p:cNvSpPr/>
          <p:nvPr/>
        </p:nvSpPr>
        <p:spPr>
          <a:xfrm>
            <a:off x="6096000" y="914400"/>
            <a:ext cx="2590800" cy="566928"/>
          </a:xfrm>
          <a:prstGeom prst="roundRect">
            <a:avLst>
              <a:gd name="adj" fmla="val 12903"/>
            </a:avLst>
          </a:prstGeom>
          <a:solidFill>
            <a:srgbClr val="B03A2E"/>
          </a:solidFill>
          <a:ln>
            <a:noFill/>
          </a:ln>
          <a:effectLst/>
        </p:spPr>
        <p:txBody>
          <a:bodyPr rtlCol="0" anchor="ctr" lIns="36576" rIns="36576"/>
          <a:lstStyle/>
          <a:p>
            <a:pPr algn="ctr"/>
          </a:p>
        </p:txBody>
      </p:sp>
      <p:sp>
        <p:nvSpPr>
          <p:cNvPr id="23" name="Rectangle 22"/>
          <p:cNvSpPr/>
          <p:nvPr/>
        </p:nvSpPr>
        <p:spPr>
          <a:xfrm>
            <a:off x="6096000" y="1234440"/>
            <a:ext cx="2590800" cy="246888"/>
          </a:xfrm>
          <a:prstGeom prst="rect">
            <a:avLst/>
          </a:prstGeom>
          <a:solidFill>
            <a:srgbClr val="B03A2E"/>
          </a:solidFill>
          <a:ln>
            <a:noFill/>
          </a:ln>
          <a:effectLst/>
        </p:spPr>
        <p:txBody>
          <a:bodyPr rtlCol="0" anchor="ctr" lIns="36576" rIns="36576"/>
          <a:lstStyle/>
          <a:p>
            <a:pPr algn="ctr"/>
          </a:p>
        </p:txBody>
      </p:sp>
      <p:sp>
        <p:nvSpPr>
          <p:cNvPr id="24" name="TextBox 23"/>
          <p:cNvSpPr txBox="1"/>
          <p:nvPr/>
        </p:nvSpPr>
        <p:spPr>
          <a:xfrm>
            <a:off x="6260592" y="914400"/>
            <a:ext cx="2316480" cy="347472"/>
          </a:xfrm>
          <a:prstGeom prst="rect">
            <a:avLst/>
          </a:prstGeom>
          <a:noFill/>
        </p:spPr>
        <p:txBody>
          <a:bodyPr wrap="square" lIns="0" rIns="0" tIns="0" bIns="0" anchor="ctr">
            <a:spAutoFit/>
          </a:bodyPr>
          <a:lstStyle/>
          <a:p>
            <a:pPr algn="l"/>
            <a:r>
              <a:rPr sz="1300" b="1" i="0">
                <a:solidFill>
                  <a:srgbClr val="FFFFFF"/>
                </a:solidFill>
                <a:latin typeface="Source Sans Pro"/>
                <a:cs typeface="Source Sans Pro"/>
              </a:rPr>
              <a:t>Kept for review</a:t>
            </a:r>
          </a:p>
        </p:txBody>
      </p:sp>
      <p:sp>
        <p:nvSpPr>
          <p:cNvPr id="25" name="TextBox 24"/>
          <p:cNvSpPr txBox="1"/>
          <p:nvPr/>
        </p:nvSpPr>
        <p:spPr>
          <a:xfrm>
            <a:off x="6260592" y="1600200"/>
            <a:ext cx="2316480" cy="292608"/>
          </a:xfrm>
          <a:prstGeom prst="rect">
            <a:avLst/>
          </a:prstGeom>
          <a:noFill/>
        </p:spPr>
        <p:txBody>
          <a:bodyPr wrap="square" lIns="0" rIns="0" tIns="0" bIns="0" anchor="t">
            <a:spAutoFit/>
          </a:bodyPr>
          <a:lstStyle/>
          <a:p>
            <a:pPr algn="l"/>
            <a:r>
              <a:rPr sz="1400" b="1" i="0">
                <a:solidFill>
                  <a:srgbClr val="1D1D1B"/>
                </a:solidFill>
                <a:latin typeface="Calibri"/>
                <a:cs typeface="Calibri"/>
              </a:rPr>
              <a:t>Gaps</a:t>
            </a:r>
          </a:p>
        </p:txBody>
      </p:sp>
      <p:sp>
        <p:nvSpPr>
          <p:cNvPr id="26" name="TextBox 25"/>
          <p:cNvSpPr txBox="1"/>
          <p:nvPr/>
        </p:nvSpPr>
        <p:spPr>
          <a:xfrm>
            <a:off x="6260592" y="1911095"/>
            <a:ext cx="2316480" cy="548640"/>
          </a:xfrm>
          <a:prstGeom prst="rect">
            <a:avLst/>
          </a:prstGeom>
          <a:noFill/>
        </p:spPr>
        <p:txBody>
          <a:bodyPr wrap="square" lIns="0" rIns="0" tIns="0" bIns="0" anchor="t">
            <a:spAutoFit/>
          </a:bodyPr>
          <a:lstStyle/>
          <a:p>
            <a:pPr algn="l"/>
            <a:r>
              <a:rPr sz="1250" b="0" i="0">
                <a:solidFill>
                  <a:srgbClr val="595959"/>
                </a:solidFill>
                <a:latin typeface="Calibri"/>
                <a:cs typeface="Calibri"/>
              </a:rPr>
              <a:t>missing data and items on hold</a:t>
            </a:r>
          </a:p>
        </p:txBody>
      </p:sp>
      <p:sp>
        <p:nvSpPr>
          <p:cNvPr id="27" name="Rounded Rectangle 26"/>
          <p:cNvSpPr/>
          <p:nvPr/>
        </p:nvSpPr>
        <p:spPr>
          <a:xfrm>
            <a:off x="457200" y="4133087"/>
            <a:ext cx="8229600" cy="457200"/>
          </a:xfrm>
          <a:prstGeom prst="roundRect">
            <a:avLst>
              <a:gd name="adj" fmla="val 12000"/>
            </a:avLst>
          </a:prstGeom>
          <a:solidFill>
            <a:srgbClr val="FBEAEA"/>
          </a:solidFill>
          <a:ln>
            <a:noFill/>
          </a:ln>
          <a:effectLst/>
        </p:spPr>
        <p:txBody>
          <a:bodyPr rtlCol="0" anchor="ctr" lIns="36576" rIns="36576"/>
          <a:lstStyle/>
          <a:p>
            <a:pPr algn="ctr"/>
          </a:p>
        </p:txBody>
      </p:sp>
      <p:sp>
        <p:nvSpPr>
          <p:cNvPr id="28" name="TextBox 27"/>
          <p:cNvSpPr txBox="1"/>
          <p:nvPr/>
        </p:nvSpPr>
        <p:spPr>
          <a:xfrm>
            <a:off x="640080" y="4133087"/>
            <a:ext cx="7863840" cy="457200"/>
          </a:xfrm>
          <a:prstGeom prst="rect">
            <a:avLst/>
          </a:prstGeom>
          <a:noFill/>
        </p:spPr>
        <p:txBody>
          <a:bodyPr wrap="square" lIns="0" rIns="0" tIns="0" bIns="0" anchor="ctr">
            <a:spAutoFit/>
          </a:bodyPr>
          <a:lstStyle/>
          <a:p>
            <a:pPr algn="l"/>
            <a:r>
              <a:rPr sz="1150" b="1" i="0">
                <a:solidFill>
                  <a:srgbClr val="B03A2E"/>
                </a:solidFill>
                <a:latin typeface="Calibri"/>
                <a:cs typeface="Calibri"/>
              </a:rPr>
              <a:t>Data Enrichment </a:t>
            </a:r>
            <a:r>
              <a:rPr sz="1150" b="0" i="0">
                <a:solidFill>
                  <a:srgbClr val="1D1D1B"/>
                </a:solidFill>
                <a:latin typeface="Calibri"/>
                <a:cs typeface="Calibri"/>
              </a:rPr>
              <a:t>is a separate workflow that finds what is missing in the Knowledge Base. Those gaps go on a review 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n8n workflow</a:t>
            </a:r>
          </a:p>
        </p:txBody>
      </p:sp>
      <p:pic>
        <p:nvPicPr>
          <p:cNvPr id="3" name="Picture 2" descr="canvas.png"/>
          <p:cNvPicPr>
            <a:picLocks noChangeAspect="1"/>
          </p:cNvPicPr>
          <p:nvPr/>
        </p:nvPicPr>
        <p:blipFill>
          <a:blip r:embed="rId3"/>
          <a:stretch>
            <a:fillRect/>
          </a:stretch>
        </p:blipFill>
        <p:spPr>
          <a:xfrm>
            <a:off x="457200" y="868680"/>
            <a:ext cx="8229600" cy="1600200"/>
          </a:xfrm>
          <a:prstGeom prst="rect">
            <a:avLst/>
          </a:prstGeom>
        </p:spPr>
      </p:pic>
      <p:sp>
        <p:nvSpPr>
          <p:cNvPr id="4" name="Rounded Rectangle 3"/>
          <p:cNvSpPr/>
          <p:nvPr/>
        </p:nvSpPr>
        <p:spPr>
          <a:xfrm>
            <a:off x="3584447" y="960120"/>
            <a:ext cx="5221224" cy="1417320"/>
          </a:xfrm>
          <a:prstGeom prst="roundRect">
            <a:avLst>
              <a:gd name="adj" fmla="val 5161"/>
            </a:avLst>
          </a:prstGeom>
          <a:noFill/>
          <a:ln w="12700">
            <a:solidFill>
              <a:srgbClr val="2E7D32"/>
            </a:solidFill>
          </a:ln>
          <a:effectLst/>
        </p:spPr>
        <p:txBody>
          <a:bodyPr rtlCol="0" anchor="ctr" lIns="36576" rIns="36576"/>
          <a:lstStyle/>
          <a:p>
            <a:pPr algn="ctr"/>
          </a:p>
        </p:txBody>
      </p:sp>
      <p:sp>
        <p:nvSpPr>
          <p:cNvPr id="5" name="TextBox 4"/>
          <p:cNvSpPr txBox="1"/>
          <p:nvPr/>
        </p:nvSpPr>
        <p:spPr>
          <a:xfrm>
            <a:off x="3675887" y="2139696"/>
            <a:ext cx="2743200" cy="201168"/>
          </a:xfrm>
          <a:prstGeom prst="rect">
            <a:avLst/>
          </a:prstGeom>
          <a:noFill/>
        </p:spPr>
        <p:txBody>
          <a:bodyPr wrap="square" lIns="0" rIns="0" tIns="0" bIns="0" anchor="t">
            <a:spAutoFit/>
          </a:bodyPr>
          <a:lstStyle/>
          <a:p>
            <a:pPr algn="l"/>
            <a:r>
              <a:rPr sz="900" b="0" i="1">
                <a:solidFill>
                  <a:srgbClr val="2E7D32"/>
                </a:solidFill>
                <a:latin typeface="Calibri"/>
                <a:cs typeface="Calibri"/>
              </a:rPr>
              <a:t>repeated for each Node</a:t>
            </a:r>
          </a:p>
        </p:txBody>
      </p:sp>
      <p:sp>
        <p:nvSpPr>
          <p:cNvPr id="6" name="Rounded Rectangle 5"/>
          <p:cNvSpPr/>
          <p:nvPr/>
        </p:nvSpPr>
        <p:spPr>
          <a:xfrm>
            <a:off x="621792" y="1124712"/>
            <a:ext cx="457200" cy="457200"/>
          </a:xfrm>
          <a:prstGeom prst="roundRect">
            <a:avLst>
              <a:gd name="adj" fmla="val 16000"/>
            </a:avLst>
          </a:prstGeom>
          <a:solidFill>
            <a:srgbClr val="FFFFFF"/>
          </a:solidFill>
          <a:ln w="22225">
            <a:solidFill>
              <a:srgbClr val="6B6B6B"/>
            </a:solidFill>
          </a:ln>
          <a:effectLst/>
        </p:spPr>
        <p:txBody>
          <a:bodyPr rtlCol="0" anchor="ctr" lIns="36576" rIns="36576"/>
          <a:lstStyle/>
          <a:p>
            <a:pPr algn="ctr"/>
          </a:p>
        </p:txBody>
      </p:sp>
      <p:pic>
        <p:nvPicPr>
          <p:cNvPr id="7" name="Picture 6" descr="pointer_brand.png"/>
          <p:cNvPicPr>
            <a:picLocks noChangeAspect="1"/>
          </p:cNvPicPr>
          <p:nvPr/>
        </p:nvPicPr>
        <p:blipFill>
          <a:blip r:embed="rId4"/>
          <a:stretch>
            <a:fillRect/>
          </a:stretch>
        </p:blipFill>
        <p:spPr>
          <a:xfrm>
            <a:off x="722375" y="1225296"/>
            <a:ext cx="256032" cy="256032"/>
          </a:xfrm>
          <a:prstGeom prst="rect">
            <a:avLst/>
          </a:prstGeom>
        </p:spPr>
      </p:pic>
      <p:sp>
        <p:nvSpPr>
          <p:cNvPr id="8" name="Oval 7"/>
          <p:cNvSpPr/>
          <p:nvPr/>
        </p:nvSpPr>
        <p:spPr>
          <a:xfrm>
            <a:off x="960119" y="1033271"/>
            <a:ext cx="201168" cy="201168"/>
          </a:xfrm>
          <a:prstGeom prst="ellipse">
            <a:avLst/>
          </a:prstGeom>
          <a:solidFill>
            <a:srgbClr val="6B6B6B"/>
          </a:solidFill>
          <a:ln>
            <a:noFill/>
          </a:ln>
          <a:effectLst/>
        </p:spPr>
        <p:txBody>
          <a:bodyPr rtlCol="0" anchor="ctr" lIns="36576" rIns="36576"/>
          <a:lstStyle/>
          <a:p>
            <a:pPr algn="ctr"/>
          </a:p>
        </p:txBody>
      </p:sp>
      <p:sp>
        <p:nvSpPr>
          <p:cNvPr id="9" name="TextBox 8"/>
          <p:cNvSpPr txBox="1"/>
          <p:nvPr/>
        </p:nvSpPr>
        <p:spPr>
          <a:xfrm>
            <a:off x="960119"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a:t>
            </a:r>
          </a:p>
        </p:txBody>
      </p:sp>
      <p:sp>
        <p:nvSpPr>
          <p:cNvPr id="10" name="TextBox 9"/>
          <p:cNvSpPr txBox="1"/>
          <p:nvPr/>
        </p:nvSpPr>
        <p:spPr>
          <a:xfrm>
            <a:off x="493775"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Manual trigger</a:t>
            </a:r>
          </a:p>
        </p:txBody>
      </p:sp>
      <p:cxnSp>
        <p:nvCxnSpPr>
          <p:cNvPr id="11" name="Connector 10"/>
          <p:cNvCxnSpPr/>
          <p:nvPr/>
        </p:nvCxnSpPr>
        <p:spPr>
          <a:xfrm>
            <a:off x="1097280"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85316"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13" name="Picture 12" descr="drive_brand.png"/>
          <p:cNvPicPr>
            <a:picLocks noChangeAspect="1"/>
          </p:cNvPicPr>
          <p:nvPr/>
        </p:nvPicPr>
        <p:blipFill>
          <a:blip r:embed="rId5"/>
          <a:stretch>
            <a:fillRect/>
          </a:stretch>
        </p:blipFill>
        <p:spPr>
          <a:xfrm>
            <a:off x="1485900" y="1225296"/>
            <a:ext cx="256032" cy="256032"/>
          </a:xfrm>
          <a:prstGeom prst="rect">
            <a:avLst/>
          </a:prstGeom>
        </p:spPr>
      </p:pic>
      <p:sp>
        <p:nvSpPr>
          <p:cNvPr id="14" name="Oval 13"/>
          <p:cNvSpPr/>
          <p:nvPr/>
        </p:nvSpPr>
        <p:spPr>
          <a:xfrm>
            <a:off x="1723643" y="1033271"/>
            <a:ext cx="201168" cy="201168"/>
          </a:xfrm>
          <a:prstGeom prst="ellipse">
            <a:avLst/>
          </a:prstGeom>
          <a:solidFill>
            <a:srgbClr val="1A73E8"/>
          </a:solidFill>
          <a:ln>
            <a:noFill/>
          </a:ln>
          <a:effectLst/>
        </p:spPr>
        <p:txBody>
          <a:bodyPr rtlCol="0" anchor="ctr" lIns="36576" rIns="36576"/>
          <a:lstStyle/>
          <a:p>
            <a:pPr algn="ctr"/>
          </a:p>
        </p:txBody>
      </p:sp>
      <p:sp>
        <p:nvSpPr>
          <p:cNvPr id="15" name="TextBox 14"/>
          <p:cNvSpPr txBox="1"/>
          <p:nvPr/>
        </p:nvSpPr>
        <p:spPr>
          <a:xfrm>
            <a:off x="1723643"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2</a:t>
            </a:r>
          </a:p>
        </p:txBody>
      </p:sp>
      <p:sp>
        <p:nvSpPr>
          <p:cNvPr id="16" name="TextBox 15"/>
          <p:cNvSpPr txBox="1"/>
          <p:nvPr/>
        </p:nvSpPr>
        <p:spPr>
          <a:xfrm>
            <a:off x="1257300"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List node files</a:t>
            </a:r>
          </a:p>
        </p:txBody>
      </p:sp>
      <p:cxnSp>
        <p:nvCxnSpPr>
          <p:cNvPr id="17" name="Connector 16"/>
          <p:cNvCxnSpPr/>
          <p:nvPr/>
        </p:nvCxnSpPr>
        <p:spPr>
          <a:xfrm>
            <a:off x="1860803"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148839"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19" name="Picture 18" descr="code_brand.png"/>
          <p:cNvPicPr>
            <a:picLocks noChangeAspect="1"/>
          </p:cNvPicPr>
          <p:nvPr/>
        </p:nvPicPr>
        <p:blipFill>
          <a:blip r:embed="rId6"/>
          <a:stretch>
            <a:fillRect/>
          </a:stretch>
        </p:blipFill>
        <p:spPr>
          <a:xfrm>
            <a:off x="2249423" y="1225296"/>
            <a:ext cx="256032" cy="256032"/>
          </a:xfrm>
          <a:prstGeom prst="rect">
            <a:avLst/>
          </a:prstGeom>
        </p:spPr>
      </p:pic>
      <p:sp>
        <p:nvSpPr>
          <p:cNvPr id="20" name="Oval 19"/>
          <p:cNvSpPr/>
          <p:nvPr/>
        </p:nvSpPr>
        <p:spPr>
          <a:xfrm>
            <a:off x="2487168" y="1033271"/>
            <a:ext cx="201168" cy="201168"/>
          </a:xfrm>
          <a:prstGeom prst="ellipse">
            <a:avLst/>
          </a:prstGeom>
          <a:solidFill>
            <a:srgbClr val="E8710A"/>
          </a:solidFill>
          <a:ln>
            <a:noFill/>
          </a:ln>
          <a:effectLst/>
        </p:spPr>
        <p:txBody>
          <a:bodyPr rtlCol="0" anchor="ctr" lIns="36576" rIns="36576"/>
          <a:lstStyle/>
          <a:p>
            <a:pPr algn="ctr"/>
          </a:p>
        </p:txBody>
      </p:sp>
      <p:sp>
        <p:nvSpPr>
          <p:cNvPr id="21" name="TextBox 20"/>
          <p:cNvSpPr txBox="1"/>
          <p:nvPr/>
        </p:nvSpPr>
        <p:spPr>
          <a:xfrm>
            <a:off x="2487168"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3</a:t>
            </a:r>
          </a:p>
        </p:txBody>
      </p:sp>
      <p:sp>
        <p:nvSpPr>
          <p:cNvPr id="22" name="TextBox 21"/>
          <p:cNvSpPr txBox="1"/>
          <p:nvPr/>
        </p:nvSpPr>
        <p:spPr>
          <a:xfrm>
            <a:off x="2020823"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Pick node files</a:t>
            </a:r>
          </a:p>
        </p:txBody>
      </p:sp>
      <p:cxnSp>
        <p:nvCxnSpPr>
          <p:cNvPr id="23" name="Connector 22"/>
          <p:cNvCxnSpPr/>
          <p:nvPr/>
        </p:nvCxnSpPr>
        <p:spPr>
          <a:xfrm>
            <a:off x="2624327"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912363" y="1124712"/>
            <a:ext cx="457200" cy="457200"/>
          </a:xfrm>
          <a:prstGeom prst="roundRect">
            <a:avLst>
              <a:gd name="adj" fmla="val 16000"/>
            </a:avLst>
          </a:prstGeom>
          <a:solidFill>
            <a:srgbClr val="FFFFFF"/>
          </a:solidFill>
          <a:ln w="22225">
            <a:solidFill>
              <a:srgbClr val="2E7D32"/>
            </a:solidFill>
          </a:ln>
          <a:effectLst/>
        </p:spPr>
        <p:txBody>
          <a:bodyPr rtlCol="0" anchor="ctr" lIns="36576" rIns="36576"/>
          <a:lstStyle/>
          <a:p>
            <a:pPr algn="ctr"/>
          </a:p>
        </p:txBody>
      </p:sp>
      <p:pic>
        <p:nvPicPr>
          <p:cNvPr id="25" name="Picture 24" descr="loop_brand.png"/>
          <p:cNvPicPr>
            <a:picLocks noChangeAspect="1"/>
          </p:cNvPicPr>
          <p:nvPr/>
        </p:nvPicPr>
        <p:blipFill>
          <a:blip r:embed="rId7"/>
          <a:stretch>
            <a:fillRect/>
          </a:stretch>
        </p:blipFill>
        <p:spPr>
          <a:xfrm>
            <a:off x="3012947" y="1225296"/>
            <a:ext cx="256032" cy="256032"/>
          </a:xfrm>
          <a:prstGeom prst="rect">
            <a:avLst/>
          </a:prstGeom>
        </p:spPr>
      </p:pic>
      <p:sp>
        <p:nvSpPr>
          <p:cNvPr id="26" name="Oval 25"/>
          <p:cNvSpPr/>
          <p:nvPr/>
        </p:nvSpPr>
        <p:spPr>
          <a:xfrm>
            <a:off x="3250691" y="1033271"/>
            <a:ext cx="201168" cy="201168"/>
          </a:xfrm>
          <a:prstGeom prst="ellipse">
            <a:avLst/>
          </a:prstGeom>
          <a:solidFill>
            <a:srgbClr val="2E7D32"/>
          </a:solidFill>
          <a:ln>
            <a:noFill/>
          </a:ln>
          <a:effectLst/>
        </p:spPr>
        <p:txBody>
          <a:bodyPr rtlCol="0" anchor="ctr" lIns="36576" rIns="36576"/>
          <a:lstStyle/>
          <a:p>
            <a:pPr algn="ctr"/>
          </a:p>
        </p:txBody>
      </p:sp>
      <p:sp>
        <p:nvSpPr>
          <p:cNvPr id="27" name="TextBox 26"/>
          <p:cNvSpPr txBox="1"/>
          <p:nvPr/>
        </p:nvSpPr>
        <p:spPr>
          <a:xfrm>
            <a:off x="3250691"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4</a:t>
            </a:r>
          </a:p>
        </p:txBody>
      </p:sp>
      <p:sp>
        <p:nvSpPr>
          <p:cNvPr id="28" name="TextBox 27"/>
          <p:cNvSpPr txBox="1"/>
          <p:nvPr/>
        </p:nvSpPr>
        <p:spPr>
          <a:xfrm>
            <a:off x="2784347"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Loop Over Nodes</a:t>
            </a:r>
          </a:p>
        </p:txBody>
      </p:sp>
      <p:cxnSp>
        <p:nvCxnSpPr>
          <p:cNvPr id="29" name="Connector 28"/>
          <p:cNvCxnSpPr/>
          <p:nvPr/>
        </p:nvCxnSpPr>
        <p:spPr>
          <a:xfrm>
            <a:off x="3387851"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675887"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31" name="Picture 30" descr="drive_brand.png"/>
          <p:cNvPicPr>
            <a:picLocks noChangeAspect="1"/>
          </p:cNvPicPr>
          <p:nvPr/>
        </p:nvPicPr>
        <p:blipFill>
          <a:blip r:embed="rId5"/>
          <a:stretch>
            <a:fillRect/>
          </a:stretch>
        </p:blipFill>
        <p:spPr>
          <a:xfrm>
            <a:off x="3776472" y="1225296"/>
            <a:ext cx="256032" cy="256032"/>
          </a:xfrm>
          <a:prstGeom prst="rect">
            <a:avLst/>
          </a:prstGeom>
        </p:spPr>
      </p:pic>
      <p:sp>
        <p:nvSpPr>
          <p:cNvPr id="32" name="Oval 31"/>
          <p:cNvSpPr/>
          <p:nvPr/>
        </p:nvSpPr>
        <p:spPr>
          <a:xfrm>
            <a:off x="4014215" y="1033271"/>
            <a:ext cx="201168" cy="201168"/>
          </a:xfrm>
          <a:prstGeom prst="ellipse">
            <a:avLst/>
          </a:prstGeom>
          <a:solidFill>
            <a:srgbClr val="1A73E8"/>
          </a:solidFill>
          <a:ln>
            <a:noFill/>
          </a:ln>
          <a:effectLst/>
        </p:spPr>
        <p:txBody>
          <a:bodyPr rtlCol="0" anchor="ctr" lIns="36576" rIns="36576"/>
          <a:lstStyle/>
          <a:p>
            <a:pPr algn="ctr"/>
          </a:p>
        </p:txBody>
      </p:sp>
      <p:sp>
        <p:nvSpPr>
          <p:cNvPr id="33" name="TextBox 32"/>
          <p:cNvSpPr txBox="1"/>
          <p:nvPr/>
        </p:nvSpPr>
        <p:spPr>
          <a:xfrm>
            <a:off x="4014215"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5</a:t>
            </a:r>
          </a:p>
        </p:txBody>
      </p:sp>
      <p:sp>
        <p:nvSpPr>
          <p:cNvPr id="34" name="TextBox 33"/>
          <p:cNvSpPr txBox="1"/>
          <p:nvPr/>
        </p:nvSpPr>
        <p:spPr>
          <a:xfrm>
            <a:off x="3547871"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Download node file</a:t>
            </a:r>
          </a:p>
        </p:txBody>
      </p:sp>
      <p:cxnSp>
        <p:nvCxnSpPr>
          <p:cNvPr id="35" name="Connector 34"/>
          <p:cNvCxnSpPr/>
          <p:nvPr/>
        </p:nvCxnSpPr>
        <p:spPr>
          <a:xfrm>
            <a:off x="4151375"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439412"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37" name="Picture 36" descr="code_brand.png"/>
          <p:cNvPicPr>
            <a:picLocks noChangeAspect="1"/>
          </p:cNvPicPr>
          <p:nvPr/>
        </p:nvPicPr>
        <p:blipFill>
          <a:blip r:embed="rId6"/>
          <a:stretch>
            <a:fillRect/>
          </a:stretch>
        </p:blipFill>
        <p:spPr>
          <a:xfrm>
            <a:off x="4539996" y="1225296"/>
            <a:ext cx="256032" cy="256032"/>
          </a:xfrm>
          <a:prstGeom prst="rect">
            <a:avLst/>
          </a:prstGeom>
        </p:spPr>
      </p:pic>
      <p:sp>
        <p:nvSpPr>
          <p:cNvPr id="38" name="Oval 37"/>
          <p:cNvSpPr/>
          <p:nvPr/>
        </p:nvSpPr>
        <p:spPr>
          <a:xfrm>
            <a:off x="4777740" y="1033271"/>
            <a:ext cx="201168" cy="201168"/>
          </a:xfrm>
          <a:prstGeom prst="ellipse">
            <a:avLst/>
          </a:prstGeom>
          <a:solidFill>
            <a:srgbClr val="E8710A"/>
          </a:solidFill>
          <a:ln>
            <a:noFill/>
          </a:ln>
          <a:effectLst/>
        </p:spPr>
        <p:txBody>
          <a:bodyPr rtlCol="0" anchor="ctr" lIns="36576" rIns="36576"/>
          <a:lstStyle/>
          <a:p>
            <a:pPr algn="ctr"/>
          </a:p>
        </p:txBody>
      </p:sp>
      <p:sp>
        <p:nvSpPr>
          <p:cNvPr id="39" name="TextBox 38"/>
          <p:cNvSpPr txBox="1"/>
          <p:nvPr/>
        </p:nvSpPr>
        <p:spPr>
          <a:xfrm>
            <a:off x="4777740"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6</a:t>
            </a:r>
          </a:p>
        </p:txBody>
      </p:sp>
      <p:sp>
        <p:nvSpPr>
          <p:cNvPr id="40" name="TextBox 39"/>
          <p:cNvSpPr txBox="1"/>
          <p:nvPr/>
        </p:nvSpPr>
        <p:spPr>
          <a:xfrm>
            <a:off x="4311396"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Read node file</a:t>
            </a:r>
          </a:p>
        </p:txBody>
      </p:sp>
      <p:cxnSp>
        <p:nvCxnSpPr>
          <p:cNvPr id="41" name="Connector 40"/>
          <p:cNvCxnSpPr/>
          <p:nvPr/>
        </p:nvCxnSpPr>
        <p:spPr>
          <a:xfrm>
            <a:off x="4914899"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202936" y="1124712"/>
            <a:ext cx="457200" cy="457200"/>
          </a:xfrm>
          <a:prstGeom prst="roundRect">
            <a:avLst>
              <a:gd name="adj" fmla="val 16000"/>
            </a:avLst>
          </a:prstGeom>
          <a:solidFill>
            <a:srgbClr val="FFFFFF"/>
          </a:solidFill>
          <a:ln w="22225">
            <a:solidFill>
              <a:srgbClr val="6A4C93"/>
            </a:solidFill>
          </a:ln>
          <a:effectLst/>
        </p:spPr>
        <p:txBody>
          <a:bodyPr rtlCol="0" anchor="ctr" lIns="36576" rIns="36576"/>
          <a:lstStyle/>
          <a:p>
            <a:pPr algn="ctr"/>
          </a:p>
        </p:txBody>
      </p:sp>
      <p:pic>
        <p:nvPicPr>
          <p:cNvPr id="43" name="Picture 42" descr="robot_brand.png"/>
          <p:cNvPicPr>
            <a:picLocks noChangeAspect="1"/>
          </p:cNvPicPr>
          <p:nvPr/>
        </p:nvPicPr>
        <p:blipFill>
          <a:blip r:embed="rId8"/>
          <a:stretch>
            <a:fillRect/>
          </a:stretch>
        </p:blipFill>
        <p:spPr>
          <a:xfrm>
            <a:off x="5303520" y="1225296"/>
            <a:ext cx="256032" cy="256032"/>
          </a:xfrm>
          <a:prstGeom prst="rect">
            <a:avLst/>
          </a:prstGeom>
        </p:spPr>
      </p:pic>
      <p:sp>
        <p:nvSpPr>
          <p:cNvPr id="44" name="Oval 43"/>
          <p:cNvSpPr/>
          <p:nvPr/>
        </p:nvSpPr>
        <p:spPr>
          <a:xfrm>
            <a:off x="5541264" y="1033271"/>
            <a:ext cx="201168" cy="201168"/>
          </a:xfrm>
          <a:prstGeom prst="ellipse">
            <a:avLst/>
          </a:prstGeom>
          <a:solidFill>
            <a:srgbClr val="6A4C93"/>
          </a:solidFill>
          <a:ln>
            <a:noFill/>
          </a:ln>
          <a:effectLst/>
        </p:spPr>
        <p:txBody>
          <a:bodyPr rtlCol="0" anchor="ctr" lIns="36576" rIns="36576"/>
          <a:lstStyle/>
          <a:p>
            <a:pPr algn="ctr"/>
          </a:p>
        </p:txBody>
      </p:sp>
      <p:sp>
        <p:nvSpPr>
          <p:cNvPr id="45" name="TextBox 44"/>
          <p:cNvSpPr txBox="1"/>
          <p:nvPr/>
        </p:nvSpPr>
        <p:spPr>
          <a:xfrm>
            <a:off x="5541264"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7</a:t>
            </a:r>
          </a:p>
        </p:txBody>
      </p:sp>
      <p:sp>
        <p:nvSpPr>
          <p:cNvPr id="46" name="TextBox 45"/>
          <p:cNvSpPr txBox="1"/>
          <p:nvPr/>
        </p:nvSpPr>
        <p:spPr>
          <a:xfrm>
            <a:off x="5074920"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AI Node Writer</a:t>
            </a:r>
          </a:p>
        </p:txBody>
      </p:sp>
      <p:cxnSp>
        <p:nvCxnSpPr>
          <p:cNvPr id="47" name="Connector 46"/>
          <p:cNvCxnSpPr/>
          <p:nvPr/>
        </p:nvCxnSpPr>
        <p:spPr>
          <a:xfrm>
            <a:off x="5678423"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966459"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49" name="Picture 48" descr="code_brand.png"/>
          <p:cNvPicPr>
            <a:picLocks noChangeAspect="1"/>
          </p:cNvPicPr>
          <p:nvPr/>
        </p:nvPicPr>
        <p:blipFill>
          <a:blip r:embed="rId6"/>
          <a:stretch>
            <a:fillRect/>
          </a:stretch>
        </p:blipFill>
        <p:spPr>
          <a:xfrm>
            <a:off x="6067044" y="1225296"/>
            <a:ext cx="256032" cy="256032"/>
          </a:xfrm>
          <a:prstGeom prst="rect">
            <a:avLst/>
          </a:prstGeom>
        </p:spPr>
      </p:pic>
      <p:sp>
        <p:nvSpPr>
          <p:cNvPr id="50" name="Oval 49"/>
          <p:cNvSpPr/>
          <p:nvPr/>
        </p:nvSpPr>
        <p:spPr>
          <a:xfrm>
            <a:off x="6304788" y="1033271"/>
            <a:ext cx="201168" cy="201168"/>
          </a:xfrm>
          <a:prstGeom prst="ellipse">
            <a:avLst/>
          </a:prstGeom>
          <a:solidFill>
            <a:srgbClr val="E8710A"/>
          </a:solidFill>
          <a:ln>
            <a:noFill/>
          </a:ln>
          <a:effectLst/>
        </p:spPr>
        <p:txBody>
          <a:bodyPr rtlCol="0" anchor="ctr" lIns="36576" rIns="36576"/>
          <a:lstStyle/>
          <a:p>
            <a:pPr algn="ctr"/>
          </a:p>
        </p:txBody>
      </p:sp>
      <p:sp>
        <p:nvSpPr>
          <p:cNvPr id="51" name="TextBox 50"/>
          <p:cNvSpPr txBox="1"/>
          <p:nvPr/>
        </p:nvSpPr>
        <p:spPr>
          <a:xfrm>
            <a:off x="6304788"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8</a:t>
            </a:r>
          </a:p>
        </p:txBody>
      </p:sp>
      <p:sp>
        <p:nvSpPr>
          <p:cNvPr id="52" name="TextBox 51"/>
          <p:cNvSpPr txBox="1"/>
          <p:nvPr/>
        </p:nvSpPr>
        <p:spPr>
          <a:xfrm>
            <a:off x="5838444"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Clean and explode sections</a:t>
            </a:r>
          </a:p>
        </p:txBody>
      </p:sp>
      <p:cxnSp>
        <p:nvCxnSpPr>
          <p:cNvPr id="53" name="Connector 52"/>
          <p:cNvCxnSpPr/>
          <p:nvPr/>
        </p:nvCxnSpPr>
        <p:spPr>
          <a:xfrm>
            <a:off x="6441947"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729983"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55" name="Picture 54" descr="code_brand.png"/>
          <p:cNvPicPr>
            <a:picLocks noChangeAspect="1"/>
          </p:cNvPicPr>
          <p:nvPr/>
        </p:nvPicPr>
        <p:blipFill>
          <a:blip r:embed="rId6"/>
          <a:stretch>
            <a:fillRect/>
          </a:stretch>
        </p:blipFill>
        <p:spPr>
          <a:xfrm>
            <a:off x="6830568" y="1225296"/>
            <a:ext cx="256032" cy="256032"/>
          </a:xfrm>
          <a:prstGeom prst="rect">
            <a:avLst/>
          </a:prstGeom>
        </p:spPr>
      </p:pic>
      <p:sp>
        <p:nvSpPr>
          <p:cNvPr id="56" name="Oval 55"/>
          <p:cNvSpPr/>
          <p:nvPr/>
        </p:nvSpPr>
        <p:spPr>
          <a:xfrm>
            <a:off x="7068312" y="1033271"/>
            <a:ext cx="201168" cy="201168"/>
          </a:xfrm>
          <a:prstGeom prst="ellipse">
            <a:avLst/>
          </a:prstGeom>
          <a:solidFill>
            <a:srgbClr val="E8710A"/>
          </a:solidFill>
          <a:ln>
            <a:noFill/>
          </a:ln>
          <a:effectLst/>
        </p:spPr>
        <p:txBody>
          <a:bodyPr rtlCol="0" anchor="ctr" lIns="36576" rIns="36576"/>
          <a:lstStyle/>
          <a:p>
            <a:pPr algn="ctr"/>
          </a:p>
        </p:txBody>
      </p:sp>
      <p:sp>
        <p:nvSpPr>
          <p:cNvPr id="57" name="TextBox 56"/>
          <p:cNvSpPr txBox="1"/>
          <p:nvPr/>
        </p:nvSpPr>
        <p:spPr>
          <a:xfrm>
            <a:off x="7068312"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9</a:t>
            </a:r>
          </a:p>
        </p:txBody>
      </p:sp>
      <p:sp>
        <p:nvSpPr>
          <p:cNvPr id="58" name="TextBox 57"/>
          <p:cNvSpPr txBox="1"/>
          <p:nvPr/>
        </p:nvSpPr>
        <p:spPr>
          <a:xfrm>
            <a:off x="6601968"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Render node page</a:t>
            </a:r>
          </a:p>
        </p:txBody>
      </p:sp>
      <p:cxnSp>
        <p:nvCxnSpPr>
          <p:cNvPr id="59" name="Connector 58"/>
          <p:cNvCxnSpPr/>
          <p:nvPr/>
        </p:nvCxnSpPr>
        <p:spPr>
          <a:xfrm>
            <a:off x="7205471" y="1353312"/>
            <a:ext cx="269749"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493508" y="1124712"/>
            <a:ext cx="457200" cy="457200"/>
          </a:xfrm>
          <a:prstGeom prst="roundRect">
            <a:avLst>
              <a:gd name="adj" fmla="val 16000"/>
            </a:avLst>
          </a:prstGeom>
          <a:solidFill>
            <a:srgbClr val="FFFFFF"/>
          </a:solidFill>
          <a:ln w="22225">
            <a:solidFill>
              <a:srgbClr val="E8710A"/>
            </a:solidFill>
          </a:ln>
          <a:effectLst/>
        </p:spPr>
        <p:txBody>
          <a:bodyPr rtlCol="0" anchor="ctr" lIns="36576" rIns="36576"/>
          <a:lstStyle/>
          <a:p>
            <a:pPr algn="ctr"/>
          </a:p>
        </p:txBody>
      </p:sp>
      <p:pic>
        <p:nvPicPr>
          <p:cNvPr id="61" name="Picture 60" descr="code_brand.png"/>
          <p:cNvPicPr>
            <a:picLocks noChangeAspect="1"/>
          </p:cNvPicPr>
          <p:nvPr/>
        </p:nvPicPr>
        <p:blipFill>
          <a:blip r:embed="rId6"/>
          <a:stretch>
            <a:fillRect/>
          </a:stretch>
        </p:blipFill>
        <p:spPr>
          <a:xfrm>
            <a:off x="7594092" y="1225296"/>
            <a:ext cx="256032" cy="256032"/>
          </a:xfrm>
          <a:prstGeom prst="rect">
            <a:avLst/>
          </a:prstGeom>
        </p:spPr>
      </p:pic>
      <p:sp>
        <p:nvSpPr>
          <p:cNvPr id="62" name="Oval 61"/>
          <p:cNvSpPr/>
          <p:nvPr/>
        </p:nvSpPr>
        <p:spPr>
          <a:xfrm>
            <a:off x="7831836" y="1033271"/>
            <a:ext cx="201168" cy="201168"/>
          </a:xfrm>
          <a:prstGeom prst="ellipse">
            <a:avLst/>
          </a:prstGeom>
          <a:solidFill>
            <a:srgbClr val="E8710A"/>
          </a:solidFill>
          <a:ln>
            <a:noFill/>
          </a:ln>
          <a:effectLst/>
        </p:spPr>
        <p:txBody>
          <a:bodyPr rtlCol="0" anchor="ctr" lIns="36576" rIns="36576"/>
          <a:lstStyle/>
          <a:p>
            <a:pPr algn="ctr"/>
          </a:p>
        </p:txBody>
      </p:sp>
      <p:sp>
        <p:nvSpPr>
          <p:cNvPr id="63" name="TextBox 62"/>
          <p:cNvSpPr txBox="1"/>
          <p:nvPr/>
        </p:nvSpPr>
        <p:spPr>
          <a:xfrm>
            <a:off x="7831836"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10</a:t>
            </a:r>
          </a:p>
        </p:txBody>
      </p:sp>
      <p:sp>
        <p:nvSpPr>
          <p:cNvPr id="64" name="TextBox 63"/>
          <p:cNvSpPr txBox="1"/>
          <p:nvPr/>
        </p:nvSpPr>
        <p:spPr>
          <a:xfrm>
            <a:off x="7365492"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Create markdown file</a:t>
            </a:r>
          </a:p>
        </p:txBody>
      </p:sp>
      <p:cxnSp>
        <p:nvCxnSpPr>
          <p:cNvPr id="65" name="Connector 64"/>
          <p:cNvCxnSpPr/>
          <p:nvPr/>
        </p:nvCxnSpPr>
        <p:spPr>
          <a:xfrm>
            <a:off x="7968996" y="1353312"/>
            <a:ext cx="269748" cy="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257031" y="1124712"/>
            <a:ext cx="457200" cy="457200"/>
          </a:xfrm>
          <a:prstGeom prst="roundRect">
            <a:avLst>
              <a:gd name="adj" fmla="val 16000"/>
            </a:avLst>
          </a:prstGeom>
          <a:solidFill>
            <a:srgbClr val="FFFFFF"/>
          </a:solidFill>
          <a:ln w="22225">
            <a:solidFill>
              <a:srgbClr val="1A73E8"/>
            </a:solidFill>
          </a:ln>
          <a:effectLst/>
        </p:spPr>
        <p:txBody>
          <a:bodyPr rtlCol="0" anchor="ctr" lIns="36576" rIns="36576"/>
          <a:lstStyle/>
          <a:p>
            <a:pPr algn="ctr"/>
          </a:p>
        </p:txBody>
      </p:sp>
      <p:pic>
        <p:nvPicPr>
          <p:cNvPr id="67" name="Picture 66" descr="drive_brand.png"/>
          <p:cNvPicPr>
            <a:picLocks noChangeAspect="1"/>
          </p:cNvPicPr>
          <p:nvPr/>
        </p:nvPicPr>
        <p:blipFill>
          <a:blip r:embed="rId5"/>
          <a:stretch>
            <a:fillRect/>
          </a:stretch>
        </p:blipFill>
        <p:spPr>
          <a:xfrm>
            <a:off x="8357615" y="1225296"/>
            <a:ext cx="256032" cy="256032"/>
          </a:xfrm>
          <a:prstGeom prst="rect">
            <a:avLst/>
          </a:prstGeom>
        </p:spPr>
      </p:pic>
      <p:sp>
        <p:nvSpPr>
          <p:cNvPr id="68" name="Oval 67"/>
          <p:cNvSpPr/>
          <p:nvPr/>
        </p:nvSpPr>
        <p:spPr>
          <a:xfrm>
            <a:off x="8595359" y="1033271"/>
            <a:ext cx="201168" cy="201168"/>
          </a:xfrm>
          <a:prstGeom prst="ellipse">
            <a:avLst/>
          </a:prstGeom>
          <a:solidFill>
            <a:srgbClr val="1A73E8"/>
          </a:solidFill>
          <a:ln>
            <a:noFill/>
          </a:ln>
          <a:effectLst/>
        </p:spPr>
        <p:txBody>
          <a:bodyPr rtlCol="0" anchor="ctr" lIns="36576" rIns="36576"/>
          <a:lstStyle/>
          <a:p>
            <a:pPr algn="ctr"/>
          </a:p>
        </p:txBody>
      </p:sp>
      <p:sp>
        <p:nvSpPr>
          <p:cNvPr id="69" name="TextBox 68"/>
          <p:cNvSpPr txBox="1"/>
          <p:nvPr/>
        </p:nvSpPr>
        <p:spPr>
          <a:xfrm>
            <a:off x="8595359" y="1033271"/>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11</a:t>
            </a:r>
          </a:p>
        </p:txBody>
      </p:sp>
      <p:sp>
        <p:nvSpPr>
          <p:cNvPr id="70" name="TextBox 69"/>
          <p:cNvSpPr txBox="1"/>
          <p:nvPr/>
        </p:nvSpPr>
        <p:spPr>
          <a:xfrm>
            <a:off x="8129015" y="1618488"/>
            <a:ext cx="713232" cy="457200"/>
          </a:xfrm>
          <a:prstGeom prst="rect">
            <a:avLst/>
          </a:prstGeom>
          <a:noFill/>
        </p:spPr>
        <p:txBody>
          <a:bodyPr wrap="square" lIns="0" rIns="0" tIns="0" bIns="0" anchor="t">
            <a:spAutoFit/>
          </a:bodyPr>
          <a:lstStyle/>
          <a:p>
            <a:pPr algn="ctr"/>
            <a:r>
              <a:rPr sz="800" b="0" i="0">
                <a:solidFill>
                  <a:srgbClr val="1D1D1B"/>
                </a:solidFill>
                <a:latin typeface="Calibri"/>
                <a:cs typeface="Calibri"/>
              </a:rPr>
              <a:t>Upload node page to Drive</a:t>
            </a:r>
          </a:p>
        </p:txBody>
      </p:sp>
      <p:sp>
        <p:nvSpPr>
          <p:cNvPr id="71" name="Oval 70"/>
          <p:cNvSpPr/>
          <p:nvPr/>
        </p:nvSpPr>
        <p:spPr>
          <a:xfrm>
            <a:off x="457200" y="2651760"/>
            <a:ext cx="201168" cy="201168"/>
          </a:xfrm>
          <a:prstGeom prst="ellipse">
            <a:avLst/>
          </a:prstGeom>
          <a:solidFill>
            <a:srgbClr val="6B6B6B"/>
          </a:solidFill>
          <a:ln>
            <a:noFill/>
          </a:ln>
          <a:effectLst/>
        </p:spPr>
        <p:txBody>
          <a:bodyPr rtlCol="0" anchor="ctr" lIns="36576" rIns="36576"/>
          <a:lstStyle/>
          <a:p>
            <a:pPr algn="ctr"/>
          </a:p>
        </p:txBody>
      </p:sp>
      <p:sp>
        <p:nvSpPr>
          <p:cNvPr id="72" name="TextBox 71"/>
          <p:cNvSpPr txBox="1"/>
          <p:nvPr/>
        </p:nvSpPr>
        <p:spPr>
          <a:xfrm>
            <a:off x="457200" y="2651760"/>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a:t>
            </a:r>
          </a:p>
        </p:txBody>
      </p:sp>
      <p:sp>
        <p:nvSpPr>
          <p:cNvPr id="73" name="TextBox 72"/>
          <p:cNvSpPr txBox="1"/>
          <p:nvPr/>
        </p:nvSpPr>
        <p:spPr>
          <a:xfrm>
            <a:off x="749808" y="2578608"/>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Manual trigger. </a:t>
            </a:r>
            <a:r>
              <a:rPr sz="1000" b="0" i="0">
                <a:solidFill>
                  <a:srgbClr val="595959"/>
                </a:solidFill>
                <a:latin typeface="Calibri"/>
                <a:cs typeface="Calibri"/>
              </a:rPr>
              <a:t>We start the run by hand.</a:t>
            </a:r>
          </a:p>
        </p:txBody>
      </p:sp>
      <p:sp>
        <p:nvSpPr>
          <p:cNvPr id="74" name="Oval 73"/>
          <p:cNvSpPr/>
          <p:nvPr/>
        </p:nvSpPr>
        <p:spPr>
          <a:xfrm>
            <a:off x="457200" y="3035808"/>
            <a:ext cx="201168" cy="201168"/>
          </a:xfrm>
          <a:prstGeom prst="ellipse">
            <a:avLst/>
          </a:prstGeom>
          <a:solidFill>
            <a:srgbClr val="1A73E8"/>
          </a:solidFill>
          <a:ln>
            <a:noFill/>
          </a:ln>
          <a:effectLst/>
        </p:spPr>
        <p:txBody>
          <a:bodyPr rtlCol="0" anchor="ctr" lIns="36576" rIns="36576"/>
          <a:lstStyle/>
          <a:p>
            <a:pPr algn="ctr"/>
          </a:p>
        </p:txBody>
      </p:sp>
      <p:sp>
        <p:nvSpPr>
          <p:cNvPr id="75" name="TextBox 74"/>
          <p:cNvSpPr txBox="1"/>
          <p:nvPr/>
        </p:nvSpPr>
        <p:spPr>
          <a:xfrm>
            <a:off x="457200" y="3035808"/>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2</a:t>
            </a:r>
          </a:p>
        </p:txBody>
      </p:sp>
      <p:sp>
        <p:nvSpPr>
          <p:cNvPr id="76" name="TextBox 75"/>
          <p:cNvSpPr txBox="1"/>
          <p:nvPr/>
        </p:nvSpPr>
        <p:spPr>
          <a:xfrm>
            <a:off x="749808" y="2962656"/>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List node files. </a:t>
            </a:r>
            <a:r>
              <a:rPr sz="1000" b="0" i="0">
                <a:solidFill>
                  <a:srgbClr val="595959"/>
                </a:solidFill>
                <a:latin typeface="Calibri"/>
                <a:cs typeface="Calibri"/>
              </a:rPr>
              <a:t>Finds the Node files in Drive.</a:t>
            </a:r>
          </a:p>
        </p:txBody>
      </p:sp>
      <p:sp>
        <p:nvSpPr>
          <p:cNvPr id="77" name="Oval 76"/>
          <p:cNvSpPr/>
          <p:nvPr/>
        </p:nvSpPr>
        <p:spPr>
          <a:xfrm>
            <a:off x="457200" y="3419856"/>
            <a:ext cx="201168" cy="201168"/>
          </a:xfrm>
          <a:prstGeom prst="ellipse">
            <a:avLst/>
          </a:prstGeom>
          <a:solidFill>
            <a:srgbClr val="2E7D32"/>
          </a:solidFill>
          <a:ln>
            <a:noFill/>
          </a:ln>
          <a:effectLst/>
        </p:spPr>
        <p:txBody>
          <a:bodyPr rtlCol="0" anchor="ctr" lIns="36576" rIns="36576"/>
          <a:lstStyle/>
          <a:p>
            <a:pPr algn="ctr"/>
          </a:p>
        </p:txBody>
      </p:sp>
      <p:sp>
        <p:nvSpPr>
          <p:cNvPr id="78" name="TextBox 77"/>
          <p:cNvSpPr txBox="1"/>
          <p:nvPr/>
        </p:nvSpPr>
        <p:spPr>
          <a:xfrm>
            <a:off x="457200" y="3419856"/>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4</a:t>
            </a:r>
          </a:p>
        </p:txBody>
      </p:sp>
      <p:sp>
        <p:nvSpPr>
          <p:cNvPr id="79" name="TextBox 78"/>
          <p:cNvSpPr txBox="1"/>
          <p:nvPr/>
        </p:nvSpPr>
        <p:spPr>
          <a:xfrm>
            <a:off x="749808" y="3346703"/>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Loop Over Nodes. </a:t>
            </a:r>
            <a:r>
              <a:rPr sz="1000" b="0" i="0">
                <a:solidFill>
                  <a:srgbClr val="595959"/>
                </a:solidFill>
                <a:latin typeface="Calibri"/>
                <a:cs typeface="Calibri"/>
              </a:rPr>
              <a:t>Takes one Node at a time.</a:t>
            </a:r>
          </a:p>
        </p:txBody>
      </p:sp>
      <p:sp>
        <p:nvSpPr>
          <p:cNvPr id="80" name="Oval 79"/>
          <p:cNvSpPr/>
          <p:nvPr/>
        </p:nvSpPr>
        <p:spPr>
          <a:xfrm>
            <a:off x="457200" y="3803904"/>
            <a:ext cx="201168" cy="201168"/>
          </a:xfrm>
          <a:prstGeom prst="ellipse">
            <a:avLst/>
          </a:prstGeom>
          <a:solidFill>
            <a:srgbClr val="6A4C93"/>
          </a:solidFill>
          <a:ln>
            <a:noFill/>
          </a:ln>
          <a:effectLst/>
        </p:spPr>
        <p:txBody>
          <a:bodyPr rtlCol="0" anchor="ctr" lIns="36576" rIns="36576"/>
          <a:lstStyle/>
          <a:p>
            <a:pPr algn="ctr"/>
          </a:p>
        </p:txBody>
      </p:sp>
      <p:sp>
        <p:nvSpPr>
          <p:cNvPr id="81" name="TextBox 80"/>
          <p:cNvSpPr txBox="1"/>
          <p:nvPr/>
        </p:nvSpPr>
        <p:spPr>
          <a:xfrm>
            <a:off x="457200" y="3803904"/>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7</a:t>
            </a:r>
          </a:p>
        </p:txBody>
      </p:sp>
      <p:sp>
        <p:nvSpPr>
          <p:cNvPr id="82" name="TextBox 81"/>
          <p:cNvSpPr txBox="1"/>
          <p:nvPr/>
        </p:nvSpPr>
        <p:spPr>
          <a:xfrm>
            <a:off x="749808" y="3730752"/>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AI Node Writer. </a:t>
            </a:r>
            <a:r>
              <a:rPr sz="1000" b="0" i="0">
                <a:solidFill>
                  <a:srgbClr val="595959"/>
                </a:solidFill>
                <a:latin typeface="Calibri"/>
                <a:cs typeface="Calibri"/>
              </a:rPr>
              <a:t>Claude writes the text sections.</a:t>
            </a:r>
          </a:p>
        </p:txBody>
      </p:sp>
      <p:sp>
        <p:nvSpPr>
          <p:cNvPr id="83" name="Oval 82"/>
          <p:cNvSpPr/>
          <p:nvPr/>
        </p:nvSpPr>
        <p:spPr>
          <a:xfrm>
            <a:off x="4572000" y="2651760"/>
            <a:ext cx="201168" cy="201168"/>
          </a:xfrm>
          <a:prstGeom prst="ellipse">
            <a:avLst/>
          </a:prstGeom>
          <a:solidFill>
            <a:srgbClr val="E8710A"/>
          </a:solidFill>
          <a:ln>
            <a:noFill/>
          </a:ln>
          <a:effectLst/>
        </p:spPr>
        <p:txBody>
          <a:bodyPr rtlCol="0" anchor="ctr" lIns="36576" rIns="36576"/>
          <a:lstStyle/>
          <a:p>
            <a:pPr algn="ctr"/>
          </a:p>
        </p:txBody>
      </p:sp>
      <p:sp>
        <p:nvSpPr>
          <p:cNvPr id="84" name="TextBox 83"/>
          <p:cNvSpPr txBox="1"/>
          <p:nvPr/>
        </p:nvSpPr>
        <p:spPr>
          <a:xfrm>
            <a:off x="4572000" y="2651760"/>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8</a:t>
            </a:r>
          </a:p>
        </p:txBody>
      </p:sp>
      <p:sp>
        <p:nvSpPr>
          <p:cNvPr id="85" name="TextBox 84"/>
          <p:cNvSpPr txBox="1"/>
          <p:nvPr/>
        </p:nvSpPr>
        <p:spPr>
          <a:xfrm>
            <a:off x="4864608" y="2578608"/>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Clean and explode sections. </a:t>
            </a:r>
            <a:r>
              <a:rPr sz="1000" b="0" i="0">
                <a:solidFill>
                  <a:srgbClr val="595959"/>
                </a:solidFill>
                <a:latin typeface="Calibri"/>
                <a:cs typeface="Calibri"/>
              </a:rPr>
              <a:t>Checks the text.</a:t>
            </a:r>
          </a:p>
        </p:txBody>
      </p:sp>
      <p:sp>
        <p:nvSpPr>
          <p:cNvPr id="86" name="Oval 85"/>
          <p:cNvSpPr/>
          <p:nvPr/>
        </p:nvSpPr>
        <p:spPr>
          <a:xfrm>
            <a:off x="4572000" y="3035808"/>
            <a:ext cx="201168" cy="201168"/>
          </a:xfrm>
          <a:prstGeom prst="ellipse">
            <a:avLst/>
          </a:prstGeom>
          <a:solidFill>
            <a:srgbClr val="E8710A"/>
          </a:solidFill>
          <a:ln>
            <a:noFill/>
          </a:ln>
          <a:effectLst/>
        </p:spPr>
        <p:txBody>
          <a:bodyPr rtlCol="0" anchor="ctr" lIns="36576" rIns="36576"/>
          <a:lstStyle/>
          <a:p>
            <a:pPr algn="ctr"/>
          </a:p>
        </p:txBody>
      </p:sp>
      <p:sp>
        <p:nvSpPr>
          <p:cNvPr id="87" name="TextBox 86"/>
          <p:cNvSpPr txBox="1"/>
          <p:nvPr/>
        </p:nvSpPr>
        <p:spPr>
          <a:xfrm>
            <a:off x="4572000" y="3035808"/>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9</a:t>
            </a:r>
          </a:p>
        </p:txBody>
      </p:sp>
      <p:sp>
        <p:nvSpPr>
          <p:cNvPr id="88" name="TextBox 87"/>
          <p:cNvSpPr txBox="1"/>
          <p:nvPr/>
        </p:nvSpPr>
        <p:spPr>
          <a:xfrm>
            <a:off x="4864608" y="2962656"/>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Render node page. </a:t>
            </a:r>
            <a:r>
              <a:rPr sz="1000" b="0" i="0">
                <a:solidFill>
                  <a:srgbClr val="595959"/>
                </a:solidFill>
                <a:latin typeface="Calibri"/>
                <a:cs typeface="Calibri"/>
              </a:rPr>
              <a:t>Adds the tables and contacts.</a:t>
            </a:r>
          </a:p>
        </p:txBody>
      </p:sp>
      <p:sp>
        <p:nvSpPr>
          <p:cNvPr id="89" name="Oval 88"/>
          <p:cNvSpPr/>
          <p:nvPr/>
        </p:nvSpPr>
        <p:spPr>
          <a:xfrm>
            <a:off x="4572000" y="3419856"/>
            <a:ext cx="201168" cy="201168"/>
          </a:xfrm>
          <a:prstGeom prst="ellipse">
            <a:avLst/>
          </a:prstGeom>
          <a:solidFill>
            <a:srgbClr val="1A73E8"/>
          </a:solidFill>
          <a:ln>
            <a:noFill/>
          </a:ln>
          <a:effectLst/>
        </p:spPr>
        <p:txBody>
          <a:bodyPr rtlCol="0" anchor="ctr" lIns="36576" rIns="36576"/>
          <a:lstStyle/>
          <a:p>
            <a:pPr algn="ctr"/>
          </a:p>
        </p:txBody>
      </p:sp>
      <p:sp>
        <p:nvSpPr>
          <p:cNvPr id="90" name="TextBox 89"/>
          <p:cNvSpPr txBox="1"/>
          <p:nvPr/>
        </p:nvSpPr>
        <p:spPr>
          <a:xfrm>
            <a:off x="4572000" y="3419856"/>
            <a:ext cx="201168" cy="201168"/>
          </a:xfrm>
          <a:prstGeom prst="rect">
            <a:avLst/>
          </a:prstGeom>
          <a:noFill/>
        </p:spPr>
        <p:txBody>
          <a:bodyPr wrap="square" lIns="0" rIns="0" tIns="0" bIns="0" anchor="ctr">
            <a:spAutoFit/>
          </a:bodyPr>
          <a:lstStyle/>
          <a:p>
            <a:pPr algn="ctr"/>
            <a:r>
              <a:rPr sz="800" b="1" i="0">
                <a:solidFill>
                  <a:srgbClr val="FFFFFF"/>
                </a:solidFill>
                <a:latin typeface="Calibri"/>
                <a:cs typeface="Calibri"/>
              </a:rPr>
              <a:t>11</a:t>
            </a:r>
          </a:p>
        </p:txBody>
      </p:sp>
      <p:sp>
        <p:nvSpPr>
          <p:cNvPr id="91" name="TextBox 90"/>
          <p:cNvSpPr txBox="1"/>
          <p:nvPr/>
        </p:nvSpPr>
        <p:spPr>
          <a:xfrm>
            <a:off x="4864608" y="3346703"/>
            <a:ext cx="3730752" cy="384048"/>
          </a:xfrm>
          <a:prstGeom prst="rect">
            <a:avLst/>
          </a:prstGeom>
          <a:noFill/>
        </p:spPr>
        <p:txBody>
          <a:bodyPr wrap="square" lIns="0" rIns="0" tIns="0" bIns="0" anchor="ctr">
            <a:spAutoFit/>
          </a:bodyPr>
          <a:lstStyle/>
          <a:p>
            <a:pPr algn="l"/>
            <a:r>
              <a:rPr sz="1000" b="1" i="0">
                <a:solidFill>
                  <a:srgbClr val="1D1D1B"/>
                </a:solidFill>
                <a:latin typeface="Calibri"/>
                <a:cs typeface="Calibri"/>
              </a:rPr>
              <a:t>Upload node page to Drive. </a:t>
            </a:r>
            <a:r>
              <a:rPr sz="1000" b="0" i="0">
                <a:solidFill>
                  <a:srgbClr val="595959"/>
                </a:solidFill>
                <a:latin typeface="Calibri"/>
                <a:cs typeface="Calibri"/>
              </a:rPr>
              <a:t>Saves the page in Drive.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square" lIns="0" rIns="0" tIns="0" bIns="0" anchor="ctr">
            <a:spAutoFit/>
          </a:bodyPr>
          <a:lstStyle/>
          <a:p>
            <a:pPr algn="l"/>
            <a:r>
              <a:rPr sz="2600" b="1" i="0">
                <a:solidFill>
                  <a:srgbClr val="1D1D1B"/>
                </a:solidFill>
                <a:latin typeface="Source Sans Pro"/>
                <a:cs typeface="Source Sans Pro"/>
              </a:rPr>
              <a:t>What a Node page contains</a:t>
            </a:r>
          </a:p>
        </p:txBody>
      </p:sp>
      <p:sp>
        <p:nvSpPr>
          <p:cNvPr id="3" name="Rounded Rectangle 2"/>
          <p:cNvSpPr/>
          <p:nvPr/>
        </p:nvSpPr>
        <p:spPr>
          <a:xfrm>
            <a:off x="457200" y="914400"/>
            <a:ext cx="8229600" cy="493776"/>
          </a:xfrm>
          <a:prstGeom prst="roundRect">
            <a:avLst>
              <a:gd name="adj" fmla="val 11111"/>
            </a:avLst>
          </a:prstGeom>
          <a:solidFill>
            <a:srgbClr val="FAFAFA"/>
          </a:solidFill>
          <a:ln w="9525">
            <a:solidFill>
              <a:srgbClr val="E6E6E6"/>
            </a:solidFill>
          </a:ln>
          <a:effectLst/>
        </p:spPr>
        <p:txBody>
          <a:bodyPr rtlCol="0" anchor="ctr" lIns="36576" rIns="36576"/>
          <a:lstStyle/>
          <a:p>
            <a:pPr algn="ctr"/>
          </a:p>
        </p:txBody>
      </p:sp>
      <p:sp>
        <p:nvSpPr>
          <p:cNvPr id="4" name="Oval 3"/>
          <p:cNvSpPr/>
          <p:nvPr/>
        </p:nvSpPr>
        <p:spPr>
          <a:xfrm>
            <a:off x="594360" y="1005840"/>
            <a:ext cx="310896" cy="310896"/>
          </a:xfrm>
          <a:prstGeom prst="ellipse">
            <a:avLst/>
          </a:prstGeom>
          <a:solidFill>
            <a:srgbClr val="6A4C93"/>
          </a:solidFill>
          <a:ln>
            <a:noFill/>
          </a:ln>
          <a:effectLst/>
        </p:spPr>
        <p:txBody>
          <a:bodyPr rtlCol="0" anchor="ctr" lIns="36576" rIns="36576"/>
          <a:lstStyle/>
          <a:p>
            <a:pPr algn="ctr"/>
          </a:p>
        </p:txBody>
      </p:sp>
      <p:sp>
        <p:nvSpPr>
          <p:cNvPr id="5" name="TextBox 4"/>
          <p:cNvSpPr txBox="1"/>
          <p:nvPr/>
        </p:nvSpPr>
        <p:spPr>
          <a:xfrm>
            <a:off x="594360" y="1005840"/>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1</a:t>
            </a:r>
          </a:p>
        </p:txBody>
      </p:sp>
      <p:sp>
        <p:nvSpPr>
          <p:cNvPr id="6" name="TextBox 5"/>
          <p:cNvSpPr txBox="1"/>
          <p:nvPr/>
        </p:nvSpPr>
        <p:spPr>
          <a:xfrm>
            <a:off x="1051560" y="914400"/>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Overview</a:t>
            </a:r>
          </a:p>
        </p:txBody>
      </p:sp>
      <p:sp>
        <p:nvSpPr>
          <p:cNvPr id="7" name="TextBox 6"/>
          <p:cNvSpPr txBox="1"/>
          <p:nvPr/>
        </p:nvSpPr>
        <p:spPr>
          <a:xfrm>
            <a:off x="3703320" y="914400"/>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What the Node mainly offers, what its staff are expert in, and where each group of methods is</a:t>
            </a:r>
          </a:p>
        </p:txBody>
      </p:sp>
      <p:sp>
        <p:nvSpPr>
          <p:cNvPr id="8" name="Rounded Rectangle 7"/>
          <p:cNvSpPr/>
          <p:nvPr/>
        </p:nvSpPr>
        <p:spPr>
          <a:xfrm>
            <a:off x="457200" y="1499616"/>
            <a:ext cx="8229600" cy="493776"/>
          </a:xfrm>
          <a:prstGeom prst="roundRect">
            <a:avLst>
              <a:gd name="adj" fmla="val 11111"/>
            </a:avLst>
          </a:prstGeom>
          <a:solidFill>
            <a:srgbClr val="FFFFFF"/>
          </a:solidFill>
          <a:ln w="9525">
            <a:solidFill>
              <a:srgbClr val="E6E6E6"/>
            </a:solidFill>
          </a:ln>
          <a:effectLst/>
        </p:spPr>
        <p:txBody>
          <a:bodyPr rtlCol="0" anchor="ctr" lIns="36576" rIns="36576"/>
          <a:lstStyle/>
          <a:p>
            <a:pPr algn="ctr"/>
          </a:p>
        </p:txBody>
      </p:sp>
      <p:sp>
        <p:nvSpPr>
          <p:cNvPr id="9" name="Oval 8"/>
          <p:cNvSpPr/>
          <p:nvPr/>
        </p:nvSpPr>
        <p:spPr>
          <a:xfrm>
            <a:off x="594360" y="1591056"/>
            <a:ext cx="310896" cy="310896"/>
          </a:xfrm>
          <a:prstGeom prst="ellipse">
            <a:avLst/>
          </a:prstGeom>
          <a:solidFill>
            <a:srgbClr val="6A4C93"/>
          </a:solidFill>
          <a:ln>
            <a:noFill/>
          </a:ln>
          <a:effectLst/>
        </p:spPr>
        <p:txBody>
          <a:bodyPr rtlCol="0" anchor="ctr" lIns="36576" rIns="36576"/>
          <a:lstStyle/>
          <a:p>
            <a:pPr algn="ctr"/>
          </a:p>
        </p:txBody>
      </p:sp>
      <p:sp>
        <p:nvSpPr>
          <p:cNvPr id="10" name="TextBox 9"/>
          <p:cNvSpPr txBox="1"/>
          <p:nvPr/>
        </p:nvSpPr>
        <p:spPr>
          <a:xfrm>
            <a:off x="594360" y="1591056"/>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2</a:t>
            </a:r>
          </a:p>
        </p:txBody>
      </p:sp>
      <p:sp>
        <p:nvSpPr>
          <p:cNvPr id="11" name="TextBox 10"/>
          <p:cNvSpPr txBox="1"/>
          <p:nvPr/>
        </p:nvSpPr>
        <p:spPr>
          <a:xfrm>
            <a:off x="1051560" y="1499616"/>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Imaging technologies offered</a:t>
            </a:r>
          </a:p>
        </p:txBody>
      </p:sp>
      <p:sp>
        <p:nvSpPr>
          <p:cNvPr id="12" name="TextBox 11"/>
          <p:cNvSpPr txBox="1"/>
          <p:nvPr/>
        </p:nvSpPr>
        <p:spPr>
          <a:xfrm>
            <a:off x="3703320" y="1499616"/>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What researchers can see and measure, with a table of every method, the facilities offering it and their instruments</a:t>
            </a:r>
          </a:p>
        </p:txBody>
      </p:sp>
      <p:sp>
        <p:nvSpPr>
          <p:cNvPr id="13" name="Rounded Rectangle 12"/>
          <p:cNvSpPr/>
          <p:nvPr/>
        </p:nvSpPr>
        <p:spPr>
          <a:xfrm>
            <a:off x="7863840" y="1618488"/>
            <a:ext cx="6858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14" name="TextBox 13"/>
          <p:cNvSpPr txBox="1"/>
          <p:nvPr/>
        </p:nvSpPr>
        <p:spPr>
          <a:xfrm>
            <a:off x="7863840" y="1618488"/>
            <a:ext cx="6858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table</a:t>
            </a:r>
          </a:p>
        </p:txBody>
      </p:sp>
      <p:sp>
        <p:nvSpPr>
          <p:cNvPr id="15" name="Rounded Rectangle 14"/>
          <p:cNvSpPr/>
          <p:nvPr/>
        </p:nvSpPr>
        <p:spPr>
          <a:xfrm>
            <a:off x="457200" y="2084832"/>
            <a:ext cx="8229600" cy="493776"/>
          </a:xfrm>
          <a:prstGeom prst="roundRect">
            <a:avLst>
              <a:gd name="adj" fmla="val 11111"/>
            </a:avLst>
          </a:prstGeom>
          <a:solidFill>
            <a:srgbClr val="FAFAFA"/>
          </a:solidFill>
          <a:ln w="9525">
            <a:solidFill>
              <a:srgbClr val="E6E6E6"/>
            </a:solidFill>
          </a:ln>
          <a:effectLst/>
        </p:spPr>
        <p:txBody>
          <a:bodyPr rtlCol="0" anchor="ctr" lIns="36576" rIns="36576"/>
          <a:lstStyle/>
          <a:p>
            <a:pPr algn="ctr"/>
          </a:p>
        </p:txBody>
      </p:sp>
      <p:sp>
        <p:nvSpPr>
          <p:cNvPr id="16" name="Oval 15"/>
          <p:cNvSpPr/>
          <p:nvPr/>
        </p:nvSpPr>
        <p:spPr>
          <a:xfrm>
            <a:off x="594360" y="2176272"/>
            <a:ext cx="310896" cy="310896"/>
          </a:xfrm>
          <a:prstGeom prst="ellipse">
            <a:avLst/>
          </a:prstGeom>
          <a:solidFill>
            <a:srgbClr val="6A4C93"/>
          </a:solidFill>
          <a:ln>
            <a:noFill/>
          </a:ln>
          <a:effectLst/>
        </p:spPr>
        <p:txBody>
          <a:bodyPr rtlCol="0" anchor="ctr" lIns="36576" rIns="36576"/>
          <a:lstStyle/>
          <a:p>
            <a:pPr algn="ctr"/>
          </a:p>
        </p:txBody>
      </p:sp>
      <p:sp>
        <p:nvSpPr>
          <p:cNvPr id="17" name="TextBox 16"/>
          <p:cNvSpPr txBox="1"/>
          <p:nvPr/>
        </p:nvSpPr>
        <p:spPr>
          <a:xfrm>
            <a:off x="594360" y="2176272"/>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3</a:t>
            </a:r>
          </a:p>
        </p:txBody>
      </p:sp>
      <p:sp>
        <p:nvSpPr>
          <p:cNvPr id="18" name="TextBox 17"/>
          <p:cNvSpPr txBox="1"/>
          <p:nvPr/>
        </p:nvSpPr>
        <p:spPr>
          <a:xfrm>
            <a:off x="1051560" y="2084832"/>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Specialties and research focus</a:t>
            </a:r>
          </a:p>
        </p:txBody>
      </p:sp>
      <p:sp>
        <p:nvSpPr>
          <p:cNvPr id="19" name="TextBox 18"/>
          <p:cNvSpPr txBox="1"/>
          <p:nvPr/>
        </p:nvSpPr>
        <p:spPr>
          <a:xfrm>
            <a:off x="3703320" y="2084832"/>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The research fields, organisms and samples the facilities work with</a:t>
            </a:r>
          </a:p>
        </p:txBody>
      </p:sp>
      <p:sp>
        <p:nvSpPr>
          <p:cNvPr id="20" name="Rounded Rectangle 19"/>
          <p:cNvSpPr/>
          <p:nvPr/>
        </p:nvSpPr>
        <p:spPr>
          <a:xfrm>
            <a:off x="457200" y="2670048"/>
            <a:ext cx="8229600" cy="493776"/>
          </a:xfrm>
          <a:prstGeom prst="roundRect">
            <a:avLst>
              <a:gd name="adj" fmla="val 11111"/>
            </a:avLst>
          </a:prstGeom>
          <a:solidFill>
            <a:srgbClr val="FFFFFF"/>
          </a:solidFill>
          <a:ln w="9525">
            <a:solidFill>
              <a:srgbClr val="E6E6E6"/>
            </a:solidFill>
          </a:ln>
          <a:effectLst/>
        </p:spPr>
        <p:txBody>
          <a:bodyPr rtlCol="0" anchor="ctr" lIns="36576" rIns="36576"/>
          <a:lstStyle/>
          <a:p>
            <a:pPr algn="ctr"/>
          </a:p>
        </p:txBody>
      </p:sp>
      <p:sp>
        <p:nvSpPr>
          <p:cNvPr id="21" name="Oval 20"/>
          <p:cNvSpPr/>
          <p:nvPr/>
        </p:nvSpPr>
        <p:spPr>
          <a:xfrm>
            <a:off x="594360" y="2761488"/>
            <a:ext cx="310896" cy="310896"/>
          </a:xfrm>
          <a:prstGeom prst="ellipse">
            <a:avLst/>
          </a:prstGeom>
          <a:solidFill>
            <a:srgbClr val="6A4C93"/>
          </a:solidFill>
          <a:ln>
            <a:noFill/>
          </a:ln>
          <a:effectLst/>
        </p:spPr>
        <p:txBody>
          <a:bodyPr rtlCol="0" anchor="ctr" lIns="36576" rIns="36576"/>
          <a:lstStyle/>
          <a:p>
            <a:pPr algn="ctr"/>
          </a:p>
        </p:txBody>
      </p:sp>
      <p:sp>
        <p:nvSpPr>
          <p:cNvPr id="22" name="TextBox 21"/>
          <p:cNvSpPr txBox="1"/>
          <p:nvPr/>
        </p:nvSpPr>
        <p:spPr>
          <a:xfrm>
            <a:off x="594360" y="2761488"/>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4</a:t>
            </a:r>
          </a:p>
        </p:txBody>
      </p:sp>
      <p:sp>
        <p:nvSpPr>
          <p:cNvPr id="23" name="TextBox 22"/>
          <p:cNvSpPr txBox="1"/>
          <p:nvPr/>
        </p:nvSpPr>
        <p:spPr>
          <a:xfrm>
            <a:off x="1051560" y="2670048"/>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Services and user support</a:t>
            </a:r>
          </a:p>
        </p:txBody>
      </p:sp>
      <p:sp>
        <p:nvSpPr>
          <p:cNvPr id="24" name="TextBox 23"/>
          <p:cNvSpPr txBox="1"/>
          <p:nvPr/>
        </p:nvSpPr>
        <p:spPr>
          <a:xfrm>
            <a:off x="3703320" y="2670048"/>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What working with the Node is like, with the list of services in the signed agreement</a:t>
            </a:r>
          </a:p>
        </p:txBody>
      </p:sp>
      <p:sp>
        <p:nvSpPr>
          <p:cNvPr id="25" name="Rounded Rectangle 24"/>
          <p:cNvSpPr/>
          <p:nvPr/>
        </p:nvSpPr>
        <p:spPr>
          <a:xfrm>
            <a:off x="7863840" y="2788920"/>
            <a:ext cx="6858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26" name="TextBox 25"/>
          <p:cNvSpPr txBox="1"/>
          <p:nvPr/>
        </p:nvSpPr>
        <p:spPr>
          <a:xfrm>
            <a:off x="7863840" y="2788920"/>
            <a:ext cx="6858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list</a:t>
            </a:r>
          </a:p>
        </p:txBody>
      </p:sp>
      <p:sp>
        <p:nvSpPr>
          <p:cNvPr id="27" name="Rounded Rectangle 26"/>
          <p:cNvSpPr/>
          <p:nvPr/>
        </p:nvSpPr>
        <p:spPr>
          <a:xfrm>
            <a:off x="457200" y="3255264"/>
            <a:ext cx="8229600" cy="493776"/>
          </a:xfrm>
          <a:prstGeom prst="roundRect">
            <a:avLst>
              <a:gd name="adj" fmla="val 11111"/>
            </a:avLst>
          </a:prstGeom>
          <a:solidFill>
            <a:srgbClr val="FAFAFA"/>
          </a:solidFill>
          <a:ln w="9525">
            <a:solidFill>
              <a:srgbClr val="E6E6E6"/>
            </a:solidFill>
          </a:ln>
          <a:effectLst/>
        </p:spPr>
        <p:txBody>
          <a:bodyPr rtlCol="0" anchor="ctr" lIns="36576" rIns="36576"/>
          <a:lstStyle/>
          <a:p>
            <a:pPr algn="ctr"/>
          </a:p>
        </p:txBody>
      </p:sp>
      <p:sp>
        <p:nvSpPr>
          <p:cNvPr id="28" name="Oval 27"/>
          <p:cNvSpPr/>
          <p:nvPr/>
        </p:nvSpPr>
        <p:spPr>
          <a:xfrm>
            <a:off x="594360" y="3346704"/>
            <a:ext cx="310896" cy="310896"/>
          </a:xfrm>
          <a:prstGeom prst="ellipse">
            <a:avLst/>
          </a:prstGeom>
          <a:solidFill>
            <a:srgbClr val="6A4C93"/>
          </a:solidFill>
          <a:ln>
            <a:noFill/>
          </a:ln>
          <a:effectLst/>
        </p:spPr>
        <p:txBody>
          <a:bodyPr rtlCol="0" anchor="ctr" lIns="36576" rIns="36576"/>
          <a:lstStyle/>
          <a:p>
            <a:pPr algn="ctr"/>
          </a:p>
        </p:txBody>
      </p:sp>
      <p:sp>
        <p:nvSpPr>
          <p:cNvPr id="29" name="TextBox 28"/>
          <p:cNvSpPr txBox="1"/>
          <p:nvPr/>
        </p:nvSpPr>
        <p:spPr>
          <a:xfrm>
            <a:off x="594360" y="3346704"/>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5</a:t>
            </a:r>
          </a:p>
        </p:txBody>
      </p:sp>
      <p:sp>
        <p:nvSpPr>
          <p:cNvPr id="30" name="TextBox 29"/>
          <p:cNvSpPr txBox="1"/>
          <p:nvPr/>
        </p:nvSpPr>
        <p:spPr>
          <a:xfrm>
            <a:off x="1051560" y="3255264"/>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Facilities</a:t>
            </a:r>
          </a:p>
        </p:txBody>
      </p:sp>
      <p:sp>
        <p:nvSpPr>
          <p:cNvPr id="31" name="TextBox 30"/>
          <p:cNvSpPr txBox="1"/>
          <p:nvPr/>
        </p:nvSpPr>
        <p:spPr>
          <a:xfrm>
            <a:off x="3703320" y="3255264"/>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What each facility does, with a table of names, institutions and cities</a:t>
            </a:r>
          </a:p>
        </p:txBody>
      </p:sp>
      <p:sp>
        <p:nvSpPr>
          <p:cNvPr id="32" name="Rounded Rectangle 31"/>
          <p:cNvSpPr/>
          <p:nvPr/>
        </p:nvSpPr>
        <p:spPr>
          <a:xfrm>
            <a:off x="7863840" y="3374136"/>
            <a:ext cx="6858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33" name="TextBox 32"/>
          <p:cNvSpPr txBox="1"/>
          <p:nvPr/>
        </p:nvSpPr>
        <p:spPr>
          <a:xfrm>
            <a:off x="7863840" y="3374136"/>
            <a:ext cx="6858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table</a:t>
            </a:r>
          </a:p>
        </p:txBody>
      </p:sp>
      <p:sp>
        <p:nvSpPr>
          <p:cNvPr id="34" name="Rounded Rectangle 33"/>
          <p:cNvSpPr/>
          <p:nvPr/>
        </p:nvSpPr>
        <p:spPr>
          <a:xfrm>
            <a:off x="457200" y="3840480"/>
            <a:ext cx="8229600" cy="493776"/>
          </a:xfrm>
          <a:prstGeom prst="roundRect">
            <a:avLst>
              <a:gd name="adj" fmla="val 11111"/>
            </a:avLst>
          </a:prstGeom>
          <a:solidFill>
            <a:srgbClr val="FFFFFF"/>
          </a:solidFill>
          <a:ln w="9525">
            <a:solidFill>
              <a:srgbClr val="E6E6E6"/>
            </a:solidFill>
          </a:ln>
          <a:effectLst/>
        </p:spPr>
        <p:txBody>
          <a:bodyPr rtlCol="0" anchor="ctr" lIns="36576" rIns="36576"/>
          <a:lstStyle/>
          <a:p>
            <a:pPr algn="ctr"/>
          </a:p>
        </p:txBody>
      </p:sp>
      <p:sp>
        <p:nvSpPr>
          <p:cNvPr id="35" name="Oval 34"/>
          <p:cNvSpPr/>
          <p:nvPr/>
        </p:nvSpPr>
        <p:spPr>
          <a:xfrm>
            <a:off x="594360" y="3931920"/>
            <a:ext cx="310896" cy="310896"/>
          </a:xfrm>
          <a:prstGeom prst="ellipse">
            <a:avLst/>
          </a:prstGeom>
          <a:solidFill>
            <a:srgbClr val="6A4C93"/>
          </a:solidFill>
          <a:ln>
            <a:noFill/>
          </a:ln>
          <a:effectLst/>
        </p:spPr>
        <p:txBody>
          <a:bodyPr rtlCol="0" anchor="ctr" lIns="36576" rIns="36576"/>
          <a:lstStyle/>
          <a:p>
            <a:pPr algn="ctr"/>
          </a:p>
        </p:txBody>
      </p:sp>
      <p:sp>
        <p:nvSpPr>
          <p:cNvPr id="36" name="TextBox 35"/>
          <p:cNvSpPr txBox="1"/>
          <p:nvPr/>
        </p:nvSpPr>
        <p:spPr>
          <a:xfrm>
            <a:off x="594360" y="3931920"/>
            <a:ext cx="310896" cy="310896"/>
          </a:xfrm>
          <a:prstGeom prst="rect">
            <a:avLst/>
          </a:prstGeom>
          <a:noFill/>
        </p:spPr>
        <p:txBody>
          <a:bodyPr wrap="square" lIns="0" rIns="0" tIns="0" bIns="0" anchor="ctr">
            <a:spAutoFit/>
          </a:bodyPr>
          <a:lstStyle/>
          <a:p>
            <a:pPr algn="ctr"/>
            <a:r>
              <a:rPr sz="1200" b="1" i="0">
                <a:solidFill>
                  <a:srgbClr val="FFFFFF"/>
                </a:solidFill>
                <a:latin typeface="Source Sans Pro"/>
                <a:cs typeface="Source Sans Pro"/>
              </a:rPr>
              <a:t>6</a:t>
            </a:r>
          </a:p>
        </p:txBody>
      </p:sp>
      <p:sp>
        <p:nvSpPr>
          <p:cNvPr id="37" name="TextBox 36"/>
          <p:cNvSpPr txBox="1"/>
          <p:nvPr/>
        </p:nvSpPr>
        <p:spPr>
          <a:xfrm>
            <a:off x="1051560" y="3840480"/>
            <a:ext cx="2606040" cy="493776"/>
          </a:xfrm>
          <a:prstGeom prst="rect">
            <a:avLst/>
          </a:prstGeom>
          <a:noFill/>
        </p:spPr>
        <p:txBody>
          <a:bodyPr wrap="square" lIns="0" rIns="0" tIns="0" bIns="0" anchor="ctr">
            <a:spAutoFit/>
          </a:bodyPr>
          <a:lstStyle/>
          <a:p>
            <a:pPr algn="l"/>
            <a:r>
              <a:rPr sz="1250" b="1" i="0">
                <a:solidFill>
                  <a:srgbClr val="1D1D1B"/>
                </a:solidFill>
                <a:latin typeface="Calibri"/>
                <a:cs typeface="Calibri"/>
              </a:rPr>
              <a:t>Access and contact</a:t>
            </a:r>
          </a:p>
        </p:txBody>
      </p:sp>
      <p:sp>
        <p:nvSpPr>
          <p:cNvPr id="38" name="TextBox 37"/>
          <p:cNvSpPr txBox="1"/>
          <p:nvPr/>
        </p:nvSpPr>
        <p:spPr>
          <a:xfrm>
            <a:off x="3703320" y="3840480"/>
            <a:ext cx="4069080" cy="493776"/>
          </a:xfrm>
          <a:prstGeom prst="rect">
            <a:avLst/>
          </a:prstGeom>
          <a:noFill/>
        </p:spPr>
        <p:txBody>
          <a:bodyPr wrap="square" lIns="0" rIns="0" tIns="0" bIns="0" anchor="ctr">
            <a:spAutoFit/>
          </a:bodyPr>
          <a:lstStyle/>
          <a:p>
            <a:pPr algn="l"/>
            <a:r>
              <a:rPr sz="1100" b="0" i="0">
                <a:solidFill>
                  <a:srgbClr val="595959"/>
                </a:solidFill>
                <a:latin typeface="Calibri"/>
                <a:cs typeface="Calibri"/>
              </a:rPr>
              <a:t>Node and facility contacts, websites and the Access Portal link</a:t>
            </a:r>
          </a:p>
        </p:txBody>
      </p:sp>
      <p:sp>
        <p:nvSpPr>
          <p:cNvPr id="39" name="Rounded Rectangle 38"/>
          <p:cNvSpPr/>
          <p:nvPr/>
        </p:nvSpPr>
        <p:spPr>
          <a:xfrm>
            <a:off x="7863840" y="3959352"/>
            <a:ext cx="685800" cy="256032"/>
          </a:xfrm>
          <a:prstGeom prst="roundRect">
            <a:avLst>
              <a:gd name="adj" fmla="val 17857"/>
            </a:avLst>
          </a:prstGeom>
          <a:solidFill>
            <a:srgbClr val="E8F0FE"/>
          </a:solidFill>
          <a:ln>
            <a:noFill/>
          </a:ln>
          <a:effectLst/>
        </p:spPr>
        <p:txBody>
          <a:bodyPr rtlCol="0" anchor="ctr" lIns="36576" rIns="36576"/>
          <a:lstStyle/>
          <a:p>
            <a:pPr algn="ctr"/>
          </a:p>
        </p:txBody>
      </p:sp>
      <p:sp>
        <p:nvSpPr>
          <p:cNvPr id="40" name="TextBox 39"/>
          <p:cNvSpPr txBox="1"/>
          <p:nvPr/>
        </p:nvSpPr>
        <p:spPr>
          <a:xfrm>
            <a:off x="7863840" y="3959352"/>
            <a:ext cx="685800" cy="256032"/>
          </a:xfrm>
          <a:prstGeom prst="rect">
            <a:avLst/>
          </a:prstGeom>
          <a:noFill/>
        </p:spPr>
        <p:txBody>
          <a:bodyPr wrap="square" lIns="0" rIns="0" tIns="0" bIns="0" anchor="ctr">
            <a:spAutoFit/>
          </a:bodyPr>
          <a:lstStyle/>
          <a:p>
            <a:pPr algn="ctr"/>
            <a:r>
              <a:rPr sz="950" b="1" i="0">
                <a:solidFill>
                  <a:srgbClr val="1A73E8"/>
                </a:solidFill>
                <a:latin typeface="Calibri"/>
                <a:cs typeface="Calibri"/>
              </a:rPr>
              <a:t>list</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1181</Words>
  <Application>Microsoft Office PowerPoint</Application>
  <PresentationFormat>On-screen Show (16:9)</PresentationFormat>
  <Paragraphs>259</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Source Sans 3</vt:lpstr>
      <vt:lpstr>Arial</vt:lpstr>
      <vt:lpstr>Trebuchet MS</vt:lpstr>
      <vt:lpstr>Times New Roman</vt:lpstr>
      <vt:lpstr>Calibri</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Sudeep Das</dc:creator>
  <cp:lastModifiedBy>Joakim Edman</cp:lastModifiedBy>
  <cp:revision>1</cp:revision>
  <dcterms:created xsi:type="dcterms:W3CDTF">2026-04-06T19:27:44Z</dcterms:created>
  <dcterms:modified xsi:type="dcterms:W3CDTF">2026-04-10T15:17:42Z</dcterms:modified>
</cp:coreProperties>
</file>