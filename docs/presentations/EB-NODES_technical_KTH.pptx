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8" r:id="rId1"/>
    <p:sldMasterId id="2147483661" r:id="rId2"/>
  </p:sldMasterIdLst>
  <p:notesMasterIdLst>
    <p:notesMasterId r:id="rId16"/>
  </p:notesMasterIdLst>
  <p:sldIdLst>
    <p:sldId id="256" r:id="rId15"/>
    <p:sldId id="257" r:id="rId14"/>
    <p:sldId id="258" r:id="rId13"/>
    <p:sldId id="259" r:id="rId12"/>
    <p:sldId id="260" r:id="rId11"/>
    <p:sldId id="261" r:id="rId10"/>
    <p:sldId id="262" r:id="rId9"/>
    <p:sldId id="263" r:id="rId25"/>
    <p:sldId id="264" r:id="rId26"/>
    <p:sldId id="265" r:id="rId27"/>
    <p:sldId id="266" r:id="rId28"/>
    <p:sldId id="267" r:id="rId29"/>
    <p:sldId id="268" r:id="rId30"/>
    <p:sldId id="269" r:id="rId31"/>
    <p:sldId id="270" r:id="rId32"/>
  </p:sldIdLst>
  <p:sldSz cx="9144000" cy="5143500" type="screen16x9"/>
  <p:notesSz cx="6858000" cy="9144000"/>
  <p:embeddedFontLst>
    <p:embeddedFont>
      <p:font typeface="Source Sans 3" panose="020B0604020202020204" charset="0"/>
      <p:regular r:id="rId17"/>
      <p:bold r:id="rId18"/>
      <p:italic r:id="rId19"/>
      <p:boldItalic r:id="rId20"/>
    </p:embeddedFont>
    <p:embeddedFont>
      <p:font typeface="Trebuchet MS" panose="020B0603020202020204"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xot8lDP454PmE5ymi9AGf9wZqG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udeep Das"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3" d="100"/>
          <a:sy n="123" d="100"/>
        </p:scale>
        <p:origin x="648"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9" Type="http://schemas.openxmlformats.org/officeDocument/2006/relationships/slide" Target="slides/slide7.xml"/><Relationship Id="rId10" Type="http://schemas.openxmlformats.org/officeDocument/2006/relationships/slide" Target="slides/slide6.xml"/><Relationship Id="rId11" Type="http://schemas.openxmlformats.org/officeDocument/2006/relationships/slide" Target="slides/slide5.xml"/><Relationship Id="rId12" Type="http://schemas.openxmlformats.org/officeDocument/2006/relationships/slide" Target="slides/slide4.xml"/><Relationship Id="rId13" Type="http://schemas.openxmlformats.org/officeDocument/2006/relationships/slide" Target="slides/slide3.xml"/><Relationship Id="rId14" Type="http://schemas.openxmlformats.org/officeDocument/2006/relationships/slide" Target="slides/slide2.xml"/><Relationship Id="rId15" Type="http://schemas.openxmlformats.org/officeDocument/2006/relationships/slide" Target="slides/slide1.xml"/><Relationship Id="rId16" Type="http://schemas.openxmlformats.org/officeDocument/2006/relationships/notesMaster" Target="notesMasters/notes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48" Type="http://customschemas.google.com/relationships/presentationmetadata" Target="metadata"/><Relationship Id="rId49" Type="http://schemas.openxmlformats.org/officeDocument/2006/relationships/commentAuthors" Target="commentAuthors.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533520" y="764280"/>
            <a:ext cx="6704640" cy="37713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77240" y="4777560"/>
            <a:ext cx="6217560" cy="452592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txBox="1">
            <a:spLocks noGrp="1"/>
          </p:cNvSpPr>
          <p:nvPr>
            <p:ph type="hdr" idx="3"/>
          </p:nvPr>
        </p:nvSpPr>
        <p:spPr>
          <a:xfrm>
            <a:off x="0" y="0"/>
            <a:ext cx="3372840" cy="50256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 name="Google Shape;6;n"/>
          <p:cNvSpPr txBox="1">
            <a:spLocks noGrp="1"/>
          </p:cNvSpPr>
          <p:nvPr>
            <p:ph type="dt" idx="10"/>
          </p:nvPr>
        </p:nvSpPr>
        <p:spPr>
          <a:xfrm>
            <a:off x="4399200" y="0"/>
            <a:ext cx="3372840" cy="502560"/>
          </a:xfrm>
          <a:prstGeom prst="rect">
            <a:avLst/>
          </a:prstGeom>
          <a:noFill/>
          <a:ln>
            <a:noFill/>
          </a:ln>
        </p:spPr>
        <p:txBody>
          <a:bodyPr spcFirstLastPara="1" wrap="square" lIns="0" tIns="0" rIns="0" bIns="0" anchor="t" anchorCtr="0">
            <a:noAutofit/>
          </a:bodyPr>
          <a:lstStyle>
            <a:lvl1pPr marR="0" lvl="0" algn="r" rtl="0">
              <a:lnSpc>
                <a:spcPct val="100000"/>
              </a:lnSpc>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555480"/>
            <a:ext cx="3372840" cy="50256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399200" y="9555480"/>
            <a:ext cx="3372840" cy="50256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n-GB" sz="1400" b="0" i="0" u="none" strike="noStrike" cap="none">
                <a:solidFill>
                  <a:srgbClr val="000000"/>
                </a:solidFill>
                <a:latin typeface="Times New Roman"/>
                <a:ea typeface="Times New Roman"/>
                <a:cs typeface="Times New Roman"/>
                <a:sym typeface="Times New Roman"/>
              </a:rPr>
              <a:t>‹#›</a:t>
            </a:fld>
            <a:endParaRPr sz="1400" b="0" i="0" u="none" strike="noStrike" cap="none">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Knowledge Base Master is an Excel file on the local computer. Python scripts there turn it into one JSON file per Node. We upload that folder to Google Drive. The n8n workflow runs in the cloud, reads the files from Drive, has Claude write the text, builds each page and saves it in the EB-Nodes folder. The finished pages are then uploaded to GitHub by hand, together with the code and the prompt.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sheet feeds a different part of the Node file. The AI writer gets the facts it needs to write. Contacts, websites and the service list are printed by code and never go to the AI. Anything that is missing or on hold is collected in a review list for me and for Data Enrichment. The older August master is only used for the Node description, specialties, website and contact, after reconcile.py has checked it against the Knowledge Base.</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All four scripts run on the local computer. check_links.py has to run there because the facility websites are blocked from the cloud. At the last check 343 of 372 links opened; the others are listed for review. The whole build is one command: python build_node_files.py.</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Ali's team gave every row in the master a navigator_route label and a short rule code. The label says whether the row is confirmed. build_node_files.py reads it and keeps only the confirmed labels. The numbers are rows in the master on 14 October. Facility Technologies has 1,691 provider links in total; per Node they add up to the 1,092 Node technologies.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JSON file per Node, between 8 and 254 kB. Across the 40 files there are 316 facilities, 1,092 technology rows and 409 review items. The AI never sees node_record, so contacts and links cannot be changed by it.</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workflow is called EB-NODES KB descriptions and runs in n8n cloud. Two Google Sheets nodes are still in the workflow but switched off. Code nodes are written as files on my laptop, tested there and then pasted into n8n.</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node is a LangChain agent in n8n with the Anthropic chat model attached. Max tokens is 21,000: above about 21,300 n8n needs streaming and fails, and at 16,000 the PPBI answer came back empty. Temperature 0.2 keeps the wording steady between runs.</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AI Node Writer returns five sections in one JSON object, about 1,000 words in total. Render node page puts them in this order and adds the tables, the service list and the contact block.</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Clean and explode sections (version 3.2) runs right after the AI Node Writer. It only stops the run for real errors. Everything else becomes a review flag on the section, which I read before a page is accepted. Render node page (version 13) then builds the parts of the page that are not prose, straight from node_record, so the AI never writes a provider, an instrument or a contact.</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 four test Nodes the review flags went from 12 with prompt v10 to 1 with v11.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Slide" type="title">
  <p:cSld name="TITLE">
    <p:spTree>
      <p:nvGrpSpPr>
        <p:cNvPr id="1" name="Shape 86"/>
        <p:cNvGrpSpPr/>
        <p:nvPr/>
      </p:nvGrpSpPr>
      <p:grpSpPr>
        <a:xfrm>
          <a:off x="0" y="0"/>
          <a:ext cx="0" cy="0"/>
          <a:chOff x="0" y="0"/>
          <a:chExt cx="0" cy="0"/>
        </a:xfrm>
      </p:grpSpPr>
      <p:sp>
        <p:nvSpPr>
          <p:cNvPr id="87" name="Google Shape;87;g3d53f3296fc_0_842"/>
          <p:cNvSpPr txBox="1">
            <a:spLocks noGrp="1"/>
          </p:cNvSpPr>
          <p:nvPr>
            <p:ph type="title"/>
          </p:nvPr>
        </p:nvSpPr>
        <p:spPr>
          <a:xfrm>
            <a:off x="311760" y="444960"/>
            <a:ext cx="8520000" cy="572400"/>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g3d53f3296fc_0_842"/>
          <p:cNvSpPr txBox="1">
            <a:spLocks noGrp="1"/>
          </p:cNvSpPr>
          <p:nvPr>
            <p:ph type="subTitle" idx="1"/>
          </p:nvPr>
        </p:nvSpPr>
        <p:spPr>
          <a:xfrm>
            <a:off x="311760" y="1152360"/>
            <a:ext cx="8520000" cy="3416100"/>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ver Slide" type="obj">
  <p:cSld name="OBJECT">
    <p:spTree>
      <p:nvGrpSpPr>
        <p:cNvPr id="1" name="Shape 89"/>
        <p:cNvGrpSpPr/>
        <p:nvPr/>
      </p:nvGrpSpPr>
      <p:grpSpPr>
        <a:xfrm>
          <a:off x="0" y="0"/>
          <a:ext cx="0" cy="0"/>
          <a:chOff x="0" y="0"/>
          <a:chExt cx="0" cy="0"/>
        </a:xfrm>
      </p:grpSpPr>
      <p:sp>
        <p:nvSpPr>
          <p:cNvPr id="90" name="Google Shape;90;g3d53f3296fc_0_845"/>
          <p:cNvSpPr txBox="1">
            <a:spLocks noGrp="1"/>
          </p:cNvSpPr>
          <p:nvPr>
            <p:ph type="title"/>
          </p:nvPr>
        </p:nvSpPr>
        <p:spPr>
          <a:xfrm>
            <a:off x="311760" y="444960"/>
            <a:ext cx="8520000" cy="572400"/>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g3d53f3296fc_0_845"/>
          <p:cNvSpPr txBox="1">
            <a:spLocks noGrp="1"/>
          </p:cNvSpPr>
          <p:nvPr>
            <p:ph type="body" idx="1"/>
          </p:nvPr>
        </p:nvSpPr>
        <p:spPr>
          <a:xfrm>
            <a:off x="311760" y="1152360"/>
            <a:ext cx="8520000" cy="34161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icture with Caption" type="blank">
  <p:cSld name="BLANK">
    <p:spTree>
      <p:nvGrpSpPr>
        <p:cNvPr id="1" name="Shape 10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obj">
  <p:cSld name="OBJECT">
    <p:spTree>
      <p:nvGrpSpPr>
        <p:cNvPr id="1" name="Shape 109"/>
        <p:cNvGrpSpPr/>
        <p:nvPr/>
      </p:nvGrpSpPr>
      <p:grpSpPr>
        <a:xfrm>
          <a:off x="0" y="0"/>
          <a:ext cx="0" cy="0"/>
          <a:chOff x="0" y="0"/>
          <a:chExt cx="0" cy="0"/>
        </a:xfrm>
      </p:grpSpPr>
      <p:sp>
        <p:nvSpPr>
          <p:cNvPr id="110" name="Google Shape;110;g3d53f3296fc_0_865"/>
          <p:cNvSpPr txBox="1">
            <a:spLocks noGrp="1"/>
          </p:cNvSpPr>
          <p:nvPr>
            <p:ph type="title"/>
          </p:nvPr>
        </p:nvSpPr>
        <p:spPr>
          <a:xfrm>
            <a:off x="311760" y="444960"/>
            <a:ext cx="8520000" cy="572400"/>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g3d53f3296fc_0_865"/>
          <p:cNvSpPr txBox="1">
            <a:spLocks noGrp="1"/>
          </p:cNvSpPr>
          <p:nvPr>
            <p:ph type="body" idx="1"/>
          </p:nvPr>
        </p:nvSpPr>
        <p:spPr>
          <a:xfrm>
            <a:off x="311760" y="1152360"/>
            <a:ext cx="8520000" cy="34161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6.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
        <p:cNvGrpSpPr/>
        <p:nvPr/>
      </p:nvGrpSpPr>
      <p:grpSpPr>
        <a:xfrm>
          <a:off x="0" y="0"/>
          <a:ext cx="0" cy="0"/>
          <a:chOff x="0" y="0"/>
          <a:chExt cx="0" cy="0"/>
        </a:xfrm>
      </p:grpSpPr>
      <p:pic>
        <p:nvPicPr>
          <p:cNvPr id="71" name="Google Shape;71;g3d53f3296fc_0_826" descr="A picture containing drawing, sketch, child art, art&#10;&#10;Description automatically generated"/>
          <p:cNvPicPr preferRelativeResize="0"/>
          <p:nvPr/>
        </p:nvPicPr>
        <p:blipFill rotWithShape="1">
          <a:blip r:embed="rId4">
            <a:alphaModFix amt="65000"/>
          </a:blip>
          <a:srcRect r="2997" b="2997"/>
          <a:stretch/>
        </p:blipFill>
        <p:spPr>
          <a:xfrm>
            <a:off x="360" y="0"/>
            <a:ext cx="9143281" cy="5143320"/>
          </a:xfrm>
          <a:prstGeom prst="rect">
            <a:avLst/>
          </a:prstGeom>
          <a:noFill/>
          <a:ln>
            <a:noFill/>
          </a:ln>
        </p:spPr>
      </p:pic>
      <p:grpSp>
        <p:nvGrpSpPr>
          <p:cNvPr id="72" name="Google Shape;72;g3d53f3296fc_0_826"/>
          <p:cNvGrpSpPr/>
          <p:nvPr/>
        </p:nvGrpSpPr>
        <p:grpSpPr>
          <a:xfrm>
            <a:off x="0" y="4808880"/>
            <a:ext cx="9144300" cy="342420"/>
            <a:chOff x="0" y="4808880"/>
            <a:chExt cx="9144300" cy="342420"/>
          </a:xfrm>
        </p:grpSpPr>
        <p:pic>
          <p:nvPicPr>
            <p:cNvPr id="73" name="Google Shape;73;g3d53f3296fc_0_826"/>
            <p:cNvPicPr preferRelativeResize="0"/>
            <p:nvPr/>
          </p:nvPicPr>
          <p:blipFill rotWithShape="1">
            <a:blip r:embed="rId5">
              <a:alphaModFix/>
            </a:blip>
            <a:srcRect/>
            <a:stretch/>
          </p:blipFill>
          <p:spPr>
            <a:xfrm>
              <a:off x="608400" y="4836960"/>
              <a:ext cx="758160" cy="264240"/>
            </a:xfrm>
            <a:prstGeom prst="rect">
              <a:avLst/>
            </a:prstGeom>
            <a:noFill/>
            <a:ln>
              <a:noFill/>
            </a:ln>
          </p:spPr>
        </p:pic>
        <p:grpSp>
          <p:nvGrpSpPr>
            <p:cNvPr id="74" name="Google Shape;74;g3d53f3296fc_0_826"/>
            <p:cNvGrpSpPr/>
            <p:nvPr/>
          </p:nvGrpSpPr>
          <p:grpSpPr>
            <a:xfrm>
              <a:off x="2107440" y="4897440"/>
              <a:ext cx="1420260" cy="251700"/>
              <a:chOff x="2107440" y="4897440"/>
              <a:chExt cx="1420260" cy="251700"/>
            </a:xfrm>
          </p:grpSpPr>
          <p:pic>
            <p:nvPicPr>
              <p:cNvPr id="75" name="Google Shape;75;g3d53f3296fc_0_826"/>
              <p:cNvPicPr preferRelativeResize="0"/>
              <p:nvPr/>
            </p:nvPicPr>
            <p:blipFill rotWithShape="1">
              <a:blip r:embed="rId6">
                <a:alphaModFix/>
              </a:blip>
              <a:srcRect/>
              <a:stretch/>
            </p:blipFill>
            <p:spPr>
              <a:xfrm>
                <a:off x="2107440" y="4898520"/>
                <a:ext cx="161640" cy="162000"/>
              </a:xfrm>
              <a:prstGeom prst="rect">
                <a:avLst/>
              </a:prstGeom>
              <a:noFill/>
              <a:ln>
                <a:noFill/>
              </a:ln>
            </p:spPr>
          </p:pic>
          <p:sp>
            <p:nvSpPr>
              <p:cNvPr id="76" name="Google Shape;76;g3d53f3296fc_0_826"/>
              <p:cNvSpPr/>
              <p:nvPr/>
            </p:nvSpPr>
            <p:spPr>
              <a:xfrm>
                <a:off x="2255400" y="4897440"/>
                <a:ext cx="1272300" cy="251700"/>
              </a:xfrm>
              <a:prstGeom prst="rect">
                <a:avLst/>
              </a:prstGeom>
              <a:noFill/>
              <a:ln>
                <a:noFill/>
              </a:ln>
            </p:spPr>
            <p:txBody>
              <a:bodyPr spcFirstLastPara="1" wrap="square" lIns="68400" tIns="34200" rIns="68400" bIns="342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GB" sz="600" b="0" i="0" u="none" strike="noStrike" cap="none">
                    <a:solidFill>
                      <a:schemeClr val="dk2"/>
                    </a:solidFill>
                    <a:latin typeface="Source Sans 3"/>
                    <a:ea typeface="Source Sans 3"/>
                    <a:cs typeface="Source Sans 3"/>
                    <a:sym typeface="Source Sans 3"/>
                  </a:rPr>
                  <a:t>w w w . e u r o b i o I m a g i n g . e u</a:t>
                </a:r>
                <a:endParaRPr sz="600" b="0" i="0" u="none" strike="noStrike" cap="none">
                  <a:solidFill>
                    <a:srgbClr val="000000"/>
                  </a:solidFill>
                  <a:latin typeface="Arial"/>
                  <a:ea typeface="Arial"/>
                  <a:cs typeface="Arial"/>
                  <a:sym typeface="Arial"/>
                </a:endParaRPr>
              </a:p>
            </p:txBody>
          </p:sp>
        </p:grpSp>
        <p:grpSp>
          <p:nvGrpSpPr>
            <p:cNvPr id="77" name="Google Shape;77;g3d53f3296fc_0_826"/>
            <p:cNvGrpSpPr/>
            <p:nvPr/>
          </p:nvGrpSpPr>
          <p:grpSpPr>
            <a:xfrm>
              <a:off x="4804200" y="4898880"/>
              <a:ext cx="1519920" cy="252420"/>
              <a:chOff x="4804200" y="4898880"/>
              <a:chExt cx="1519920" cy="252420"/>
            </a:xfrm>
          </p:grpSpPr>
          <p:pic>
            <p:nvPicPr>
              <p:cNvPr id="78" name="Google Shape;78;g3d53f3296fc_0_826"/>
              <p:cNvPicPr preferRelativeResize="0"/>
              <p:nvPr/>
            </p:nvPicPr>
            <p:blipFill rotWithShape="1">
              <a:blip r:embed="rId7">
                <a:alphaModFix/>
              </a:blip>
              <a:srcRect/>
              <a:stretch/>
            </p:blipFill>
            <p:spPr>
              <a:xfrm>
                <a:off x="4804200" y="4898880"/>
                <a:ext cx="162000" cy="162000"/>
              </a:xfrm>
              <a:prstGeom prst="rect">
                <a:avLst/>
              </a:prstGeom>
              <a:noFill/>
              <a:ln>
                <a:noFill/>
              </a:ln>
            </p:spPr>
          </p:pic>
          <p:sp>
            <p:nvSpPr>
              <p:cNvPr id="79" name="Google Shape;79;g3d53f3296fc_0_826"/>
              <p:cNvSpPr/>
              <p:nvPr/>
            </p:nvSpPr>
            <p:spPr>
              <a:xfrm>
                <a:off x="4947120" y="4899600"/>
                <a:ext cx="1377000" cy="251700"/>
              </a:xfrm>
              <a:prstGeom prst="rect">
                <a:avLst/>
              </a:prstGeom>
              <a:noFill/>
              <a:ln>
                <a:noFill/>
              </a:ln>
            </p:spPr>
            <p:txBody>
              <a:bodyPr spcFirstLastPara="1" wrap="square" lIns="68400" tIns="34200" rIns="68400" bIns="342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GB" sz="600" b="0" i="0" u="none" strike="noStrike" cap="none">
                    <a:solidFill>
                      <a:schemeClr val="dk2"/>
                    </a:solidFill>
                    <a:latin typeface="Source Sans 3"/>
                    <a:ea typeface="Source Sans 3"/>
                    <a:cs typeface="Source Sans 3"/>
                    <a:sym typeface="Source Sans 3"/>
                  </a:rPr>
                  <a:t>i n f o @ e u r o b i o i m a g i n g . e u</a:t>
                </a:r>
                <a:endParaRPr sz="600" b="0" i="0" u="none" strike="noStrike" cap="none">
                  <a:solidFill>
                    <a:srgbClr val="000000"/>
                  </a:solidFill>
                  <a:latin typeface="Arial"/>
                  <a:ea typeface="Arial"/>
                  <a:cs typeface="Arial"/>
                  <a:sym typeface="Arial"/>
                </a:endParaRPr>
              </a:p>
            </p:txBody>
          </p:sp>
        </p:grpSp>
        <p:sp>
          <p:nvSpPr>
            <p:cNvPr id="80" name="Google Shape;80;g3d53f3296fc_0_826"/>
            <p:cNvSpPr/>
            <p:nvPr/>
          </p:nvSpPr>
          <p:spPr>
            <a:xfrm>
              <a:off x="7583040" y="4897440"/>
              <a:ext cx="1191000" cy="160200"/>
            </a:xfrm>
            <a:prstGeom prst="rect">
              <a:avLst/>
            </a:prstGeom>
            <a:noFill/>
            <a:ln>
              <a:noFill/>
            </a:ln>
          </p:spPr>
          <p:txBody>
            <a:bodyPr spcFirstLastPara="1" wrap="square" lIns="68400" tIns="34200" rIns="68400" bIns="342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GB" sz="600" b="0" i="0" u="none" strike="noStrike" cap="none">
                  <a:solidFill>
                    <a:schemeClr val="dk2"/>
                  </a:solidFill>
                  <a:latin typeface="Source Sans 3"/>
                  <a:ea typeface="Source Sans 3"/>
                  <a:cs typeface="Source Sans 3"/>
                  <a:sym typeface="Source Sans 3"/>
                </a:rPr>
                <a:t>@ E u r o -B i o I m a g i n g</a:t>
              </a:r>
              <a:endParaRPr sz="600" b="0" i="0" u="none" strike="noStrike" cap="none">
                <a:solidFill>
                  <a:srgbClr val="000000"/>
                </a:solidFill>
                <a:latin typeface="Arial"/>
                <a:ea typeface="Arial"/>
                <a:cs typeface="Arial"/>
                <a:sym typeface="Arial"/>
              </a:endParaRPr>
            </a:p>
          </p:txBody>
        </p:sp>
        <p:cxnSp>
          <p:nvCxnSpPr>
            <p:cNvPr id="81" name="Google Shape;81;g3d53f3296fc_0_826"/>
            <p:cNvCxnSpPr/>
            <p:nvPr/>
          </p:nvCxnSpPr>
          <p:spPr>
            <a:xfrm>
              <a:off x="0" y="4808880"/>
              <a:ext cx="9144300" cy="300"/>
            </a:xfrm>
            <a:prstGeom prst="straightConnector1">
              <a:avLst/>
            </a:prstGeom>
            <a:noFill/>
            <a:ln w="9525" cap="flat" cmpd="sng">
              <a:solidFill>
                <a:srgbClr val="EDEEEF"/>
              </a:solidFill>
              <a:prstDash val="solid"/>
              <a:miter lim="8000"/>
              <a:headEnd type="none" w="sm" len="sm"/>
              <a:tailEnd type="none" w="sm" len="sm"/>
            </a:ln>
          </p:spPr>
        </p:cxnSp>
      </p:grpSp>
      <p:pic>
        <p:nvPicPr>
          <p:cNvPr id="82" name="Google Shape;82;g3d53f3296fc_0_826"/>
          <p:cNvPicPr preferRelativeResize="0"/>
          <p:nvPr/>
        </p:nvPicPr>
        <p:blipFill rotWithShape="1">
          <a:blip r:embed="rId5">
            <a:alphaModFix/>
          </a:blip>
          <a:srcRect/>
          <a:stretch/>
        </p:blipFill>
        <p:spPr>
          <a:xfrm>
            <a:off x="1353960" y="418320"/>
            <a:ext cx="6436080" cy="2246040"/>
          </a:xfrm>
          <a:prstGeom prst="rect">
            <a:avLst/>
          </a:prstGeom>
          <a:noFill/>
          <a:ln>
            <a:noFill/>
          </a:ln>
        </p:spPr>
      </p:pic>
      <p:sp>
        <p:nvSpPr>
          <p:cNvPr id="83" name="Google Shape;83;g3d53f3296fc_0_826"/>
          <p:cNvSpPr txBox="1">
            <a:spLocks noGrp="1"/>
          </p:cNvSpPr>
          <p:nvPr>
            <p:ph type="title"/>
          </p:nvPr>
        </p:nvSpPr>
        <p:spPr>
          <a:xfrm>
            <a:off x="1143000" y="2577960"/>
            <a:ext cx="6857700" cy="1010400"/>
          </a:xfrm>
          <a:prstGeom prst="rect">
            <a:avLst/>
          </a:prstGeom>
          <a:noFill/>
          <a:ln>
            <a:noFill/>
          </a:ln>
        </p:spPr>
        <p:txBody>
          <a:bodyPr spcFirstLastPara="1" wrap="square" lIns="0" tIns="0" rIns="0" bIns="0" anchor="ctr"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4" name="Google Shape;84;g3d53f3296fc_0_826"/>
          <p:cNvSpPr txBox="1">
            <a:spLocks noGrp="1"/>
          </p:cNvSpPr>
          <p:nvPr>
            <p:ph type="body" idx="1"/>
          </p:nvPr>
        </p:nvSpPr>
        <p:spPr>
          <a:xfrm>
            <a:off x="1143000" y="4203000"/>
            <a:ext cx="6857700" cy="172200"/>
          </a:xfrm>
          <a:prstGeom prst="rect">
            <a:avLst/>
          </a:prstGeom>
          <a:noFill/>
          <a:ln>
            <a:noFill/>
          </a:ln>
        </p:spPr>
        <p:txBody>
          <a:bodyPr spcFirstLastPara="1" wrap="square" lIns="0" tIns="0" rIns="0" bIns="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85" name="Google Shape;85;g3d53f3296fc_0_826"/>
          <p:cNvPicPr preferRelativeResize="0"/>
          <p:nvPr/>
        </p:nvPicPr>
        <p:blipFill rotWithShape="1">
          <a:blip r:embed="rId8">
            <a:alphaModFix/>
          </a:blip>
          <a:srcRect/>
          <a:stretch/>
        </p:blipFill>
        <p:spPr>
          <a:xfrm>
            <a:off x="7416360" y="4897440"/>
            <a:ext cx="166680" cy="16668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
        <p:cNvGrpSpPr/>
        <p:nvPr/>
      </p:nvGrpSpPr>
      <p:grpSpPr>
        <a:xfrm>
          <a:off x="0" y="0"/>
          <a:ext cx="0" cy="0"/>
          <a:chOff x="0" y="0"/>
          <a:chExt cx="0" cy="0"/>
        </a:xfrm>
      </p:grpSpPr>
      <p:pic>
        <p:nvPicPr>
          <p:cNvPr id="93" name="Google Shape;93;g3d53f3296fc_0_848" descr="A picture containing graphics, black, circle&#10;&#10;Description automatically generated"/>
          <p:cNvPicPr preferRelativeResize="0"/>
          <p:nvPr/>
        </p:nvPicPr>
        <p:blipFill rotWithShape="1">
          <a:blip r:embed="rId5">
            <a:alphaModFix amt="2000"/>
          </a:blip>
          <a:srcRect t="24046" r="51700" b="12890"/>
          <a:stretch/>
        </p:blipFill>
        <p:spPr>
          <a:xfrm>
            <a:off x="5467320" y="0"/>
            <a:ext cx="3676319" cy="5143320"/>
          </a:xfrm>
          <a:prstGeom prst="rect">
            <a:avLst/>
          </a:prstGeom>
          <a:noFill/>
          <a:ln>
            <a:noFill/>
          </a:ln>
        </p:spPr>
      </p:pic>
      <p:grpSp>
        <p:nvGrpSpPr>
          <p:cNvPr id="94" name="Google Shape;94;g3d53f3296fc_0_848"/>
          <p:cNvGrpSpPr/>
          <p:nvPr/>
        </p:nvGrpSpPr>
        <p:grpSpPr>
          <a:xfrm>
            <a:off x="0" y="4808880"/>
            <a:ext cx="9144300" cy="340260"/>
            <a:chOff x="0" y="4808880"/>
            <a:chExt cx="9144300" cy="340260"/>
          </a:xfrm>
        </p:grpSpPr>
        <p:pic>
          <p:nvPicPr>
            <p:cNvPr id="95" name="Google Shape;95;g3d53f3296fc_0_848"/>
            <p:cNvPicPr preferRelativeResize="0"/>
            <p:nvPr/>
          </p:nvPicPr>
          <p:blipFill rotWithShape="1">
            <a:blip r:embed="rId6">
              <a:alphaModFix/>
            </a:blip>
            <a:srcRect/>
            <a:stretch/>
          </p:blipFill>
          <p:spPr>
            <a:xfrm>
              <a:off x="608400" y="4836960"/>
              <a:ext cx="758160" cy="264240"/>
            </a:xfrm>
            <a:prstGeom prst="rect">
              <a:avLst/>
            </a:prstGeom>
            <a:noFill/>
            <a:ln>
              <a:noFill/>
            </a:ln>
          </p:spPr>
        </p:pic>
        <p:grpSp>
          <p:nvGrpSpPr>
            <p:cNvPr id="96" name="Google Shape;96;g3d53f3296fc_0_848"/>
            <p:cNvGrpSpPr/>
            <p:nvPr/>
          </p:nvGrpSpPr>
          <p:grpSpPr>
            <a:xfrm>
              <a:off x="2107440" y="4897440"/>
              <a:ext cx="1420260" cy="251700"/>
              <a:chOff x="2107440" y="4897440"/>
              <a:chExt cx="1420260" cy="251700"/>
            </a:xfrm>
          </p:grpSpPr>
          <p:pic>
            <p:nvPicPr>
              <p:cNvPr id="97" name="Google Shape;97;g3d53f3296fc_0_848"/>
              <p:cNvPicPr preferRelativeResize="0"/>
              <p:nvPr/>
            </p:nvPicPr>
            <p:blipFill rotWithShape="1">
              <a:blip r:embed="rId7">
                <a:alphaModFix/>
              </a:blip>
              <a:srcRect/>
              <a:stretch/>
            </p:blipFill>
            <p:spPr>
              <a:xfrm>
                <a:off x="2107440" y="4898520"/>
                <a:ext cx="161640" cy="162000"/>
              </a:xfrm>
              <a:prstGeom prst="rect">
                <a:avLst/>
              </a:prstGeom>
              <a:noFill/>
              <a:ln>
                <a:noFill/>
              </a:ln>
            </p:spPr>
          </p:pic>
          <p:sp>
            <p:nvSpPr>
              <p:cNvPr id="98" name="Google Shape;98;g3d53f3296fc_0_848"/>
              <p:cNvSpPr/>
              <p:nvPr/>
            </p:nvSpPr>
            <p:spPr>
              <a:xfrm>
                <a:off x="2255400" y="4897440"/>
                <a:ext cx="1272300" cy="251700"/>
              </a:xfrm>
              <a:prstGeom prst="rect">
                <a:avLst/>
              </a:prstGeom>
              <a:noFill/>
              <a:ln>
                <a:noFill/>
              </a:ln>
            </p:spPr>
            <p:txBody>
              <a:bodyPr spcFirstLastPara="1" wrap="square" lIns="68400" tIns="34200" rIns="68400" bIns="342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GB" sz="600" b="0" i="0" u="none" strike="noStrike" cap="none">
                    <a:solidFill>
                      <a:schemeClr val="dk2"/>
                    </a:solidFill>
                    <a:latin typeface="Source Sans 3"/>
                    <a:ea typeface="Source Sans 3"/>
                    <a:cs typeface="Source Sans 3"/>
                    <a:sym typeface="Source Sans 3"/>
                  </a:rPr>
                  <a:t>w w w . e u r o b i o I m a g i n g . e u</a:t>
                </a:r>
                <a:endParaRPr sz="600" b="0" i="0" u="none" strike="noStrike" cap="none">
                  <a:solidFill>
                    <a:srgbClr val="000000"/>
                  </a:solidFill>
                  <a:latin typeface="Arial"/>
                  <a:ea typeface="Arial"/>
                  <a:cs typeface="Arial"/>
                  <a:sym typeface="Arial"/>
                </a:endParaRPr>
              </a:p>
            </p:txBody>
          </p:sp>
        </p:grpSp>
        <p:grpSp>
          <p:nvGrpSpPr>
            <p:cNvPr id="99" name="Google Shape;99;g3d53f3296fc_0_848"/>
            <p:cNvGrpSpPr/>
            <p:nvPr/>
          </p:nvGrpSpPr>
          <p:grpSpPr>
            <a:xfrm>
              <a:off x="4804200" y="4898880"/>
              <a:ext cx="1565520" cy="162000"/>
              <a:chOff x="4804200" y="4898880"/>
              <a:chExt cx="1565520" cy="162000"/>
            </a:xfrm>
          </p:grpSpPr>
          <p:pic>
            <p:nvPicPr>
              <p:cNvPr id="100" name="Google Shape;100;g3d53f3296fc_0_848"/>
              <p:cNvPicPr preferRelativeResize="0"/>
              <p:nvPr/>
            </p:nvPicPr>
            <p:blipFill rotWithShape="1">
              <a:blip r:embed="rId8">
                <a:alphaModFix/>
              </a:blip>
              <a:srcRect/>
              <a:stretch/>
            </p:blipFill>
            <p:spPr>
              <a:xfrm>
                <a:off x="4804200" y="4898880"/>
                <a:ext cx="162000" cy="162000"/>
              </a:xfrm>
              <a:prstGeom prst="rect">
                <a:avLst/>
              </a:prstGeom>
              <a:noFill/>
              <a:ln>
                <a:noFill/>
              </a:ln>
            </p:spPr>
          </p:pic>
          <p:sp>
            <p:nvSpPr>
              <p:cNvPr id="101" name="Google Shape;101;g3d53f3296fc_0_848"/>
              <p:cNvSpPr/>
              <p:nvPr/>
            </p:nvSpPr>
            <p:spPr>
              <a:xfrm>
                <a:off x="4947120" y="4899600"/>
                <a:ext cx="1422600" cy="160200"/>
              </a:xfrm>
              <a:prstGeom prst="rect">
                <a:avLst/>
              </a:prstGeom>
              <a:noFill/>
              <a:ln>
                <a:noFill/>
              </a:ln>
            </p:spPr>
            <p:txBody>
              <a:bodyPr spcFirstLastPara="1" wrap="square" lIns="68400" tIns="34200" rIns="68400" bIns="342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GB" sz="600" b="0" i="0" u="none" strike="noStrike" cap="none">
                    <a:solidFill>
                      <a:schemeClr val="dk2"/>
                    </a:solidFill>
                    <a:latin typeface="Source Sans 3"/>
                    <a:ea typeface="Source Sans 3"/>
                    <a:cs typeface="Source Sans 3"/>
                    <a:sym typeface="Source Sans 3"/>
                  </a:rPr>
                  <a:t>i n f o @ e u r o b i o i m a g i n g . e u</a:t>
                </a:r>
                <a:endParaRPr sz="600" b="0" i="0" u="none" strike="noStrike" cap="none">
                  <a:solidFill>
                    <a:srgbClr val="000000"/>
                  </a:solidFill>
                  <a:latin typeface="Arial"/>
                  <a:ea typeface="Arial"/>
                  <a:cs typeface="Arial"/>
                  <a:sym typeface="Arial"/>
                </a:endParaRPr>
              </a:p>
            </p:txBody>
          </p:sp>
        </p:grpSp>
        <p:sp>
          <p:nvSpPr>
            <p:cNvPr id="102" name="Google Shape;102;g3d53f3296fc_0_848"/>
            <p:cNvSpPr/>
            <p:nvPr/>
          </p:nvSpPr>
          <p:spPr>
            <a:xfrm>
              <a:off x="7583040" y="4897440"/>
              <a:ext cx="1162500" cy="160200"/>
            </a:xfrm>
            <a:prstGeom prst="rect">
              <a:avLst/>
            </a:prstGeom>
            <a:noFill/>
            <a:ln>
              <a:noFill/>
            </a:ln>
          </p:spPr>
          <p:txBody>
            <a:bodyPr spcFirstLastPara="1" wrap="square" lIns="68400" tIns="34200" rIns="68400" bIns="342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GB" sz="600" b="0" i="0" u="none" strike="noStrike" cap="none">
                  <a:solidFill>
                    <a:schemeClr val="dk2"/>
                  </a:solidFill>
                  <a:latin typeface="Source Sans 3"/>
                  <a:ea typeface="Source Sans 3"/>
                  <a:cs typeface="Source Sans 3"/>
                  <a:sym typeface="Source Sans 3"/>
                </a:rPr>
                <a:t>@ E u r o- B i o I m a g i n g</a:t>
              </a:r>
              <a:endParaRPr sz="600" b="0" i="0" u="none" strike="noStrike" cap="none">
                <a:solidFill>
                  <a:srgbClr val="000000"/>
                </a:solidFill>
                <a:latin typeface="Arial"/>
                <a:ea typeface="Arial"/>
                <a:cs typeface="Arial"/>
                <a:sym typeface="Arial"/>
              </a:endParaRPr>
            </a:p>
          </p:txBody>
        </p:sp>
        <p:cxnSp>
          <p:nvCxnSpPr>
            <p:cNvPr id="103" name="Google Shape;103;g3d53f3296fc_0_848"/>
            <p:cNvCxnSpPr/>
            <p:nvPr/>
          </p:nvCxnSpPr>
          <p:spPr>
            <a:xfrm>
              <a:off x="0" y="4808880"/>
              <a:ext cx="9144300" cy="300"/>
            </a:xfrm>
            <a:prstGeom prst="straightConnector1">
              <a:avLst/>
            </a:prstGeom>
            <a:noFill/>
            <a:ln w="9525" cap="flat" cmpd="sng">
              <a:solidFill>
                <a:srgbClr val="EDEEEF"/>
              </a:solidFill>
              <a:prstDash val="solid"/>
              <a:miter lim="8000"/>
              <a:headEnd type="none" w="sm" len="sm"/>
              <a:tailEnd type="none" w="sm" len="sm"/>
            </a:ln>
          </p:spPr>
        </p:cxnSp>
      </p:grpSp>
      <p:sp>
        <p:nvSpPr>
          <p:cNvPr id="104" name="Google Shape;104;g3d53f3296fc_0_848"/>
          <p:cNvSpPr txBox="1">
            <a:spLocks noGrp="1"/>
          </p:cNvSpPr>
          <p:nvPr>
            <p:ph type="body" idx="1"/>
          </p:nvPr>
        </p:nvSpPr>
        <p:spPr>
          <a:xfrm>
            <a:off x="297000" y="334440"/>
            <a:ext cx="4007100" cy="4139400"/>
          </a:xfrm>
          <a:prstGeom prst="rect">
            <a:avLst/>
          </a:prstGeom>
          <a:noFill/>
          <a:ln>
            <a:noFill/>
          </a:ln>
        </p:spPr>
        <p:txBody>
          <a:bodyPr spcFirstLastPara="1" wrap="square" lIns="0" tIns="0" rIns="0" bIns="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5" name="Google Shape;105;g3d53f3296fc_0_848"/>
          <p:cNvSpPr txBox="1">
            <a:spLocks noGrp="1"/>
          </p:cNvSpPr>
          <p:nvPr>
            <p:ph type="body" idx="2"/>
          </p:nvPr>
        </p:nvSpPr>
        <p:spPr>
          <a:xfrm>
            <a:off x="4572000" y="1207080"/>
            <a:ext cx="3944100" cy="3266700"/>
          </a:xfrm>
          <a:prstGeom prst="rect">
            <a:avLst/>
          </a:prstGeom>
          <a:noFill/>
          <a:ln>
            <a:noFill/>
          </a:ln>
        </p:spPr>
        <p:txBody>
          <a:bodyPr spcFirstLastPara="1" wrap="square" lIns="0" tIns="0" rIns="0" bIns="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6" name="Google Shape;106;g3d53f3296fc_0_848"/>
          <p:cNvSpPr txBox="1">
            <a:spLocks noGrp="1"/>
          </p:cNvSpPr>
          <p:nvPr>
            <p:ph type="title"/>
          </p:nvPr>
        </p:nvSpPr>
        <p:spPr>
          <a:xfrm>
            <a:off x="4572000" y="444240"/>
            <a:ext cx="3942600" cy="760800"/>
          </a:xfrm>
          <a:prstGeom prst="rect">
            <a:avLst/>
          </a:prstGeom>
          <a:noFill/>
          <a:ln>
            <a:noFill/>
          </a:ln>
        </p:spPr>
        <p:txBody>
          <a:bodyPr spcFirstLastPara="1" wrap="square" lIns="0" tIns="0" rIns="0" bIns="0" anchor="ctr"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107" name="Google Shape;107;g3d53f3296fc_0_848"/>
          <p:cNvPicPr preferRelativeResize="0"/>
          <p:nvPr/>
        </p:nvPicPr>
        <p:blipFill rotWithShape="1">
          <a:blip r:embed="rId9">
            <a:alphaModFix/>
          </a:blip>
          <a:srcRect/>
          <a:stretch/>
        </p:blipFill>
        <p:spPr>
          <a:xfrm>
            <a:off x="7416360" y="4897440"/>
            <a:ext cx="166680" cy="16668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1.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697480"/>
            <a:ext cx="8229600" cy="502920"/>
          </a:xfrm>
          <a:prstGeom prst="rect">
            <a:avLst/>
          </a:prstGeom>
          <a:noFill/>
        </p:spPr>
        <p:txBody>
          <a:bodyPr wrap="square" lIns="0" rIns="0" tIns="0" bIns="0" anchor="ctr">
            <a:spAutoFit/>
          </a:bodyPr>
          <a:lstStyle/>
          <a:p>
            <a:pPr algn="ctr"/>
            <a:r>
              <a:rPr sz="2800" b="1" i="0">
                <a:solidFill>
                  <a:srgbClr val="1D1D1B"/>
                </a:solidFill>
                <a:latin typeface="Source Sans Pro"/>
                <a:cs typeface="Source Sans Pro"/>
              </a:rPr>
              <a:t>Node descriptions</a:t>
            </a:r>
          </a:p>
        </p:txBody>
      </p:sp>
      <p:sp>
        <p:nvSpPr>
          <p:cNvPr id="3" name="TextBox 2"/>
          <p:cNvSpPr txBox="1"/>
          <p:nvPr/>
        </p:nvSpPr>
        <p:spPr>
          <a:xfrm>
            <a:off x="457200" y="3200400"/>
            <a:ext cx="8229600" cy="365760"/>
          </a:xfrm>
          <a:prstGeom prst="rect">
            <a:avLst/>
          </a:prstGeom>
          <a:noFill/>
        </p:spPr>
        <p:txBody>
          <a:bodyPr wrap="square" lIns="0" rIns="0" tIns="0" bIns="0" anchor="ctr">
            <a:spAutoFit/>
          </a:bodyPr>
          <a:lstStyle/>
          <a:p>
            <a:pPr algn="ctr"/>
            <a:r>
              <a:rPr sz="1500" b="0" i="0">
                <a:solidFill>
                  <a:srgbClr val="595959"/>
                </a:solidFill>
                <a:latin typeface="Source Sans Pro"/>
                <a:cs typeface="Source Sans Pro"/>
              </a:rPr>
              <a:t>How we build the Node pages from the Knowledge Base</a:t>
            </a:r>
          </a:p>
        </p:txBody>
      </p:sp>
      <p:sp>
        <p:nvSpPr>
          <p:cNvPr id="4" name="TextBox 3"/>
          <p:cNvSpPr txBox="1"/>
          <p:nvPr/>
        </p:nvSpPr>
        <p:spPr>
          <a:xfrm>
            <a:off x="457200" y="4069080"/>
            <a:ext cx="8229600" cy="274320"/>
          </a:xfrm>
          <a:prstGeom prst="rect">
            <a:avLst/>
          </a:prstGeom>
          <a:noFill/>
        </p:spPr>
        <p:txBody>
          <a:bodyPr wrap="square" lIns="0" rIns="0" tIns="0" bIns="0" anchor="t">
            <a:spAutoFit/>
          </a:bodyPr>
          <a:lstStyle/>
          <a:p>
            <a:pPr algn="ctr"/>
            <a:r>
              <a:rPr sz="1100" b="0" i="0">
                <a:solidFill>
                  <a:srgbClr val="8C8C8C"/>
                </a:solidFill>
                <a:latin typeface="Calibri"/>
                <a:cs typeface="Calibri"/>
              </a:rPr>
              <a:t>Joakim Edman  |  AI4Access, Euro-BioImaging ERIC  |  20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Overview</a:t>
            </a:r>
          </a:p>
        </p:txBody>
      </p:sp>
      <p:sp>
        <p:nvSpPr>
          <p:cNvPr id="3" name="Rounded Rectangle 2"/>
          <p:cNvSpPr/>
          <p:nvPr/>
        </p:nvSpPr>
        <p:spPr>
          <a:xfrm>
            <a:off x="457200" y="914400"/>
            <a:ext cx="3017520" cy="2560320"/>
          </a:xfrm>
          <a:prstGeom prst="roundRect">
            <a:avLst>
              <a:gd name="adj" fmla="val 2857"/>
            </a:avLst>
          </a:prstGeom>
          <a:solidFill>
            <a:srgbClr val="F1F3F5"/>
          </a:solidFill>
          <a:ln>
            <a:noFill/>
          </a:ln>
          <a:effectLst/>
        </p:spPr>
        <p:txBody>
          <a:bodyPr rtlCol="0" anchor="ctr" lIns="36576" rIns="36576"/>
          <a:lstStyle/>
          <a:p>
            <a:pPr algn="ctr"/>
          </a:p>
        </p:txBody>
      </p:sp>
      <p:pic>
        <p:nvPicPr>
          <p:cNvPr id="4" name="Picture 3" descr="laptop_brand.png"/>
          <p:cNvPicPr>
            <a:picLocks noChangeAspect="1"/>
          </p:cNvPicPr>
          <p:nvPr/>
        </p:nvPicPr>
        <p:blipFill>
          <a:blip r:embed="rId3"/>
          <a:stretch>
            <a:fillRect/>
          </a:stretch>
        </p:blipFill>
        <p:spPr>
          <a:xfrm>
            <a:off x="594360" y="1033271"/>
            <a:ext cx="237744" cy="237744"/>
          </a:xfrm>
          <a:prstGeom prst="rect">
            <a:avLst/>
          </a:prstGeom>
        </p:spPr>
      </p:pic>
      <p:sp>
        <p:nvSpPr>
          <p:cNvPr id="5" name="TextBox 4"/>
          <p:cNvSpPr txBox="1"/>
          <p:nvPr/>
        </p:nvSpPr>
        <p:spPr>
          <a:xfrm>
            <a:off x="914400" y="1005840"/>
            <a:ext cx="2468879" cy="292608"/>
          </a:xfrm>
          <a:prstGeom prst="rect">
            <a:avLst/>
          </a:prstGeom>
          <a:noFill/>
        </p:spPr>
        <p:txBody>
          <a:bodyPr wrap="square" lIns="0" rIns="0" tIns="0" bIns="0" anchor="ctr">
            <a:spAutoFit/>
          </a:bodyPr>
          <a:lstStyle/>
          <a:p>
            <a:pPr algn="l"/>
            <a:r>
              <a:rPr sz="1200" b="1" i="0">
                <a:solidFill>
                  <a:srgbClr val="444444"/>
                </a:solidFill>
                <a:latin typeface="Source Sans Pro"/>
                <a:cs typeface="Source Sans Pro"/>
              </a:rPr>
              <a:t>Local computer</a:t>
            </a:r>
          </a:p>
        </p:txBody>
      </p:sp>
      <p:sp>
        <p:nvSpPr>
          <p:cNvPr id="6" name="Rounded Rectangle 5"/>
          <p:cNvSpPr/>
          <p:nvPr/>
        </p:nvSpPr>
        <p:spPr>
          <a:xfrm>
            <a:off x="640080" y="1325880"/>
            <a:ext cx="2651760" cy="685800"/>
          </a:xfrm>
          <a:prstGeom prst="roundRect">
            <a:avLst>
              <a:gd name="adj" fmla="val 8000"/>
            </a:avLst>
          </a:prstGeom>
          <a:solidFill>
            <a:srgbClr val="FFFFFF"/>
          </a:solidFill>
          <a:ln w="12700">
            <a:solidFill>
              <a:srgbClr val="CFCFCF"/>
            </a:solidFill>
          </a:ln>
          <a:effectLst/>
        </p:spPr>
        <p:txBody>
          <a:bodyPr rtlCol="0" anchor="ctr" lIns="36576" rIns="36576"/>
          <a:lstStyle/>
          <a:p>
            <a:pPr algn="ctr"/>
          </a:p>
        </p:txBody>
      </p:sp>
      <p:pic>
        <p:nvPicPr>
          <p:cNvPr id="7" name="Picture 6" descr="excel_brand.png"/>
          <p:cNvPicPr>
            <a:picLocks noChangeAspect="1"/>
          </p:cNvPicPr>
          <p:nvPr/>
        </p:nvPicPr>
        <p:blipFill>
          <a:blip r:embed="rId4"/>
          <a:stretch>
            <a:fillRect/>
          </a:stretch>
        </p:blipFill>
        <p:spPr>
          <a:xfrm>
            <a:off x="749808" y="1435607"/>
            <a:ext cx="274320" cy="274320"/>
          </a:xfrm>
          <a:prstGeom prst="rect">
            <a:avLst/>
          </a:prstGeom>
        </p:spPr>
      </p:pic>
      <p:sp>
        <p:nvSpPr>
          <p:cNvPr id="8" name="TextBox 7"/>
          <p:cNvSpPr txBox="1"/>
          <p:nvPr/>
        </p:nvSpPr>
        <p:spPr>
          <a:xfrm>
            <a:off x="1115568" y="1399032"/>
            <a:ext cx="2103120" cy="274320"/>
          </a:xfrm>
          <a:prstGeom prst="rect">
            <a:avLst/>
          </a:prstGeom>
          <a:noFill/>
        </p:spPr>
        <p:txBody>
          <a:bodyPr wrap="square" lIns="0" rIns="0" tIns="0" bIns="0" anchor="ctr">
            <a:spAutoFit/>
          </a:bodyPr>
          <a:lstStyle/>
          <a:p>
            <a:pPr algn="l"/>
            <a:r>
              <a:rPr sz="1200" b="1" i="0">
                <a:solidFill>
                  <a:srgbClr val="1D1D1B"/>
                </a:solidFill>
                <a:latin typeface="Calibri"/>
                <a:cs typeface="Calibri"/>
              </a:rPr>
              <a:t>Knowledge Base Master</a:t>
            </a:r>
          </a:p>
        </p:txBody>
      </p:sp>
      <p:sp>
        <p:nvSpPr>
          <p:cNvPr id="9" name="TextBox 8"/>
          <p:cNvSpPr txBox="1"/>
          <p:nvPr/>
        </p:nvSpPr>
        <p:spPr>
          <a:xfrm>
            <a:off x="1115568" y="1673352"/>
            <a:ext cx="2103120" cy="301752"/>
          </a:xfrm>
          <a:prstGeom prst="rect">
            <a:avLst/>
          </a:prstGeom>
          <a:noFill/>
        </p:spPr>
        <p:txBody>
          <a:bodyPr wrap="square" lIns="0" rIns="0" tIns="0" bIns="0" anchor="t">
            <a:spAutoFit/>
          </a:bodyPr>
          <a:lstStyle/>
          <a:p>
            <a:pPr algn="l"/>
            <a:r>
              <a:rPr sz="950" b="0" i="0">
                <a:solidFill>
                  <a:srgbClr val="595959"/>
                </a:solidFill>
                <a:latin typeface="Calibri"/>
                <a:cs typeface="Calibri"/>
              </a:rPr>
              <a:t>Excel file built by our team from SLAs and internally confirmed data</a:t>
            </a:r>
          </a:p>
        </p:txBody>
      </p:sp>
      <p:sp>
        <p:nvSpPr>
          <p:cNvPr id="10" name="Rounded Rectangle 9"/>
          <p:cNvSpPr/>
          <p:nvPr/>
        </p:nvSpPr>
        <p:spPr>
          <a:xfrm>
            <a:off x="640080" y="2148840"/>
            <a:ext cx="2651760" cy="548640"/>
          </a:xfrm>
          <a:prstGeom prst="roundRect">
            <a:avLst>
              <a:gd name="adj" fmla="val 10000"/>
            </a:avLst>
          </a:prstGeom>
          <a:solidFill>
            <a:srgbClr val="FFFFFF"/>
          </a:solidFill>
          <a:ln w="12700">
            <a:solidFill>
              <a:srgbClr val="CFCFCF"/>
            </a:solidFill>
          </a:ln>
          <a:effectLst/>
        </p:spPr>
        <p:txBody>
          <a:bodyPr rtlCol="0" anchor="ctr" lIns="36576" rIns="36576"/>
          <a:lstStyle/>
          <a:p>
            <a:pPr algn="ctr"/>
          </a:p>
        </p:txBody>
      </p:sp>
      <p:pic>
        <p:nvPicPr>
          <p:cNvPr id="11" name="Picture 10" descr="python_brand.png"/>
          <p:cNvPicPr>
            <a:picLocks noChangeAspect="1"/>
          </p:cNvPicPr>
          <p:nvPr/>
        </p:nvPicPr>
        <p:blipFill>
          <a:blip r:embed="rId5"/>
          <a:stretch>
            <a:fillRect/>
          </a:stretch>
        </p:blipFill>
        <p:spPr>
          <a:xfrm>
            <a:off x="749808" y="2258568"/>
            <a:ext cx="274320" cy="274320"/>
          </a:xfrm>
          <a:prstGeom prst="rect">
            <a:avLst/>
          </a:prstGeom>
        </p:spPr>
      </p:pic>
      <p:sp>
        <p:nvSpPr>
          <p:cNvPr id="12" name="TextBox 11"/>
          <p:cNvSpPr txBox="1"/>
          <p:nvPr/>
        </p:nvSpPr>
        <p:spPr>
          <a:xfrm>
            <a:off x="1115568" y="2221992"/>
            <a:ext cx="2103120" cy="274320"/>
          </a:xfrm>
          <a:prstGeom prst="rect">
            <a:avLst/>
          </a:prstGeom>
          <a:noFill/>
        </p:spPr>
        <p:txBody>
          <a:bodyPr wrap="square" lIns="0" rIns="0" tIns="0" bIns="0" anchor="ctr">
            <a:spAutoFit/>
          </a:bodyPr>
          <a:lstStyle/>
          <a:p>
            <a:pPr algn="l"/>
            <a:r>
              <a:rPr sz="1200" b="1" i="0">
                <a:solidFill>
                  <a:srgbClr val="1D1D1B"/>
                </a:solidFill>
                <a:latin typeface="Calibri"/>
                <a:cs typeface="Calibri"/>
              </a:rPr>
              <a:t>Python scripts</a:t>
            </a:r>
          </a:p>
        </p:txBody>
      </p:sp>
      <p:sp>
        <p:nvSpPr>
          <p:cNvPr id="13" name="TextBox 12"/>
          <p:cNvSpPr txBox="1"/>
          <p:nvPr/>
        </p:nvSpPr>
        <p:spPr>
          <a:xfrm>
            <a:off x="1115568" y="2496312"/>
            <a:ext cx="2103120" cy="164592"/>
          </a:xfrm>
          <a:prstGeom prst="rect">
            <a:avLst/>
          </a:prstGeom>
          <a:noFill/>
        </p:spPr>
        <p:txBody>
          <a:bodyPr wrap="square" lIns="0" rIns="0" tIns="0" bIns="0" anchor="t">
            <a:spAutoFit/>
          </a:bodyPr>
          <a:lstStyle/>
          <a:p>
            <a:pPr algn="l"/>
            <a:r>
              <a:rPr sz="1000" b="0" i="0">
                <a:solidFill>
                  <a:srgbClr val="595959"/>
                </a:solidFill>
                <a:latin typeface="Calibri"/>
                <a:cs typeface="Calibri"/>
              </a:rPr>
              <a:t>build_node_files.py and helpers</a:t>
            </a:r>
          </a:p>
        </p:txBody>
      </p:sp>
      <p:sp>
        <p:nvSpPr>
          <p:cNvPr id="14" name="Rounded Rectangle 13"/>
          <p:cNvSpPr/>
          <p:nvPr/>
        </p:nvSpPr>
        <p:spPr>
          <a:xfrm>
            <a:off x="640080" y="2834640"/>
            <a:ext cx="2651760" cy="548640"/>
          </a:xfrm>
          <a:prstGeom prst="roundRect">
            <a:avLst>
              <a:gd name="adj" fmla="val 10000"/>
            </a:avLst>
          </a:prstGeom>
          <a:solidFill>
            <a:srgbClr val="FFFFFF"/>
          </a:solidFill>
          <a:ln w="12700">
            <a:solidFill>
              <a:srgbClr val="CFCFCF"/>
            </a:solidFill>
          </a:ln>
          <a:effectLst/>
        </p:spPr>
        <p:txBody>
          <a:bodyPr rtlCol="0" anchor="ctr" lIns="36576" rIns="36576"/>
          <a:lstStyle/>
          <a:p>
            <a:pPr algn="ctr"/>
          </a:p>
        </p:txBody>
      </p:sp>
      <p:pic>
        <p:nvPicPr>
          <p:cNvPr id="15" name="Picture 14" descr="json_brand.png"/>
          <p:cNvPicPr>
            <a:picLocks noChangeAspect="1"/>
          </p:cNvPicPr>
          <p:nvPr/>
        </p:nvPicPr>
        <p:blipFill>
          <a:blip r:embed="rId6"/>
          <a:stretch>
            <a:fillRect/>
          </a:stretch>
        </p:blipFill>
        <p:spPr>
          <a:xfrm>
            <a:off x="749808" y="2944368"/>
            <a:ext cx="274320" cy="274320"/>
          </a:xfrm>
          <a:prstGeom prst="rect">
            <a:avLst/>
          </a:prstGeom>
        </p:spPr>
      </p:pic>
      <p:sp>
        <p:nvSpPr>
          <p:cNvPr id="16" name="TextBox 15"/>
          <p:cNvSpPr txBox="1"/>
          <p:nvPr/>
        </p:nvSpPr>
        <p:spPr>
          <a:xfrm>
            <a:off x="1115568" y="2907792"/>
            <a:ext cx="2103120" cy="274320"/>
          </a:xfrm>
          <a:prstGeom prst="rect">
            <a:avLst/>
          </a:prstGeom>
          <a:noFill/>
        </p:spPr>
        <p:txBody>
          <a:bodyPr wrap="square" lIns="0" rIns="0" tIns="0" bIns="0" anchor="ctr">
            <a:spAutoFit/>
          </a:bodyPr>
          <a:lstStyle/>
          <a:p>
            <a:pPr algn="l"/>
            <a:r>
              <a:rPr sz="1200" b="1" i="0">
                <a:solidFill>
                  <a:srgbClr val="1D1D1B"/>
                </a:solidFill>
                <a:latin typeface="Calibri"/>
                <a:cs typeface="Calibri"/>
              </a:rPr>
              <a:t>Node files</a:t>
            </a:r>
          </a:p>
        </p:txBody>
      </p:sp>
      <p:sp>
        <p:nvSpPr>
          <p:cNvPr id="17" name="TextBox 16"/>
          <p:cNvSpPr txBox="1"/>
          <p:nvPr/>
        </p:nvSpPr>
        <p:spPr>
          <a:xfrm>
            <a:off x="1115568" y="3182112"/>
            <a:ext cx="2103120" cy="164592"/>
          </a:xfrm>
          <a:prstGeom prst="rect">
            <a:avLst/>
          </a:prstGeom>
          <a:noFill/>
        </p:spPr>
        <p:txBody>
          <a:bodyPr wrap="square" lIns="0" rIns="0" tIns="0" bIns="0" anchor="t">
            <a:spAutoFit/>
          </a:bodyPr>
          <a:lstStyle/>
          <a:p>
            <a:pPr algn="l"/>
            <a:r>
              <a:rPr sz="1000" b="0" i="0">
                <a:solidFill>
                  <a:srgbClr val="595959"/>
                </a:solidFill>
                <a:latin typeface="Calibri"/>
                <a:cs typeface="Calibri"/>
              </a:rPr>
              <a:t>one JSON file per Node</a:t>
            </a:r>
          </a:p>
        </p:txBody>
      </p:sp>
      <p:cxnSp>
        <p:nvCxnSpPr>
          <p:cNvPr id="18" name="Connector 17"/>
          <p:cNvCxnSpPr/>
          <p:nvPr/>
        </p:nvCxnSpPr>
        <p:spPr>
          <a:xfrm>
            <a:off x="1965960" y="2020824"/>
            <a:ext cx="0" cy="118872"/>
          </a:xfrm>
          <a:prstGeom prst="line">
            <a:avLst/>
          </a:prstGeom>
          <a:ln w="1587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965960" y="2706624"/>
            <a:ext cx="0" cy="118872"/>
          </a:xfrm>
          <a:prstGeom prst="line">
            <a:avLst/>
          </a:prstGeom>
          <a:ln w="1587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840480" y="914400"/>
            <a:ext cx="2011680" cy="2560320"/>
          </a:xfrm>
          <a:prstGeom prst="roundRect">
            <a:avLst>
              <a:gd name="adj" fmla="val 3636"/>
            </a:avLst>
          </a:prstGeom>
          <a:solidFill>
            <a:srgbClr val="E8F0FE"/>
          </a:solidFill>
          <a:ln>
            <a:noFill/>
          </a:ln>
          <a:effectLst/>
        </p:spPr>
        <p:txBody>
          <a:bodyPr rtlCol="0" anchor="ctr" lIns="36576" rIns="36576"/>
          <a:lstStyle/>
          <a:p>
            <a:pPr algn="ctr"/>
          </a:p>
        </p:txBody>
      </p:sp>
      <p:pic>
        <p:nvPicPr>
          <p:cNvPr id="21" name="Picture 20" descr="drive_brand.png"/>
          <p:cNvPicPr>
            <a:picLocks noChangeAspect="1"/>
          </p:cNvPicPr>
          <p:nvPr/>
        </p:nvPicPr>
        <p:blipFill>
          <a:blip r:embed="rId7"/>
          <a:stretch>
            <a:fillRect/>
          </a:stretch>
        </p:blipFill>
        <p:spPr>
          <a:xfrm>
            <a:off x="3977640" y="1033271"/>
            <a:ext cx="237744" cy="237744"/>
          </a:xfrm>
          <a:prstGeom prst="rect">
            <a:avLst/>
          </a:prstGeom>
        </p:spPr>
      </p:pic>
      <p:sp>
        <p:nvSpPr>
          <p:cNvPr id="22" name="TextBox 21"/>
          <p:cNvSpPr txBox="1"/>
          <p:nvPr/>
        </p:nvSpPr>
        <p:spPr>
          <a:xfrm>
            <a:off x="4297680" y="1005840"/>
            <a:ext cx="1463040" cy="292608"/>
          </a:xfrm>
          <a:prstGeom prst="rect">
            <a:avLst/>
          </a:prstGeom>
          <a:noFill/>
        </p:spPr>
        <p:txBody>
          <a:bodyPr wrap="square" lIns="0" rIns="0" tIns="0" bIns="0" anchor="ctr">
            <a:spAutoFit/>
          </a:bodyPr>
          <a:lstStyle/>
          <a:p>
            <a:pPr algn="l"/>
            <a:r>
              <a:rPr sz="1200" b="1" i="0">
                <a:solidFill>
                  <a:srgbClr val="1A73E8"/>
                </a:solidFill>
                <a:latin typeface="Source Sans Pro"/>
                <a:cs typeface="Source Sans Pro"/>
              </a:rPr>
              <a:t>Google Drive</a:t>
            </a:r>
          </a:p>
        </p:txBody>
      </p:sp>
      <p:sp>
        <p:nvSpPr>
          <p:cNvPr id="23" name="Rounded Rectangle 22"/>
          <p:cNvSpPr/>
          <p:nvPr/>
        </p:nvSpPr>
        <p:spPr>
          <a:xfrm>
            <a:off x="4005072" y="1353312"/>
            <a:ext cx="1682496" cy="548640"/>
          </a:xfrm>
          <a:prstGeom prst="roundRect">
            <a:avLst>
              <a:gd name="adj" fmla="val 10000"/>
            </a:avLst>
          </a:prstGeom>
          <a:solidFill>
            <a:srgbClr val="FFFFFF"/>
          </a:solidFill>
          <a:ln w="12700">
            <a:solidFill>
              <a:srgbClr val="CFCFCF"/>
            </a:solidFill>
          </a:ln>
          <a:effectLst/>
        </p:spPr>
        <p:txBody>
          <a:bodyPr rtlCol="0" anchor="ctr" lIns="36576" rIns="36576"/>
          <a:lstStyle/>
          <a:p>
            <a:pPr algn="ctr"/>
          </a:p>
        </p:txBody>
      </p:sp>
      <p:pic>
        <p:nvPicPr>
          <p:cNvPr id="24" name="Picture 23" descr="folder_brand.png"/>
          <p:cNvPicPr>
            <a:picLocks noChangeAspect="1"/>
          </p:cNvPicPr>
          <p:nvPr/>
        </p:nvPicPr>
        <p:blipFill>
          <a:blip r:embed="rId8"/>
          <a:stretch>
            <a:fillRect/>
          </a:stretch>
        </p:blipFill>
        <p:spPr>
          <a:xfrm>
            <a:off x="4114800" y="1463040"/>
            <a:ext cx="274320" cy="274320"/>
          </a:xfrm>
          <a:prstGeom prst="rect">
            <a:avLst/>
          </a:prstGeom>
        </p:spPr>
      </p:pic>
      <p:sp>
        <p:nvSpPr>
          <p:cNvPr id="25" name="TextBox 24"/>
          <p:cNvSpPr txBox="1"/>
          <p:nvPr/>
        </p:nvSpPr>
        <p:spPr>
          <a:xfrm>
            <a:off x="4480560" y="1426464"/>
            <a:ext cx="1133855" cy="274320"/>
          </a:xfrm>
          <a:prstGeom prst="rect">
            <a:avLst/>
          </a:prstGeom>
          <a:noFill/>
        </p:spPr>
        <p:txBody>
          <a:bodyPr wrap="square" lIns="0" rIns="0" tIns="0" bIns="0" anchor="ctr">
            <a:spAutoFit/>
          </a:bodyPr>
          <a:lstStyle/>
          <a:p>
            <a:pPr algn="l"/>
            <a:r>
              <a:rPr sz="1200" b="1" i="0">
                <a:solidFill>
                  <a:srgbClr val="1D1D1B"/>
                </a:solidFill>
                <a:latin typeface="Calibri"/>
                <a:cs typeface="Calibri"/>
              </a:rPr>
              <a:t>Node files</a:t>
            </a:r>
          </a:p>
        </p:txBody>
      </p:sp>
      <p:sp>
        <p:nvSpPr>
          <p:cNvPr id="26" name="TextBox 25"/>
          <p:cNvSpPr txBox="1"/>
          <p:nvPr/>
        </p:nvSpPr>
        <p:spPr>
          <a:xfrm>
            <a:off x="4480560" y="1700784"/>
            <a:ext cx="1133855" cy="164592"/>
          </a:xfrm>
          <a:prstGeom prst="rect">
            <a:avLst/>
          </a:prstGeom>
          <a:noFill/>
        </p:spPr>
        <p:txBody>
          <a:bodyPr wrap="square" lIns="0" rIns="0" tIns="0" bIns="0" anchor="t">
            <a:spAutoFit/>
          </a:bodyPr>
          <a:lstStyle/>
          <a:p>
            <a:pPr algn="l"/>
            <a:r>
              <a:rPr sz="1000" b="0" i="0">
                <a:solidFill>
                  <a:srgbClr val="595959"/>
                </a:solidFill>
                <a:latin typeface="Calibri"/>
                <a:cs typeface="Calibri"/>
              </a:rPr>
              <a:t>uploaded copy</a:t>
            </a:r>
          </a:p>
        </p:txBody>
      </p:sp>
      <p:sp>
        <p:nvSpPr>
          <p:cNvPr id="27" name="Rounded Rectangle 26"/>
          <p:cNvSpPr/>
          <p:nvPr/>
        </p:nvSpPr>
        <p:spPr>
          <a:xfrm>
            <a:off x="4005072" y="2724912"/>
            <a:ext cx="1682496" cy="548640"/>
          </a:xfrm>
          <a:prstGeom prst="roundRect">
            <a:avLst>
              <a:gd name="adj" fmla="val 10000"/>
            </a:avLst>
          </a:prstGeom>
          <a:solidFill>
            <a:srgbClr val="FFFFFF"/>
          </a:solidFill>
          <a:ln w="12700">
            <a:solidFill>
              <a:srgbClr val="CFCFCF"/>
            </a:solidFill>
          </a:ln>
          <a:effectLst/>
        </p:spPr>
        <p:txBody>
          <a:bodyPr rtlCol="0" anchor="ctr" lIns="36576" rIns="36576"/>
          <a:lstStyle/>
          <a:p>
            <a:pPr algn="ctr"/>
          </a:p>
        </p:txBody>
      </p:sp>
      <p:pic>
        <p:nvPicPr>
          <p:cNvPr id="28" name="Picture 27" descr="folder_brand.png"/>
          <p:cNvPicPr>
            <a:picLocks noChangeAspect="1"/>
          </p:cNvPicPr>
          <p:nvPr/>
        </p:nvPicPr>
        <p:blipFill>
          <a:blip r:embed="rId8"/>
          <a:stretch>
            <a:fillRect/>
          </a:stretch>
        </p:blipFill>
        <p:spPr>
          <a:xfrm>
            <a:off x="4114800" y="2834640"/>
            <a:ext cx="274320" cy="274320"/>
          </a:xfrm>
          <a:prstGeom prst="rect">
            <a:avLst/>
          </a:prstGeom>
        </p:spPr>
      </p:pic>
      <p:sp>
        <p:nvSpPr>
          <p:cNvPr id="29" name="TextBox 28"/>
          <p:cNvSpPr txBox="1"/>
          <p:nvPr/>
        </p:nvSpPr>
        <p:spPr>
          <a:xfrm>
            <a:off x="4480560" y="2798064"/>
            <a:ext cx="1133855" cy="274320"/>
          </a:xfrm>
          <a:prstGeom prst="rect">
            <a:avLst/>
          </a:prstGeom>
          <a:noFill/>
        </p:spPr>
        <p:txBody>
          <a:bodyPr wrap="square" lIns="0" rIns="0" tIns="0" bIns="0" anchor="ctr">
            <a:spAutoFit/>
          </a:bodyPr>
          <a:lstStyle/>
          <a:p>
            <a:pPr algn="l"/>
            <a:r>
              <a:rPr sz="1200" b="1" i="0">
                <a:solidFill>
                  <a:srgbClr val="1D1D1B"/>
                </a:solidFill>
                <a:latin typeface="Calibri"/>
                <a:cs typeface="Calibri"/>
              </a:rPr>
              <a:t>EB-Nodes</a:t>
            </a:r>
          </a:p>
        </p:txBody>
      </p:sp>
      <p:sp>
        <p:nvSpPr>
          <p:cNvPr id="30" name="TextBox 29"/>
          <p:cNvSpPr txBox="1"/>
          <p:nvPr/>
        </p:nvSpPr>
        <p:spPr>
          <a:xfrm>
            <a:off x="4480560" y="3072384"/>
            <a:ext cx="1133855" cy="164592"/>
          </a:xfrm>
          <a:prstGeom prst="rect">
            <a:avLst/>
          </a:prstGeom>
          <a:noFill/>
        </p:spPr>
        <p:txBody>
          <a:bodyPr wrap="square" lIns="0" rIns="0" tIns="0" bIns="0" anchor="t">
            <a:spAutoFit/>
          </a:bodyPr>
          <a:lstStyle/>
          <a:p>
            <a:pPr algn="l"/>
            <a:r>
              <a:rPr sz="1000" b="0" i="0">
                <a:solidFill>
                  <a:srgbClr val="595959"/>
                </a:solidFill>
                <a:latin typeface="Calibri"/>
                <a:cs typeface="Calibri"/>
              </a:rPr>
              <a:t>finished pages</a:t>
            </a:r>
          </a:p>
        </p:txBody>
      </p:sp>
      <p:sp>
        <p:nvSpPr>
          <p:cNvPr id="31" name="Rounded Rectangle 30"/>
          <p:cNvSpPr/>
          <p:nvPr/>
        </p:nvSpPr>
        <p:spPr>
          <a:xfrm>
            <a:off x="6126480" y="914400"/>
            <a:ext cx="2560320" cy="2560320"/>
          </a:xfrm>
          <a:prstGeom prst="roundRect">
            <a:avLst>
              <a:gd name="adj" fmla="val 2857"/>
            </a:avLst>
          </a:prstGeom>
          <a:solidFill>
            <a:srgbClr val="FDECF1"/>
          </a:solidFill>
          <a:ln>
            <a:noFill/>
          </a:ln>
          <a:effectLst/>
        </p:spPr>
        <p:txBody>
          <a:bodyPr rtlCol="0" anchor="ctr" lIns="36576" rIns="36576"/>
          <a:lstStyle/>
          <a:p>
            <a:pPr algn="ctr"/>
          </a:p>
        </p:txBody>
      </p:sp>
      <p:pic>
        <p:nvPicPr>
          <p:cNvPr id="32" name="Picture 31" descr="n8n_brand.png"/>
          <p:cNvPicPr>
            <a:picLocks noChangeAspect="1"/>
          </p:cNvPicPr>
          <p:nvPr/>
        </p:nvPicPr>
        <p:blipFill>
          <a:blip r:embed="rId9"/>
          <a:stretch>
            <a:fillRect/>
          </a:stretch>
        </p:blipFill>
        <p:spPr>
          <a:xfrm>
            <a:off x="6263640" y="1033271"/>
            <a:ext cx="237744" cy="237744"/>
          </a:xfrm>
          <a:prstGeom prst="rect">
            <a:avLst/>
          </a:prstGeom>
        </p:spPr>
      </p:pic>
      <p:sp>
        <p:nvSpPr>
          <p:cNvPr id="33" name="TextBox 32"/>
          <p:cNvSpPr txBox="1"/>
          <p:nvPr/>
        </p:nvSpPr>
        <p:spPr>
          <a:xfrm>
            <a:off x="6583680" y="1005840"/>
            <a:ext cx="2011679" cy="292608"/>
          </a:xfrm>
          <a:prstGeom prst="rect">
            <a:avLst/>
          </a:prstGeom>
          <a:noFill/>
        </p:spPr>
        <p:txBody>
          <a:bodyPr wrap="square" lIns="0" rIns="0" tIns="0" bIns="0" anchor="ctr">
            <a:spAutoFit/>
          </a:bodyPr>
          <a:lstStyle/>
          <a:p>
            <a:pPr algn="l"/>
            <a:r>
              <a:rPr sz="1200" b="1" i="0">
                <a:solidFill>
                  <a:srgbClr val="C2185B"/>
                </a:solidFill>
                <a:latin typeface="Source Sans Pro"/>
                <a:cs typeface="Source Sans Pro"/>
              </a:rPr>
              <a:t>n8n cloud</a:t>
            </a:r>
          </a:p>
        </p:txBody>
      </p:sp>
      <p:sp>
        <p:nvSpPr>
          <p:cNvPr id="34" name="Rounded Rectangle 33"/>
          <p:cNvSpPr/>
          <p:nvPr/>
        </p:nvSpPr>
        <p:spPr>
          <a:xfrm>
            <a:off x="6291072" y="1353312"/>
            <a:ext cx="2231136" cy="868680"/>
          </a:xfrm>
          <a:prstGeom prst="roundRect">
            <a:avLst>
              <a:gd name="adj" fmla="val 6315"/>
            </a:avLst>
          </a:prstGeom>
          <a:solidFill>
            <a:srgbClr val="FFFFFF"/>
          </a:solidFill>
          <a:ln w="12700">
            <a:solidFill>
              <a:srgbClr val="CFCFCF"/>
            </a:solidFill>
          </a:ln>
          <a:effectLst/>
        </p:spPr>
        <p:txBody>
          <a:bodyPr rtlCol="0" anchor="ctr" lIns="36576" rIns="36576"/>
          <a:lstStyle/>
          <a:p>
            <a:pPr algn="ctr"/>
          </a:p>
        </p:txBody>
      </p:sp>
      <p:sp>
        <p:nvSpPr>
          <p:cNvPr id="35" name="TextBox 34"/>
          <p:cNvSpPr txBox="1"/>
          <p:nvPr/>
        </p:nvSpPr>
        <p:spPr>
          <a:xfrm>
            <a:off x="6400800" y="1426464"/>
            <a:ext cx="2048256" cy="274320"/>
          </a:xfrm>
          <a:prstGeom prst="rect">
            <a:avLst/>
          </a:prstGeom>
          <a:noFill/>
        </p:spPr>
        <p:txBody>
          <a:bodyPr wrap="square" lIns="0" rIns="0" tIns="0" bIns="0" anchor="ctr">
            <a:spAutoFit/>
          </a:bodyPr>
          <a:lstStyle/>
          <a:p>
            <a:pPr algn="l"/>
            <a:r>
              <a:rPr sz="1200" b="1" i="0">
                <a:solidFill>
                  <a:srgbClr val="1D1D1B"/>
                </a:solidFill>
                <a:latin typeface="Calibri"/>
                <a:cs typeface="Calibri"/>
              </a:rPr>
              <a:t>EB-NODES KB descriptions</a:t>
            </a:r>
          </a:p>
        </p:txBody>
      </p:sp>
      <p:sp>
        <p:nvSpPr>
          <p:cNvPr id="36" name="TextBox 35"/>
          <p:cNvSpPr txBox="1"/>
          <p:nvPr/>
        </p:nvSpPr>
        <p:spPr>
          <a:xfrm>
            <a:off x="6400800" y="1700784"/>
            <a:ext cx="2048256" cy="484632"/>
          </a:xfrm>
          <a:prstGeom prst="rect">
            <a:avLst/>
          </a:prstGeom>
          <a:noFill/>
        </p:spPr>
        <p:txBody>
          <a:bodyPr wrap="square" lIns="0" rIns="0" tIns="0" bIns="0" anchor="t">
            <a:spAutoFit/>
          </a:bodyPr>
          <a:lstStyle/>
          <a:p>
            <a:pPr algn="l"/>
            <a:r>
              <a:rPr sz="1000" b="0" i="0">
                <a:solidFill>
                  <a:srgbClr val="595959"/>
                </a:solidFill>
                <a:latin typeface="Calibri"/>
                <a:cs typeface="Calibri"/>
              </a:rPr>
              <a:t>reads each Node file, writes the text, builds the page</a:t>
            </a:r>
          </a:p>
        </p:txBody>
      </p:sp>
      <p:sp>
        <p:nvSpPr>
          <p:cNvPr id="37" name="Rounded Rectangle 36"/>
          <p:cNvSpPr/>
          <p:nvPr/>
        </p:nvSpPr>
        <p:spPr>
          <a:xfrm>
            <a:off x="6291072" y="2514600"/>
            <a:ext cx="2231136" cy="640080"/>
          </a:xfrm>
          <a:prstGeom prst="roundRect">
            <a:avLst>
              <a:gd name="adj" fmla="val 8571"/>
            </a:avLst>
          </a:prstGeom>
          <a:solidFill>
            <a:srgbClr val="FFFFFF"/>
          </a:solidFill>
          <a:ln w="12700">
            <a:solidFill>
              <a:srgbClr val="CFCFCF"/>
            </a:solidFill>
          </a:ln>
          <a:effectLst/>
        </p:spPr>
        <p:txBody>
          <a:bodyPr rtlCol="0" anchor="ctr" lIns="36576" rIns="36576"/>
          <a:lstStyle/>
          <a:p>
            <a:pPr algn="ctr"/>
          </a:p>
        </p:txBody>
      </p:sp>
      <p:pic>
        <p:nvPicPr>
          <p:cNvPr id="38" name="Picture 37" descr="claude_brand.png"/>
          <p:cNvPicPr>
            <a:picLocks noChangeAspect="1"/>
          </p:cNvPicPr>
          <p:nvPr/>
        </p:nvPicPr>
        <p:blipFill>
          <a:blip r:embed="rId10"/>
          <a:stretch>
            <a:fillRect/>
          </a:stretch>
        </p:blipFill>
        <p:spPr>
          <a:xfrm>
            <a:off x="6400800" y="2624328"/>
            <a:ext cx="274320" cy="274320"/>
          </a:xfrm>
          <a:prstGeom prst="rect">
            <a:avLst/>
          </a:prstGeom>
        </p:spPr>
      </p:pic>
      <p:sp>
        <p:nvSpPr>
          <p:cNvPr id="39" name="TextBox 38"/>
          <p:cNvSpPr txBox="1"/>
          <p:nvPr/>
        </p:nvSpPr>
        <p:spPr>
          <a:xfrm>
            <a:off x="6766560" y="2587752"/>
            <a:ext cx="1682495" cy="274320"/>
          </a:xfrm>
          <a:prstGeom prst="rect">
            <a:avLst/>
          </a:prstGeom>
          <a:noFill/>
        </p:spPr>
        <p:txBody>
          <a:bodyPr wrap="square" lIns="0" rIns="0" tIns="0" bIns="0" anchor="ctr">
            <a:spAutoFit/>
          </a:bodyPr>
          <a:lstStyle/>
          <a:p>
            <a:pPr algn="l"/>
            <a:r>
              <a:rPr sz="1200" b="1" i="0">
                <a:solidFill>
                  <a:srgbClr val="1D1D1B"/>
                </a:solidFill>
                <a:latin typeface="Calibri"/>
                <a:cs typeface="Calibri"/>
              </a:rPr>
              <a:t>Claude Opus 5.5</a:t>
            </a:r>
          </a:p>
        </p:txBody>
      </p:sp>
      <p:sp>
        <p:nvSpPr>
          <p:cNvPr id="40" name="TextBox 39"/>
          <p:cNvSpPr txBox="1"/>
          <p:nvPr/>
        </p:nvSpPr>
        <p:spPr>
          <a:xfrm>
            <a:off x="6766560" y="2862072"/>
            <a:ext cx="1682495" cy="256031"/>
          </a:xfrm>
          <a:prstGeom prst="rect">
            <a:avLst/>
          </a:prstGeom>
          <a:noFill/>
        </p:spPr>
        <p:txBody>
          <a:bodyPr wrap="square" lIns="0" rIns="0" tIns="0" bIns="0" anchor="t">
            <a:spAutoFit/>
          </a:bodyPr>
          <a:lstStyle/>
          <a:p>
            <a:pPr algn="l"/>
            <a:r>
              <a:rPr sz="1000" b="0" i="0">
                <a:solidFill>
                  <a:srgbClr val="595959"/>
                </a:solidFill>
                <a:latin typeface="Calibri"/>
                <a:cs typeface="Calibri"/>
              </a:rPr>
              <a:t>writes the text sections</a:t>
            </a:r>
          </a:p>
        </p:txBody>
      </p:sp>
      <p:cxnSp>
        <p:nvCxnSpPr>
          <p:cNvPr id="41" name="Connector 40"/>
          <p:cNvCxnSpPr/>
          <p:nvPr/>
        </p:nvCxnSpPr>
        <p:spPr>
          <a:xfrm flipV="1">
            <a:off x="3310128" y="1691640"/>
            <a:ext cx="676656" cy="1417320"/>
          </a:xfrm>
          <a:prstGeom prst="line">
            <a:avLst/>
          </a:prstGeom>
          <a:ln w="19050">
            <a:solidFill>
              <a:srgbClr val="1A73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154680" y="3474720"/>
            <a:ext cx="1097280" cy="274320"/>
          </a:xfrm>
          <a:prstGeom prst="rect">
            <a:avLst/>
          </a:prstGeom>
          <a:noFill/>
        </p:spPr>
        <p:txBody>
          <a:bodyPr wrap="square" lIns="0" rIns="0" tIns="0" bIns="0" anchor="t">
            <a:spAutoFit/>
          </a:bodyPr>
          <a:lstStyle/>
          <a:p>
            <a:pPr algn="l"/>
            <a:r>
              <a:rPr sz="1000" b="0" i="1">
                <a:solidFill>
                  <a:srgbClr val="1A73E8"/>
                </a:solidFill>
                <a:latin typeface="Calibri"/>
                <a:cs typeface="Calibri"/>
              </a:rPr>
              <a:t>upload to Drive</a:t>
            </a:r>
          </a:p>
        </p:txBody>
      </p:sp>
      <p:cxnSp>
        <p:nvCxnSpPr>
          <p:cNvPr id="43" name="Connector 42"/>
          <p:cNvCxnSpPr/>
          <p:nvPr/>
        </p:nvCxnSpPr>
        <p:spPr>
          <a:xfrm>
            <a:off x="5705856" y="1627632"/>
            <a:ext cx="566928" cy="91440"/>
          </a:xfrm>
          <a:prstGeom prst="line">
            <a:avLst/>
          </a:prstGeom>
          <a:ln w="19050">
            <a:solidFill>
              <a:srgbClr val="C218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742432" y="1298448"/>
            <a:ext cx="731520" cy="274320"/>
          </a:xfrm>
          <a:prstGeom prst="rect">
            <a:avLst/>
          </a:prstGeom>
          <a:noFill/>
        </p:spPr>
        <p:txBody>
          <a:bodyPr wrap="square" lIns="0" rIns="0" tIns="0" bIns="0" anchor="t">
            <a:spAutoFit/>
          </a:bodyPr>
          <a:lstStyle/>
          <a:p>
            <a:pPr algn="l"/>
            <a:r>
              <a:rPr sz="1000" b="0" i="1">
                <a:solidFill>
                  <a:srgbClr val="C2185B"/>
                </a:solidFill>
                <a:latin typeface="Calibri"/>
                <a:cs typeface="Calibri"/>
              </a:rPr>
              <a:t>read</a:t>
            </a:r>
          </a:p>
        </p:txBody>
      </p:sp>
      <p:cxnSp>
        <p:nvCxnSpPr>
          <p:cNvPr id="45" name="Connector 44"/>
          <p:cNvCxnSpPr/>
          <p:nvPr/>
        </p:nvCxnSpPr>
        <p:spPr>
          <a:xfrm flipH="1">
            <a:off x="5705856" y="2011680"/>
            <a:ext cx="566928" cy="960120"/>
          </a:xfrm>
          <a:prstGeom prst="line">
            <a:avLst/>
          </a:prstGeom>
          <a:ln w="19050">
            <a:solidFill>
              <a:srgbClr val="C218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669280" y="2331720"/>
            <a:ext cx="731520" cy="274320"/>
          </a:xfrm>
          <a:prstGeom prst="rect">
            <a:avLst/>
          </a:prstGeom>
          <a:noFill/>
        </p:spPr>
        <p:txBody>
          <a:bodyPr wrap="square" lIns="0" rIns="0" tIns="0" bIns="0" anchor="t">
            <a:spAutoFit/>
          </a:bodyPr>
          <a:lstStyle/>
          <a:p>
            <a:pPr algn="l"/>
            <a:r>
              <a:rPr sz="1000" b="0" i="1">
                <a:solidFill>
                  <a:srgbClr val="C2185B"/>
                </a:solidFill>
                <a:latin typeface="Calibri"/>
                <a:cs typeface="Calibri"/>
              </a:rPr>
              <a:t>save</a:t>
            </a:r>
          </a:p>
        </p:txBody>
      </p:sp>
      <p:sp>
        <p:nvSpPr>
          <p:cNvPr id="47" name="Rounded Rectangle 46"/>
          <p:cNvSpPr/>
          <p:nvPr/>
        </p:nvSpPr>
        <p:spPr>
          <a:xfrm>
            <a:off x="3840480" y="3657600"/>
            <a:ext cx="4846320" cy="777240"/>
          </a:xfrm>
          <a:prstGeom prst="roundRect">
            <a:avLst>
              <a:gd name="adj" fmla="val 9411"/>
            </a:avLst>
          </a:prstGeom>
          <a:solidFill>
            <a:srgbClr val="EEEEEE"/>
          </a:solidFill>
          <a:ln>
            <a:noFill/>
          </a:ln>
          <a:effectLst/>
        </p:spPr>
        <p:txBody>
          <a:bodyPr rtlCol="0" anchor="ctr" lIns="36576" rIns="36576"/>
          <a:lstStyle/>
          <a:p>
            <a:pPr algn="ctr"/>
          </a:p>
        </p:txBody>
      </p:sp>
      <p:pic>
        <p:nvPicPr>
          <p:cNvPr id="48" name="Picture 47" descr="github_brand.png"/>
          <p:cNvPicPr>
            <a:picLocks noChangeAspect="1"/>
          </p:cNvPicPr>
          <p:nvPr/>
        </p:nvPicPr>
        <p:blipFill>
          <a:blip r:embed="rId11"/>
          <a:stretch>
            <a:fillRect/>
          </a:stretch>
        </p:blipFill>
        <p:spPr>
          <a:xfrm>
            <a:off x="3977640" y="3776472"/>
            <a:ext cx="237744" cy="237744"/>
          </a:xfrm>
          <a:prstGeom prst="rect">
            <a:avLst/>
          </a:prstGeom>
        </p:spPr>
      </p:pic>
      <p:sp>
        <p:nvSpPr>
          <p:cNvPr id="49" name="TextBox 48"/>
          <p:cNvSpPr txBox="1"/>
          <p:nvPr/>
        </p:nvSpPr>
        <p:spPr>
          <a:xfrm>
            <a:off x="4297680" y="3749039"/>
            <a:ext cx="4297680" cy="292608"/>
          </a:xfrm>
          <a:prstGeom prst="rect">
            <a:avLst/>
          </a:prstGeom>
          <a:noFill/>
        </p:spPr>
        <p:txBody>
          <a:bodyPr wrap="square" lIns="0" rIns="0" tIns="0" bIns="0" anchor="ctr">
            <a:spAutoFit/>
          </a:bodyPr>
          <a:lstStyle/>
          <a:p>
            <a:pPr algn="l"/>
            <a:r>
              <a:rPr sz="1200" b="1" i="0">
                <a:solidFill>
                  <a:srgbClr val="1D1D1B"/>
                </a:solidFill>
                <a:latin typeface="Source Sans Pro"/>
                <a:cs typeface="Source Sans Pro"/>
              </a:rPr>
              <a:t>GitHub</a:t>
            </a:r>
          </a:p>
        </p:txBody>
      </p:sp>
      <p:sp>
        <p:nvSpPr>
          <p:cNvPr id="50" name="TextBox 49"/>
          <p:cNvSpPr txBox="1"/>
          <p:nvPr/>
        </p:nvSpPr>
        <p:spPr>
          <a:xfrm>
            <a:off x="5120640" y="3657600"/>
            <a:ext cx="3474720" cy="777240"/>
          </a:xfrm>
          <a:prstGeom prst="rect">
            <a:avLst/>
          </a:prstGeom>
          <a:noFill/>
        </p:spPr>
        <p:txBody>
          <a:bodyPr wrap="square" lIns="0" rIns="0" tIns="0" bIns="0" anchor="ctr">
            <a:spAutoFit/>
          </a:bodyPr>
          <a:lstStyle/>
          <a:p>
            <a:pPr algn="l"/>
            <a:r>
              <a:rPr sz="1100" b="0" i="0">
                <a:solidFill>
                  <a:srgbClr val="595959"/>
                </a:solidFill>
                <a:latin typeface="Calibri"/>
                <a:cs typeface="Calibri"/>
              </a:rPr>
              <a:t>finished pages, code and prompt</a:t>
            </a:r>
          </a:p>
        </p:txBody>
      </p:sp>
      <p:cxnSp>
        <p:nvCxnSpPr>
          <p:cNvPr id="51" name="Connector 50"/>
          <p:cNvCxnSpPr/>
          <p:nvPr/>
        </p:nvCxnSpPr>
        <p:spPr>
          <a:xfrm>
            <a:off x="4846320" y="3291840"/>
            <a:ext cx="0" cy="347472"/>
          </a:xfrm>
          <a:prstGeom prst="line">
            <a:avLst/>
          </a:prstGeom>
          <a:ln w="19050">
            <a:solidFill>
              <a:srgbClr val="1D1D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919472" y="3401568"/>
            <a:ext cx="1828800" cy="237744"/>
          </a:xfrm>
          <a:prstGeom prst="rect">
            <a:avLst/>
          </a:prstGeom>
          <a:noFill/>
        </p:spPr>
        <p:txBody>
          <a:bodyPr wrap="square" lIns="0" rIns="0" tIns="0" bIns="0" anchor="t">
            <a:spAutoFit/>
          </a:bodyPr>
          <a:lstStyle/>
          <a:p>
            <a:pPr algn="l"/>
            <a:r>
              <a:rPr sz="1000" b="0" i="1">
                <a:solidFill>
                  <a:srgbClr val="1D1D1B"/>
                </a:solidFill>
                <a:latin typeface="Calibri"/>
                <a:cs typeface="Calibri"/>
              </a:rPr>
              <a:t>uploaded by hand</a:t>
            </a:r>
          </a:p>
        </p:txBody>
      </p:sp>
      <p:cxnSp>
        <p:nvCxnSpPr>
          <p:cNvPr id="53" name="Connector 52"/>
          <p:cNvCxnSpPr/>
          <p:nvPr/>
        </p:nvCxnSpPr>
        <p:spPr>
          <a:xfrm>
            <a:off x="1965960" y="3493008"/>
            <a:ext cx="0" cy="548640"/>
          </a:xfrm>
          <a:prstGeom prst="line">
            <a:avLst/>
          </a:prstGeom>
          <a:ln w="15875">
            <a:solidFill>
              <a:srgbClr val="9E9E9E"/>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965960" y="4041648"/>
            <a:ext cx="1856232" cy="0"/>
          </a:xfrm>
          <a:prstGeom prst="line">
            <a:avLst/>
          </a:prstGeom>
          <a:ln w="15875">
            <a:solidFill>
              <a:srgbClr val="9E9E9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2057400" y="3767328"/>
            <a:ext cx="2103120" cy="237744"/>
          </a:xfrm>
          <a:prstGeom prst="rect">
            <a:avLst/>
          </a:prstGeom>
          <a:noFill/>
        </p:spPr>
        <p:txBody>
          <a:bodyPr wrap="square" lIns="0" rIns="0" tIns="0" bIns="0" anchor="t">
            <a:spAutoFit/>
          </a:bodyPr>
          <a:lstStyle/>
          <a:p>
            <a:pPr algn="l"/>
            <a:r>
              <a:rPr sz="1000" b="0" i="1">
                <a:solidFill>
                  <a:srgbClr val="8C8C8C"/>
                </a:solidFill>
                <a:latin typeface="Calibri"/>
                <a:cs typeface="Calibri"/>
              </a:rPr>
              <a:t>code and prompt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What we take from the Knowledge Base Master</a:t>
            </a:r>
          </a:p>
        </p:txBody>
      </p:sp>
      <p:sp>
        <p:nvSpPr>
          <p:cNvPr id="3" name="Rounded Rectangle 2"/>
          <p:cNvSpPr/>
          <p:nvPr/>
        </p:nvSpPr>
        <p:spPr>
          <a:xfrm>
            <a:off x="457200" y="914400"/>
            <a:ext cx="2590800" cy="3108960"/>
          </a:xfrm>
          <a:prstGeom prst="roundRect">
            <a:avLst>
              <a:gd name="adj" fmla="val 2823"/>
            </a:avLst>
          </a:prstGeom>
          <a:solidFill>
            <a:srgbClr val="FAFAFA"/>
          </a:solidFill>
          <a:ln w="9525">
            <a:solidFill>
              <a:srgbClr val="E3E3E3"/>
            </a:solidFill>
          </a:ln>
          <a:effectLst/>
        </p:spPr>
        <p:txBody>
          <a:bodyPr rtlCol="0" anchor="ctr" lIns="36576" rIns="36576"/>
          <a:lstStyle/>
          <a:p>
            <a:pPr algn="ctr"/>
          </a:p>
        </p:txBody>
      </p:sp>
      <p:sp>
        <p:nvSpPr>
          <p:cNvPr id="4" name="Rounded Rectangle 3"/>
          <p:cNvSpPr/>
          <p:nvPr/>
        </p:nvSpPr>
        <p:spPr>
          <a:xfrm>
            <a:off x="457200" y="914400"/>
            <a:ext cx="2590800" cy="566928"/>
          </a:xfrm>
          <a:prstGeom prst="roundRect">
            <a:avLst>
              <a:gd name="adj" fmla="val 12903"/>
            </a:avLst>
          </a:prstGeom>
          <a:solidFill>
            <a:srgbClr val="009B3C"/>
          </a:solidFill>
          <a:ln>
            <a:noFill/>
          </a:ln>
          <a:effectLst/>
        </p:spPr>
        <p:txBody>
          <a:bodyPr rtlCol="0" anchor="ctr" lIns="36576" rIns="36576"/>
          <a:lstStyle/>
          <a:p>
            <a:pPr algn="ctr"/>
          </a:p>
        </p:txBody>
      </p:sp>
      <p:sp>
        <p:nvSpPr>
          <p:cNvPr id="5" name="Rectangle 4"/>
          <p:cNvSpPr/>
          <p:nvPr/>
        </p:nvSpPr>
        <p:spPr>
          <a:xfrm>
            <a:off x="457200" y="1234440"/>
            <a:ext cx="2590800" cy="246888"/>
          </a:xfrm>
          <a:prstGeom prst="rect">
            <a:avLst/>
          </a:prstGeom>
          <a:solidFill>
            <a:srgbClr val="009B3C"/>
          </a:solidFill>
          <a:ln>
            <a:noFill/>
          </a:ln>
          <a:effectLst/>
        </p:spPr>
        <p:txBody>
          <a:bodyPr rtlCol="0" anchor="ctr" lIns="36576" rIns="36576"/>
          <a:lstStyle/>
          <a:p>
            <a:pPr algn="ctr"/>
          </a:p>
        </p:txBody>
      </p:sp>
      <p:sp>
        <p:nvSpPr>
          <p:cNvPr id="6" name="TextBox 5"/>
          <p:cNvSpPr txBox="1"/>
          <p:nvPr/>
        </p:nvSpPr>
        <p:spPr>
          <a:xfrm>
            <a:off x="621792" y="914400"/>
            <a:ext cx="2316480" cy="347472"/>
          </a:xfrm>
          <a:prstGeom prst="rect">
            <a:avLst/>
          </a:prstGeom>
          <a:noFill/>
        </p:spPr>
        <p:txBody>
          <a:bodyPr wrap="square" lIns="0" rIns="0" tIns="0" bIns="0" anchor="ctr">
            <a:spAutoFit/>
          </a:bodyPr>
          <a:lstStyle/>
          <a:p>
            <a:pPr algn="l"/>
            <a:r>
              <a:rPr sz="1300" b="1" i="0">
                <a:solidFill>
                  <a:srgbClr val="FFFFFF"/>
                </a:solidFill>
                <a:latin typeface="Source Sans Pro"/>
                <a:cs typeface="Source Sans Pro"/>
              </a:rPr>
              <a:t>Used by the AI writer</a:t>
            </a:r>
          </a:p>
        </p:txBody>
      </p:sp>
      <p:sp>
        <p:nvSpPr>
          <p:cNvPr id="7" name="TextBox 6"/>
          <p:cNvSpPr txBox="1"/>
          <p:nvPr/>
        </p:nvSpPr>
        <p:spPr>
          <a:xfrm>
            <a:off x="621792" y="1216152"/>
            <a:ext cx="2316480" cy="237744"/>
          </a:xfrm>
          <a:prstGeom prst="rect">
            <a:avLst/>
          </a:prstGeom>
          <a:noFill/>
        </p:spPr>
        <p:txBody>
          <a:bodyPr wrap="square" lIns="0" rIns="0" tIns="0" bIns="0" anchor="ctr">
            <a:spAutoFit/>
          </a:bodyPr>
          <a:lstStyle/>
          <a:p>
            <a:pPr algn="l"/>
            <a:r>
              <a:rPr sz="1000" b="0" i="0">
                <a:solidFill>
                  <a:srgbClr val="FFFFFF"/>
                </a:solidFill>
                <a:latin typeface="Consolas"/>
                <a:cs typeface="Consolas"/>
              </a:rPr>
              <a:t>node_briefing</a:t>
            </a:r>
          </a:p>
        </p:txBody>
      </p:sp>
      <p:sp>
        <p:nvSpPr>
          <p:cNvPr id="8" name="TextBox 7"/>
          <p:cNvSpPr txBox="1"/>
          <p:nvPr/>
        </p:nvSpPr>
        <p:spPr>
          <a:xfrm>
            <a:off x="621792" y="1600200"/>
            <a:ext cx="2316480" cy="292608"/>
          </a:xfrm>
          <a:prstGeom prst="rect">
            <a:avLst/>
          </a:prstGeom>
          <a:noFill/>
        </p:spPr>
        <p:txBody>
          <a:bodyPr wrap="square" lIns="0" rIns="0" tIns="0" bIns="0" anchor="t">
            <a:spAutoFit/>
          </a:bodyPr>
          <a:lstStyle/>
          <a:p>
            <a:pPr algn="l"/>
            <a:r>
              <a:rPr sz="1100" b="1" i="0">
                <a:solidFill>
                  <a:srgbClr val="1D1D1B"/>
                </a:solidFill>
                <a:latin typeface="Calibri"/>
                <a:cs typeface="Calibri"/>
              </a:rPr>
              <a:t>Nodes, Facilities</a:t>
            </a:r>
          </a:p>
        </p:txBody>
      </p:sp>
      <p:sp>
        <p:nvSpPr>
          <p:cNvPr id="9" name="TextBox 8"/>
          <p:cNvSpPr txBox="1"/>
          <p:nvPr/>
        </p:nvSpPr>
        <p:spPr>
          <a:xfrm>
            <a:off x="621792" y="1847088"/>
            <a:ext cx="2316480" cy="548640"/>
          </a:xfrm>
          <a:prstGeom prst="rect">
            <a:avLst/>
          </a:prstGeom>
          <a:noFill/>
        </p:spPr>
        <p:txBody>
          <a:bodyPr wrap="square" lIns="0" rIns="0" tIns="0" bIns="0" anchor="t">
            <a:spAutoFit/>
          </a:bodyPr>
          <a:lstStyle/>
          <a:p>
            <a:pPr algn="l"/>
            <a:r>
              <a:rPr sz="1050" b="0" i="0">
                <a:solidFill>
                  <a:srgbClr val="595959"/>
                </a:solidFill>
                <a:latin typeface="Calibri"/>
                <a:cs typeface="Calibri"/>
              </a:rPr>
              <a:t>names, descriptions, expertise</a:t>
            </a:r>
          </a:p>
        </p:txBody>
      </p:sp>
      <p:sp>
        <p:nvSpPr>
          <p:cNvPr id="10" name="TextBox 9"/>
          <p:cNvSpPr txBox="1"/>
          <p:nvPr/>
        </p:nvSpPr>
        <p:spPr>
          <a:xfrm>
            <a:off x="621792" y="2057400"/>
            <a:ext cx="2316480" cy="292608"/>
          </a:xfrm>
          <a:prstGeom prst="rect">
            <a:avLst/>
          </a:prstGeom>
          <a:noFill/>
        </p:spPr>
        <p:txBody>
          <a:bodyPr wrap="square" lIns="0" rIns="0" tIns="0" bIns="0" anchor="t">
            <a:spAutoFit/>
          </a:bodyPr>
          <a:lstStyle/>
          <a:p>
            <a:pPr algn="l"/>
            <a:r>
              <a:rPr sz="1100" b="1" i="0">
                <a:solidFill>
                  <a:srgbClr val="1D1D1B"/>
                </a:solidFill>
                <a:latin typeface="Calibri"/>
                <a:cs typeface="Calibri"/>
              </a:rPr>
              <a:t>Technology sheets</a:t>
            </a:r>
          </a:p>
        </p:txBody>
      </p:sp>
      <p:sp>
        <p:nvSpPr>
          <p:cNvPr id="11" name="TextBox 10"/>
          <p:cNvSpPr txBox="1"/>
          <p:nvPr/>
        </p:nvSpPr>
        <p:spPr>
          <a:xfrm>
            <a:off x="621792" y="2304288"/>
            <a:ext cx="2316480" cy="548640"/>
          </a:xfrm>
          <a:prstGeom prst="rect">
            <a:avLst/>
          </a:prstGeom>
          <a:noFill/>
        </p:spPr>
        <p:txBody>
          <a:bodyPr wrap="square" lIns="0" rIns="0" tIns="0" bIns="0" anchor="t">
            <a:spAutoFit/>
          </a:bodyPr>
          <a:lstStyle/>
          <a:p>
            <a:pPr algn="l"/>
            <a:r>
              <a:rPr sz="1050" b="0" i="0">
                <a:solidFill>
                  <a:srgbClr val="595959"/>
                </a:solidFill>
                <a:latin typeface="Calibri"/>
                <a:cs typeface="Calibri"/>
              </a:rPr>
              <a:t>methods and the facilities offering them</a:t>
            </a:r>
          </a:p>
        </p:txBody>
      </p:sp>
      <p:sp>
        <p:nvSpPr>
          <p:cNvPr id="12" name="TextBox 11"/>
          <p:cNvSpPr txBox="1"/>
          <p:nvPr/>
        </p:nvSpPr>
        <p:spPr>
          <a:xfrm>
            <a:off x="621792" y="2514600"/>
            <a:ext cx="2316480" cy="292608"/>
          </a:xfrm>
          <a:prstGeom prst="rect">
            <a:avLst/>
          </a:prstGeom>
          <a:noFill/>
        </p:spPr>
        <p:txBody>
          <a:bodyPr wrap="square" lIns="0" rIns="0" tIns="0" bIns="0" anchor="t">
            <a:spAutoFit/>
          </a:bodyPr>
          <a:lstStyle/>
          <a:p>
            <a:pPr algn="l"/>
            <a:r>
              <a:rPr sz="1100" b="1" i="0">
                <a:solidFill>
                  <a:srgbClr val="1D1D1B"/>
                </a:solidFill>
                <a:latin typeface="Calibri"/>
                <a:cs typeface="Calibri"/>
              </a:rPr>
              <a:t>Technology Guidance</a:t>
            </a:r>
          </a:p>
        </p:txBody>
      </p:sp>
      <p:sp>
        <p:nvSpPr>
          <p:cNvPr id="13" name="TextBox 12"/>
          <p:cNvSpPr txBox="1"/>
          <p:nvPr/>
        </p:nvSpPr>
        <p:spPr>
          <a:xfrm>
            <a:off x="621792" y="2761488"/>
            <a:ext cx="2316480" cy="548640"/>
          </a:xfrm>
          <a:prstGeom prst="rect">
            <a:avLst/>
          </a:prstGeom>
          <a:noFill/>
        </p:spPr>
        <p:txBody>
          <a:bodyPr wrap="square" lIns="0" rIns="0" tIns="0" bIns="0" anchor="t">
            <a:spAutoFit/>
          </a:bodyPr>
          <a:lstStyle/>
          <a:p>
            <a:pPr algn="l"/>
            <a:r>
              <a:rPr sz="1050" b="0" i="0">
                <a:solidFill>
                  <a:srgbClr val="595959"/>
                </a:solidFill>
                <a:latin typeface="Calibri"/>
                <a:cs typeface="Calibri"/>
              </a:rPr>
              <a:t>what each method lets you see</a:t>
            </a:r>
          </a:p>
        </p:txBody>
      </p:sp>
      <p:sp>
        <p:nvSpPr>
          <p:cNvPr id="14" name="TextBox 13"/>
          <p:cNvSpPr txBox="1"/>
          <p:nvPr/>
        </p:nvSpPr>
        <p:spPr>
          <a:xfrm>
            <a:off x="621792" y="2971800"/>
            <a:ext cx="2316480" cy="292608"/>
          </a:xfrm>
          <a:prstGeom prst="rect">
            <a:avLst/>
          </a:prstGeom>
          <a:noFill/>
        </p:spPr>
        <p:txBody>
          <a:bodyPr wrap="square" lIns="0" rIns="0" tIns="0" bIns="0" anchor="t">
            <a:spAutoFit/>
          </a:bodyPr>
          <a:lstStyle/>
          <a:p>
            <a:pPr algn="l"/>
            <a:r>
              <a:rPr sz="1100" b="1" i="0">
                <a:solidFill>
                  <a:srgbClr val="1D1D1B"/>
                </a:solidFill>
                <a:latin typeface="Calibri"/>
                <a:cs typeface="Calibri"/>
              </a:rPr>
              <a:t>Evidence</a:t>
            </a:r>
          </a:p>
        </p:txBody>
      </p:sp>
      <p:sp>
        <p:nvSpPr>
          <p:cNvPr id="15" name="TextBox 14"/>
          <p:cNvSpPr txBox="1"/>
          <p:nvPr/>
        </p:nvSpPr>
        <p:spPr>
          <a:xfrm>
            <a:off x="621792" y="3218688"/>
            <a:ext cx="2316480" cy="548640"/>
          </a:xfrm>
          <a:prstGeom prst="rect">
            <a:avLst/>
          </a:prstGeom>
          <a:noFill/>
        </p:spPr>
        <p:txBody>
          <a:bodyPr wrap="square" lIns="0" rIns="0" tIns="0" bIns="0" anchor="t">
            <a:spAutoFit/>
          </a:bodyPr>
          <a:lstStyle/>
          <a:p>
            <a:pPr algn="l"/>
            <a:r>
              <a:rPr sz="1050" b="0" i="0">
                <a:solidFill>
                  <a:srgbClr val="595959"/>
                </a:solidFill>
                <a:latin typeface="Calibri"/>
                <a:cs typeface="Calibri"/>
              </a:rPr>
              <a:t>instrument models, sample types</a:t>
            </a:r>
          </a:p>
        </p:txBody>
      </p:sp>
      <p:sp>
        <p:nvSpPr>
          <p:cNvPr id="16" name="TextBox 15"/>
          <p:cNvSpPr txBox="1"/>
          <p:nvPr/>
        </p:nvSpPr>
        <p:spPr>
          <a:xfrm>
            <a:off x="621792" y="3429000"/>
            <a:ext cx="2316480" cy="292608"/>
          </a:xfrm>
          <a:prstGeom prst="rect">
            <a:avLst/>
          </a:prstGeom>
          <a:noFill/>
        </p:spPr>
        <p:txBody>
          <a:bodyPr wrap="square" lIns="0" rIns="0" tIns="0" bIns="0" anchor="t">
            <a:spAutoFit/>
          </a:bodyPr>
          <a:lstStyle/>
          <a:p>
            <a:pPr algn="l"/>
            <a:r>
              <a:rPr sz="1100" b="1" i="0">
                <a:solidFill>
                  <a:srgbClr val="1D1D1B"/>
                </a:solidFill>
                <a:latin typeface="Calibri"/>
                <a:cs typeface="Calibri"/>
              </a:rPr>
              <a:t>Node Services</a:t>
            </a:r>
          </a:p>
        </p:txBody>
      </p:sp>
      <p:sp>
        <p:nvSpPr>
          <p:cNvPr id="17" name="TextBox 16"/>
          <p:cNvSpPr txBox="1"/>
          <p:nvPr/>
        </p:nvSpPr>
        <p:spPr>
          <a:xfrm>
            <a:off x="621792" y="3675887"/>
            <a:ext cx="2316480" cy="548640"/>
          </a:xfrm>
          <a:prstGeom prst="rect">
            <a:avLst/>
          </a:prstGeom>
          <a:noFill/>
        </p:spPr>
        <p:txBody>
          <a:bodyPr wrap="square" lIns="0" rIns="0" tIns="0" bIns="0" anchor="t">
            <a:spAutoFit/>
          </a:bodyPr>
          <a:lstStyle/>
          <a:p>
            <a:pPr algn="l"/>
            <a:r>
              <a:rPr sz="1050" b="0" i="0">
                <a:solidFill>
                  <a:srgbClr val="595959"/>
                </a:solidFill>
                <a:latin typeface="Calibri"/>
                <a:cs typeface="Calibri"/>
              </a:rPr>
              <a:t>services in the signed SLA</a:t>
            </a:r>
          </a:p>
        </p:txBody>
      </p:sp>
      <p:sp>
        <p:nvSpPr>
          <p:cNvPr id="18" name="Rounded Rectangle 17"/>
          <p:cNvSpPr/>
          <p:nvPr/>
        </p:nvSpPr>
        <p:spPr>
          <a:xfrm>
            <a:off x="3276600" y="914400"/>
            <a:ext cx="2590800" cy="3108960"/>
          </a:xfrm>
          <a:prstGeom prst="roundRect">
            <a:avLst>
              <a:gd name="adj" fmla="val 2823"/>
            </a:avLst>
          </a:prstGeom>
          <a:solidFill>
            <a:srgbClr val="FAFAFA"/>
          </a:solidFill>
          <a:ln w="9525">
            <a:solidFill>
              <a:srgbClr val="E3E3E3"/>
            </a:solidFill>
          </a:ln>
          <a:effectLst/>
        </p:spPr>
        <p:txBody>
          <a:bodyPr rtlCol="0" anchor="ctr" lIns="36576" rIns="36576"/>
          <a:lstStyle/>
          <a:p>
            <a:pPr algn="ctr"/>
          </a:p>
        </p:txBody>
      </p:sp>
      <p:sp>
        <p:nvSpPr>
          <p:cNvPr id="19" name="Rounded Rectangle 18"/>
          <p:cNvSpPr/>
          <p:nvPr/>
        </p:nvSpPr>
        <p:spPr>
          <a:xfrm>
            <a:off x="3276600" y="914400"/>
            <a:ext cx="2590800" cy="566928"/>
          </a:xfrm>
          <a:prstGeom prst="roundRect">
            <a:avLst>
              <a:gd name="adj" fmla="val 12903"/>
            </a:avLst>
          </a:prstGeom>
          <a:solidFill>
            <a:srgbClr val="1A73E8"/>
          </a:solidFill>
          <a:ln>
            <a:noFill/>
          </a:ln>
          <a:effectLst/>
        </p:spPr>
        <p:txBody>
          <a:bodyPr rtlCol="0" anchor="ctr" lIns="36576" rIns="36576"/>
          <a:lstStyle/>
          <a:p>
            <a:pPr algn="ctr"/>
          </a:p>
        </p:txBody>
      </p:sp>
      <p:sp>
        <p:nvSpPr>
          <p:cNvPr id="20" name="Rectangle 19"/>
          <p:cNvSpPr/>
          <p:nvPr/>
        </p:nvSpPr>
        <p:spPr>
          <a:xfrm>
            <a:off x="3276600" y="1234440"/>
            <a:ext cx="2590800" cy="246888"/>
          </a:xfrm>
          <a:prstGeom prst="rect">
            <a:avLst/>
          </a:prstGeom>
          <a:solidFill>
            <a:srgbClr val="1A73E8"/>
          </a:solidFill>
          <a:ln>
            <a:noFill/>
          </a:ln>
          <a:effectLst/>
        </p:spPr>
        <p:txBody>
          <a:bodyPr rtlCol="0" anchor="ctr" lIns="36576" rIns="36576"/>
          <a:lstStyle/>
          <a:p>
            <a:pPr algn="ctr"/>
          </a:p>
        </p:txBody>
      </p:sp>
      <p:sp>
        <p:nvSpPr>
          <p:cNvPr id="21" name="TextBox 20"/>
          <p:cNvSpPr txBox="1"/>
          <p:nvPr/>
        </p:nvSpPr>
        <p:spPr>
          <a:xfrm>
            <a:off x="3441192" y="914400"/>
            <a:ext cx="2316480" cy="347472"/>
          </a:xfrm>
          <a:prstGeom prst="rect">
            <a:avLst/>
          </a:prstGeom>
          <a:noFill/>
        </p:spPr>
        <p:txBody>
          <a:bodyPr wrap="square" lIns="0" rIns="0" tIns="0" bIns="0" anchor="ctr">
            <a:spAutoFit/>
          </a:bodyPr>
          <a:lstStyle/>
          <a:p>
            <a:pPr algn="l"/>
            <a:r>
              <a:rPr sz="1300" b="1" i="0">
                <a:solidFill>
                  <a:srgbClr val="FFFFFF"/>
                </a:solidFill>
                <a:latin typeface="Source Sans Pro"/>
                <a:cs typeface="Source Sans Pro"/>
              </a:rPr>
              <a:t>Printed on the page by code</a:t>
            </a:r>
          </a:p>
        </p:txBody>
      </p:sp>
      <p:sp>
        <p:nvSpPr>
          <p:cNvPr id="22" name="TextBox 21"/>
          <p:cNvSpPr txBox="1"/>
          <p:nvPr/>
        </p:nvSpPr>
        <p:spPr>
          <a:xfrm>
            <a:off x="3441192" y="1216152"/>
            <a:ext cx="2316480" cy="237744"/>
          </a:xfrm>
          <a:prstGeom prst="rect">
            <a:avLst/>
          </a:prstGeom>
          <a:noFill/>
        </p:spPr>
        <p:txBody>
          <a:bodyPr wrap="square" lIns="0" rIns="0" tIns="0" bIns="0" anchor="ctr">
            <a:spAutoFit/>
          </a:bodyPr>
          <a:lstStyle/>
          <a:p>
            <a:pPr algn="l"/>
            <a:r>
              <a:rPr sz="1000" b="0" i="0">
                <a:solidFill>
                  <a:srgbClr val="FFFFFF"/>
                </a:solidFill>
                <a:latin typeface="Consolas"/>
                <a:cs typeface="Consolas"/>
              </a:rPr>
              <a:t>node_record</a:t>
            </a:r>
          </a:p>
        </p:txBody>
      </p:sp>
      <p:sp>
        <p:nvSpPr>
          <p:cNvPr id="23" name="TextBox 22"/>
          <p:cNvSpPr txBox="1"/>
          <p:nvPr/>
        </p:nvSpPr>
        <p:spPr>
          <a:xfrm>
            <a:off x="3441192" y="1600200"/>
            <a:ext cx="2316480" cy="292608"/>
          </a:xfrm>
          <a:prstGeom prst="rect">
            <a:avLst/>
          </a:prstGeom>
          <a:noFill/>
        </p:spPr>
        <p:txBody>
          <a:bodyPr wrap="square" lIns="0" rIns="0" tIns="0" bIns="0" anchor="t">
            <a:spAutoFit/>
          </a:bodyPr>
          <a:lstStyle/>
          <a:p>
            <a:pPr algn="l"/>
            <a:r>
              <a:rPr sz="1100" b="1" i="0">
                <a:solidFill>
                  <a:srgbClr val="1D1D1B"/>
                </a:solidFill>
                <a:latin typeface="Calibri"/>
                <a:cs typeface="Calibri"/>
              </a:rPr>
              <a:t>Facilities</a:t>
            </a:r>
          </a:p>
        </p:txBody>
      </p:sp>
      <p:sp>
        <p:nvSpPr>
          <p:cNvPr id="24" name="TextBox 23"/>
          <p:cNvSpPr txBox="1"/>
          <p:nvPr/>
        </p:nvSpPr>
        <p:spPr>
          <a:xfrm>
            <a:off x="3441192" y="1847088"/>
            <a:ext cx="2316480" cy="548640"/>
          </a:xfrm>
          <a:prstGeom prst="rect">
            <a:avLst/>
          </a:prstGeom>
          <a:noFill/>
        </p:spPr>
        <p:txBody>
          <a:bodyPr wrap="square" lIns="0" rIns="0" tIns="0" bIns="0" anchor="t">
            <a:spAutoFit/>
          </a:bodyPr>
          <a:lstStyle/>
          <a:p>
            <a:pPr algn="l"/>
            <a:r>
              <a:rPr sz="1050" b="0" i="0">
                <a:solidFill>
                  <a:srgbClr val="595959"/>
                </a:solidFill>
                <a:latin typeface="Calibri"/>
                <a:cs typeface="Calibri"/>
              </a:rPr>
              <a:t>name, institution, city, address, website</a:t>
            </a:r>
          </a:p>
        </p:txBody>
      </p:sp>
      <p:sp>
        <p:nvSpPr>
          <p:cNvPr id="25" name="TextBox 24"/>
          <p:cNvSpPr txBox="1"/>
          <p:nvPr/>
        </p:nvSpPr>
        <p:spPr>
          <a:xfrm>
            <a:off x="3441192" y="2057400"/>
            <a:ext cx="2316480" cy="292608"/>
          </a:xfrm>
          <a:prstGeom prst="rect">
            <a:avLst/>
          </a:prstGeom>
          <a:noFill/>
        </p:spPr>
        <p:txBody>
          <a:bodyPr wrap="square" lIns="0" rIns="0" tIns="0" bIns="0" anchor="t">
            <a:spAutoFit/>
          </a:bodyPr>
          <a:lstStyle/>
          <a:p>
            <a:pPr algn="l"/>
            <a:r>
              <a:rPr sz="1100" b="1" i="0">
                <a:solidFill>
                  <a:srgbClr val="1D1D1B"/>
                </a:solidFill>
                <a:latin typeface="Calibri"/>
                <a:cs typeface="Calibri"/>
              </a:rPr>
              <a:t>Contacts</a:t>
            </a:r>
          </a:p>
        </p:txBody>
      </p:sp>
      <p:sp>
        <p:nvSpPr>
          <p:cNvPr id="26" name="TextBox 25"/>
          <p:cNvSpPr txBox="1"/>
          <p:nvPr/>
        </p:nvSpPr>
        <p:spPr>
          <a:xfrm>
            <a:off x="3441192" y="2304288"/>
            <a:ext cx="2316480" cy="548640"/>
          </a:xfrm>
          <a:prstGeom prst="rect">
            <a:avLst/>
          </a:prstGeom>
          <a:noFill/>
        </p:spPr>
        <p:txBody>
          <a:bodyPr wrap="square" lIns="0" rIns="0" tIns="0" bIns="0" anchor="t">
            <a:spAutoFit/>
          </a:bodyPr>
          <a:lstStyle/>
          <a:p>
            <a:pPr algn="l"/>
            <a:r>
              <a:rPr sz="1050" b="0" i="0">
                <a:solidFill>
                  <a:srgbClr val="595959"/>
                </a:solidFill>
                <a:latin typeface="Calibri"/>
                <a:cs typeface="Calibri"/>
              </a:rPr>
              <a:t>public contacts only</a:t>
            </a:r>
          </a:p>
        </p:txBody>
      </p:sp>
      <p:sp>
        <p:nvSpPr>
          <p:cNvPr id="27" name="TextBox 26"/>
          <p:cNvSpPr txBox="1"/>
          <p:nvPr/>
        </p:nvSpPr>
        <p:spPr>
          <a:xfrm>
            <a:off x="3441192" y="2514600"/>
            <a:ext cx="2316480" cy="292608"/>
          </a:xfrm>
          <a:prstGeom prst="rect">
            <a:avLst/>
          </a:prstGeom>
          <a:noFill/>
        </p:spPr>
        <p:txBody>
          <a:bodyPr wrap="square" lIns="0" rIns="0" tIns="0" bIns="0" anchor="t">
            <a:spAutoFit/>
          </a:bodyPr>
          <a:lstStyle/>
          <a:p>
            <a:pPr algn="l"/>
            <a:r>
              <a:rPr sz="1100" b="1" i="0">
                <a:solidFill>
                  <a:srgbClr val="1D1D1B"/>
                </a:solidFill>
                <a:latin typeface="Calibri"/>
                <a:cs typeface="Calibri"/>
              </a:rPr>
              <a:t>Technologies</a:t>
            </a:r>
          </a:p>
        </p:txBody>
      </p:sp>
      <p:sp>
        <p:nvSpPr>
          <p:cNvPr id="28" name="TextBox 27"/>
          <p:cNvSpPr txBox="1"/>
          <p:nvPr/>
        </p:nvSpPr>
        <p:spPr>
          <a:xfrm>
            <a:off x="3441192" y="2761488"/>
            <a:ext cx="2316480" cy="548640"/>
          </a:xfrm>
          <a:prstGeom prst="rect">
            <a:avLst/>
          </a:prstGeom>
          <a:noFill/>
        </p:spPr>
        <p:txBody>
          <a:bodyPr wrap="square" lIns="0" rIns="0" tIns="0" bIns="0" anchor="t">
            <a:spAutoFit/>
          </a:bodyPr>
          <a:lstStyle/>
          <a:p>
            <a:pPr algn="l"/>
            <a:r>
              <a:rPr sz="1050" b="0" i="0">
                <a:solidFill>
                  <a:srgbClr val="595959"/>
                </a:solidFill>
                <a:latin typeface="Calibri"/>
                <a:cs typeface="Calibri"/>
              </a:rPr>
              <a:t>the technology table</a:t>
            </a:r>
          </a:p>
        </p:txBody>
      </p:sp>
      <p:sp>
        <p:nvSpPr>
          <p:cNvPr id="29" name="TextBox 28"/>
          <p:cNvSpPr txBox="1"/>
          <p:nvPr/>
        </p:nvSpPr>
        <p:spPr>
          <a:xfrm>
            <a:off x="3441192" y="2971800"/>
            <a:ext cx="2316480" cy="292608"/>
          </a:xfrm>
          <a:prstGeom prst="rect">
            <a:avLst/>
          </a:prstGeom>
          <a:noFill/>
        </p:spPr>
        <p:txBody>
          <a:bodyPr wrap="square" lIns="0" rIns="0" tIns="0" bIns="0" anchor="t">
            <a:spAutoFit/>
          </a:bodyPr>
          <a:lstStyle/>
          <a:p>
            <a:pPr algn="l"/>
            <a:r>
              <a:rPr sz="1100" b="1" i="0">
                <a:solidFill>
                  <a:srgbClr val="1D1D1B"/>
                </a:solidFill>
                <a:latin typeface="Calibri"/>
                <a:cs typeface="Calibri"/>
              </a:rPr>
              <a:t>Nodes, Node Services</a:t>
            </a:r>
          </a:p>
        </p:txBody>
      </p:sp>
      <p:sp>
        <p:nvSpPr>
          <p:cNvPr id="30" name="TextBox 29"/>
          <p:cNvSpPr txBox="1"/>
          <p:nvPr/>
        </p:nvSpPr>
        <p:spPr>
          <a:xfrm>
            <a:off x="3441192" y="3218688"/>
            <a:ext cx="2316480" cy="548640"/>
          </a:xfrm>
          <a:prstGeom prst="rect">
            <a:avLst/>
          </a:prstGeom>
          <a:noFill/>
        </p:spPr>
        <p:txBody>
          <a:bodyPr wrap="square" lIns="0" rIns="0" tIns="0" bIns="0" anchor="t">
            <a:spAutoFit/>
          </a:bodyPr>
          <a:lstStyle/>
          <a:p>
            <a:pPr algn="l"/>
            <a:r>
              <a:rPr sz="1050" b="0" i="0">
                <a:solidFill>
                  <a:srgbClr val="595959"/>
                </a:solidFill>
                <a:latin typeface="Calibri"/>
                <a:cs typeface="Calibri"/>
              </a:rPr>
              <a:t>the service list</a:t>
            </a:r>
          </a:p>
        </p:txBody>
      </p:sp>
      <p:sp>
        <p:nvSpPr>
          <p:cNvPr id="31" name="TextBox 30"/>
          <p:cNvSpPr txBox="1"/>
          <p:nvPr/>
        </p:nvSpPr>
        <p:spPr>
          <a:xfrm>
            <a:off x="3441192" y="3429000"/>
            <a:ext cx="2316480" cy="292608"/>
          </a:xfrm>
          <a:prstGeom prst="rect">
            <a:avLst/>
          </a:prstGeom>
          <a:noFill/>
        </p:spPr>
        <p:txBody>
          <a:bodyPr wrap="square" lIns="0" rIns="0" tIns="0" bIns="0" anchor="t">
            <a:spAutoFit/>
          </a:bodyPr>
          <a:lstStyle/>
          <a:p>
            <a:pPr algn="l"/>
            <a:r>
              <a:rPr sz="1100" b="1" i="0">
                <a:solidFill>
                  <a:srgbClr val="1D1D1B"/>
                </a:solidFill>
                <a:latin typeface="Calibri"/>
                <a:cs typeface="Calibri"/>
              </a:rPr>
              <a:t>August master</a:t>
            </a:r>
          </a:p>
        </p:txBody>
      </p:sp>
      <p:sp>
        <p:nvSpPr>
          <p:cNvPr id="32" name="TextBox 31"/>
          <p:cNvSpPr txBox="1"/>
          <p:nvPr/>
        </p:nvSpPr>
        <p:spPr>
          <a:xfrm>
            <a:off x="3441192" y="3675887"/>
            <a:ext cx="2316480" cy="548640"/>
          </a:xfrm>
          <a:prstGeom prst="rect">
            <a:avLst/>
          </a:prstGeom>
          <a:noFill/>
        </p:spPr>
        <p:txBody>
          <a:bodyPr wrap="square" lIns="0" rIns="0" tIns="0" bIns="0" anchor="t">
            <a:spAutoFit/>
          </a:bodyPr>
          <a:lstStyle/>
          <a:p>
            <a:pPr algn="l"/>
            <a:r>
              <a:rPr sz="1050" b="0" i="0">
                <a:solidFill>
                  <a:srgbClr val="595959"/>
                </a:solidFill>
                <a:latin typeface="Calibri"/>
                <a:cs typeface="Calibri"/>
              </a:rPr>
              <a:t>Node contact and website</a:t>
            </a:r>
          </a:p>
        </p:txBody>
      </p:sp>
      <p:sp>
        <p:nvSpPr>
          <p:cNvPr id="33" name="Rounded Rectangle 32"/>
          <p:cNvSpPr/>
          <p:nvPr/>
        </p:nvSpPr>
        <p:spPr>
          <a:xfrm>
            <a:off x="6096000" y="914400"/>
            <a:ext cx="2590800" cy="3108960"/>
          </a:xfrm>
          <a:prstGeom prst="roundRect">
            <a:avLst>
              <a:gd name="adj" fmla="val 2823"/>
            </a:avLst>
          </a:prstGeom>
          <a:solidFill>
            <a:srgbClr val="FAFAFA"/>
          </a:solidFill>
          <a:ln w="9525">
            <a:solidFill>
              <a:srgbClr val="E3E3E3"/>
            </a:solidFill>
          </a:ln>
          <a:effectLst/>
        </p:spPr>
        <p:txBody>
          <a:bodyPr rtlCol="0" anchor="ctr" lIns="36576" rIns="36576"/>
          <a:lstStyle/>
          <a:p>
            <a:pPr algn="ctr"/>
          </a:p>
        </p:txBody>
      </p:sp>
      <p:sp>
        <p:nvSpPr>
          <p:cNvPr id="34" name="Rounded Rectangle 33"/>
          <p:cNvSpPr/>
          <p:nvPr/>
        </p:nvSpPr>
        <p:spPr>
          <a:xfrm>
            <a:off x="6096000" y="914400"/>
            <a:ext cx="2590800" cy="566928"/>
          </a:xfrm>
          <a:prstGeom prst="roundRect">
            <a:avLst>
              <a:gd name="adj" fmla="val 12903"/>
            </a:avLst>
          </a:prstGeom>
          <a:solidFill>
            <a:srgbClr val="B03A2E"/>
          </a:solidFill>
          <a:ln>
            <a:noFill/>
          </a:ln>
          <a:effectLst/>
        </p:spPr>
        <p:txBody>
          <a:bodyPr rtlCol="0" anchor="ctr" lIns="36576" rIns="36576"/>
          <a:lstStyle/>
          <a:p>
            <a:pPr algn="ctr"/>
          </a:p>
        </p:txBody>
      </p:sp>
      <p:sp>
        <p:nvSpPr>
          <p:cNvPr id="35" name="Rectangle 34"/>
          <p:cNvSpPr/>
          <p:nvPr/>
        </p:nvSpPr>
        <p:spPr>
          <a:xfrm>
            <a:off x="6096000" y="1234440"/>
            <a:ext cx="2590800" cy="246888"/>
          </a:xfrm>
          <a:prstGeom prst="rect">
            <a:avLst/>
          </a:prstGeom>
          <a:solidFill>
            <a:srgbClr val="B03A2E"/>
          </a:solidFill>
          <a:ln>
            <a:noFill/>
          </a:ln>
          <a:effectLst/>
        </p:spPr>
        <p:txBody>
          <a:bodyPr rtlCol="0" anchor="ctr" lIns="36576" rIns="36576"/>
          <a:lstStyle/>
          <a:p>
            <a:pPr algn="ctr"/>
          </a:p>
        </p:txBody>
      </p:sp>
      <p:sp>
        <p:nvSpPr>
          <p:cNvPr id="36" name="TextBox 35"/>
          <p:cNvSpPr txBox="1"/>
          <p:nvPr/>
        </p:nvSpPr>
        <p:spPr>
          <a:xfrm>
            <a:off x="6260592" y="914400"/>
            <a:ext cx="2316480" cy="347472"/>
          </a:xfrm>
          <a:prstGeom prst="rect">
            <a:avLst/>
          </a:prstGeom>
          <a:noFill/>
        </p:spPr>
        <p:txBody>
          <a:bodyPr wrap="square" lIns="0" rIns="0" tIns="0" bIns="0" anchor="ctr">
            <a:spAutoFit/>
          </a:bodyPr>
          <a:lstStyle/>
          <a:p>
            <a:pPr algn="l"/>
            <a:r>
              <a:rPr sz="1300" b="1" i="0">
                <a:solidFill>
                  <a:srgbClr val="FFFFFF"/>
                </a:solidFill>
                <a:latin typeface="Source Sans Pro"/>
                <a:cs typeface="Source Sans Pro"/>
              </a:rPr>
              <a:t>Review list only</a:t>
            </a:r>
          </a:p>
        </p:txBody>
      </p:sp>
      <p:sp>
        <p:nvSpPr>
          <p:cNvPr id="37" name="TextBox 36"/>
          <p:cNvSpPr txBox="1"/>
          <p:nvPr/>
        </p:nvSpPr>
        <p:spPr>
          <a:xfrm>
            <a:off x="6260592" y="1216152"/>
            <a:ext cx="2316480" cy="237744"/>
          </a:xfrm>
          <a:prstGeom prst="rect">
            <a:avLst/>
          </a:prstGeom>
          <a:noFill/>
        </p:spPr>
        <p:txBody>
          <a:bodyPr wrap="square" lIns="0" rIns="0" tIns="0" bIns="0" anchor="ctr">
            <a:spAutoFit/>
          </a:bodyPr>
          <a:lstStyle/>
          <a:p>
            <a:pPr algn="l"/>
            <a:r>
              <a:rPr sz="1000" b="0" i="0">
                <a:solidFill>
                  <a:srgbClr val="FFFFFF"/>
                </a:solidFill>
                <a:latin typeface="Consolas"/>
                <a:cs typeface="Consolas"/>
              </a:rPr>
              <a:t>missing_info</a:t>
            </a:r>
          </a:p>
        </p:txBody>
      </p:sp>
      <p:sp>
        <p:nvSpPr>
          <p:cNvPr id="38" name="TextBox 37"/>
          <p:cNvSpPr txBox="1"/>
          <p:nvPr/>
        </p:nvSpPr>
        <p:spPr>
          <a:xfrm>
            <a:off x="6260592" y="1600200"/>
            <a:ext cx="2316480" cy="292608"/>
          </a:xfrm>
          <a:prstGeom prst="rect">
            <a:avLst/>
          </a:prstGeom>
          <a:noFill/>
        </p:spPr>
        <p:txBody>
          <a:bodyPr wrap="square" lIns="0" rIns="0" tIns="0" bIns="0" anchor="t">
            <a:spAutoFit/>
          </a:bodyPr>
          <a:lstStyle/>
          <a:p>
            <a:pPr algn="l"/>
            <a:r>
              <a:rPr sz="1100" b="1" i="0">
                <a:solidFill>
                  <a:srgbClr val="1D1D1B"/>
                </a:solidFill>
                <a:latin typeface="Calibri"/>
                <a:cs typeface="Calibri"/>
              </a:rPr>
              <a:t>Data Enrichment</a:t>
            </a:r>
          </a:p>
        </p:txBody>
      </p:sp>
      <p:sp>
        <p:nvSpPr>
          <p:cNvPr id="39" name="TextBox 38"/>
          <p:cNvSpPr txBox="1"/>
          <p:nvPr/>
        </p:nvSpPr>
        <p:spPr>
          <a:xfrm>
            <a:off x="6260592" y="1847088"/>
            <a:ext cx="2316480" cy="548640"/>
          </a:xfrm>
          <a:prstGeom prst="rect">
            <a:avLst/>
          </a:prstGeom>
          <a:noFill/>
        </p:spPr>
        <p:txBody>
          <a:bodyPr wrap="square" lIns="0" rIns="0" tIns="0" bIns="0" anchor="t">
            <a:spAutoFit/>
          </a:bodyPr>
          <a:lstStyle/>
          <a:p>
            <a:pPr algn="l"/>
            <a:r>
              <a:rPr sz="1050" b="0" i="0">
                <a:solidFill>
                  <a:srgbClr val="595959"/>
                </a:solidFill>
                <a:latin typeface="Calibri"/>
                <a:cs typeface="Calibri"/>
              </a:rPr>
              <a:t>open issues per Node</a:t>
            </a:r>
          </a:p>
        </p:txBody>
      </p:sp>
      <p:sp>
        <p:nvSpPr>
          <p:cNvPr id="40" name="TextBox 39"/>
          <p:cNvSpPr txBox="1"/>
          <p:nvPr/>
        </p:nvSpPr>
        <p:spPr>
          <a:xfrm>
            <a:off x="6260592" y="2057400"/>
            <a:ext cx="2316480" cy="292608"/>
          </a:xfrm>
          <a:prstGeom prst="rect">
            <a:avLst/>
          </a:prstGeom>
          <a:noFill/>
        </p:spPr>
        <p:txBody>
          <a:bodyPr wrap="square" lIns="0" rIns="0" tIns="0" bIns="0" anchor="t">
            <a:spAutoFit/>
          </a:bodyPr>
          <a:lstStyle/>
          <a:p>
            <a:pPr algn="l"/>
            <a:r>
              <a:rPr sz="1100" b="1" i="0">
                <a:solidFill>
                  <a:srgbClr val="1D1D1B"/>
                </a:solidFill>
                <a:latin typeface="Calibri"/>
                <a:cs typeface="Calibri"/>
              </a:rPr>
              <a:t>Held rows</a:t>
            </a:r>
          </a:p>
        </p:txBody>
      </p:sp>
      <p:sp>
        <p:nvSpPr>
          <p:cNvPr id="41" name="TextBox 40"/>
          <p:cNvSpPr txBox="1"/>
          <p:nvPr/>
        </p:nvSpPr>
        <p:spPr>
          <a:xfrm>
            <a:off x="6260592" y="2304288"/>
            <a:ext cx="2316480" cy="548640"/>
          </a:xfrm>
          <a:prstGeom prst="rect">
            <a:avLst/>
          </a:prstGeom>
          <a:noFill/>
        </p:spPr>
        <p:txBody>
          <a:bodyPr wrap="square" lIns="0" rIns="0" tIns="0" bIns="0" anchor="t">
            <a:spAutoFit/>
          </a:bodyPr>
          <a:lstStyle/>
          <a:p>
            <a:pPr algn="l"/>
            <a:r>
              <a:rPr sz="1050" b="0" i="0">
                <a:solidFill>
                  <a:srgbClr val="595959"/>
                </a:solidFill>
                <a:latin typeface="Calibri"/>
                <a:cs typeface="Calibri"/>
              </a:rPr>
              <a:t>links and facilities on hold</a:t>
            </a:r>
          </a:p>
        </p:txBody>
      </p:sp>
      <p:sp>
        <p:nvSpPr>
          <p:cNvPr id="42" name="TextBox 41"/>
          <p:cNvSpPr txBox="1"/>
          <p:nvPr/>
        </p:nvSpPr>
        <p:spPr>
          <a:xfrm>
            <a:off x="6260592" y="2514600"/>
            <a:ext cx="2316480" cy="292608"/>
          </a:xfrm>
          <a:prstGeom prst="rect">
            <a:avLst/>
          </a:prstGeom>
          <a:noFill/>
        </p:spPr>
        <p:txBody>
          <a:bodyPr wrap="square" lIns="0" rIns="0" tIns="0" bIns="0" anchor="t">
            <a:spAutoFit/>
          </a:bodyPr>
          <a:lstStyle/>
          <a:p>
            <a:pPr algn="l"/>
            <a:r>
              <a:rPr sz="1100" b="1" i="0">
                <a:solidFill>
                  <a:srgbClr val="1D1D1B"/>
                </a:solidFill>
                <a:latin typeface="Calibri"/>
                <a:cs typeface="Calibri"/>
              </a:rPr>
              <a:t>Gaps</a:t>
            </a:r>
          </a:p>
        </p:txBody>
      </p:sp>
      <p:sp>
        <p:nvSpPr>
          <p:cNvPr id="43" name="TextBox 42"/>
          <p:cNvSpPr txBox="1"/>
          <p:nvPr/>
        </p:nvSpPr>
        <p:spPr>
          <a:xfrm>
            <a:off x="6260592" y="2761488"/>
            <a:ext cx="2316480" cy="548640"/>
          </a:xfrm>
          <a:prstGeom prst="rect">
            <a:avLst/>
          </a:prstGeom>
          <a:noFill/>
        </p:spPr>
        <p:txBody>
          <a:bodyPr wrap="square" lIns="0" rIns="0" tIns="0" bIns="0" anchor="t">
            <a:spAutoFit/>
          </a:bodyPr>
          <a:lstStyle/>
          <a:p>
            <a:pPr algn="l"/>
            <a:r>
              <a:rPr sz="1050" b="0" i="0">
                <a:solidFill>
                  <a:srgbClr val="595959"/>
                </a:solidFill>
                <a:latin typeface="Calibri"/>
                <a:cs typeface="Calibri"/>
              </a:rPr>
              <a:t>methods without a facility, dead links</a:t>
            </a:r>
          </a:p>
        </p:txBody>
      </p:sp>
      <p:sp>
        <p:nvSpPr>
          <p:cNvPr id="44" name="Rounded Rectangle 43"/>
          <p:cNvSpPr/>
          <p:nvPr/>
        </p:nvSpPr>
        <p:spPr>
          <a:xfrm>
            <a:off x="457200" y="4133087"/>
            <a:ext cx="8229600" cy="457200"/>
          </a:xfrm>
          <a:prstGeom prst="roundRect">
            <a:avLst>
              <a:gd name="adj" fmla="val 12000"/>
            </a:avLst>
          </a:prstGeom>
          <a:solidFill>
            <a:srgbClr val="FBEAEA"/>
          </a:solidFill>
          <a:ln>
            <a:noFill/>
          </a:ln>
          <a:effectLst/>
        </p:spPr>
        <p:txBody>
          <a:bodyPr rtlCol="0" anchor="ctr" lIns="36576" rIns="36576"/>
          <a:lstStyle/>
          <a:p>
            <a:pPr algn="ctr"/>
          </a:p>
        </p:txBody>
      </p:sp>
      <p:sp>
        <p:nvSpPr>
          <p:cNvPr id="45" name="TextBox 44"/>
          <p:cNvSpPr txBox="1"/>
          <p:nvPr/>
        </p:nvSpPr>
        <p:spPr>
          <a:xfrm>
            <a:off x="640080" y="4133087"/>
            <a:ext cx="7863840" cy="457200"/>
          </a:xfrm>
          <a:prstGeom prst="rect">
            <a:avLst/>
          </a:prstGeom>
          <a:noFill/>
        </p:spPr>
        <p:txBody>
          <a:bodyPr wrap="square" lIns="0" rIns="0" tIns="0" bIns="0" anchor="ctr">
            <a:spAutoFit/>
          </a:bodyPr>
          <a:lstStyle/>
          <a:p>
            <a:pPr algn="l"/>
            <a:r>
              <a:rPr sz="1150" b="1" i="0">
                <a:solidFill>
                  <a:srgbClr val="B03A2E"/>
                </a:solidFill>
                <a:latin typeface="Calibri"/>
                <a:cs typeface="Calibri"/>
              </a:rPr>
              <a:t>Data Enrichment </a:t>
            </a:r>
            <a:r>
              <a:rPr sz="1150" b="0" i="0">
                <a:solidFill>
                  <a:srgbClr val="1D1D1B"/>
                </a:solidFill>
                <a:latin typeface="Calibri"/>
                <a:cs typeface="Calibri"/>
              </a:rPr>
              <a:t>is a separate workflow that searches the Knowledge Base for gaps. Its open issues go on the review list, never on a page.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Python workflow</a:t>
            </a:r>
          </a:p>
        </p:txBody>
      </p:sp>
      <p:sp>
        <p:nvSpPr>
          <p:cNvPr id="3" name="Rounded Rectangle 2"/>
          <p:cNvSpPr/>
          <p:nvPr/>
        </p:nvSpPr>
        <p:spPr>
          <a:xfrm>
            <a:off x="457200" y="914400"/>
            <a:ext cx="8229600" cy="3017520"/>
          </a:xfrm>
          <a:prstGeom prst="roundRect">
            <a:avLst>
              <a:gd name="adj" fmla="val 2424"/>
            </a:avLst>
          </a:prstGeom>
          <a:solidFill>
            <a:srgbClr val="F1F3F5"/>
          </a:solidFill>
          <a:ln>
            <a:noFill/>
          </a:ln>
          <a:effectLst/>
        </p:spPr>
        <p:txBody>
          <a:bodyPr rtlCol="0" anchor="ctr" lIns="36576" rIns="36576"/>
          <a:lstStyle/>
          <a:p>
            <a:pPr algn="ctr"/>
          </a:p>
        </p:txBody>
      </p:sp>
      <p:pic>
        <p:nvPicPr>
          <p:cNvPr id="4" name="Picture 3" descr="laptop_brand.png"/>
          <p:cNvPicPr>
            <a:picLocks noChangeAspect="1"/>
          </p:cNvPicPr>
          <p:nvPr/>
        </p:nvPicPr>
        <p:blipFill>
          <a:blip r:embed="rId3"/>
          <a:stretch>
            <a:fillRect/>
          </a:stretch>
        </p:blipFill>
        <p:spPr>
          <a:xfrm>
            <a:off x="594360" y="1033271"/>
            <a:ext cx="237744" cy="237744"/>
          </a:xfrm>
          <a:prstGeom prst="rect">
            <a:avLst/>
          </a:prstGeom>
        </p:spPr>
      </p:pic>
      <p:sp>
        <p:nvSpPr>
          <p:cNvPr id="5" name="TextBox 4"/>
          <p:cNvSpPr txBox="1"/>
          <p:nvPr/>
        </p:nvSpPr>
        <p:spPr>
          <a:xfrm>
            <a:off x="914400" y="1005840"/>
            <a:ext cx="7680960" cy="292608"/>
          </a:xfrm>
          <a:prstGeom prst="rect">
            <a:avLst/>
          </a:prstGeom>
          <a:noFill/>
        </p:spPr>
        <p:txBody>
          <a:bodyPr wrap="square" lIns="0" rIns="0" tIns="0" bIns="0" anchor="ctr">
            <a:spAutoFit/>
          </a:bodyPr>
          <a:lstStyle/>
          <a:p>
            <a:pPr algn="l"/>
            <a:r>
              <a:rPr sz="1200" b="1" i="0">
                <a:solidFill>
                  <a:srgbClr val="444444"/>
                </a:solidFill>
                <a:latin typeface="Source Sans Pro"/>
                <a:cs typeface="Source Sans Pro"/>
              </a:rPr>
              <a:t>Local computer</a:t>
            </a:r>
          </a:p>
        </p:txBody>
      </p:sp>
      <p:sp>
        <p:nvSpPr>
          <p:cNvPr id="6" name="Rounded Rectangle 5"/>
          <p:cNvSpPr/>
          <p:nvPr/>
        </p:nvSpPr>
        <p:spPr>
          <a:xfrm>
            <a:off x="640080" y="1463040"/>
            <a:ext cx="1794510" cy="1828800"/>
          </a:xfrm>
          <a:prstGeom prst="roundRect">
            <a:avLst>
              <a:gd name="adj" fmla="val 3057"/>
            </a:avLst>
          </a:prstGeom>
          <a:solidFill>
            <a:srgbClr val="FFFFFF"/>
          </a:solidFill>
          <a:ln w="12700">
            <a:solidFill>
              <a:srgbClr val="CFCFCF"/>
            </a:solidFill>
          </a:ln>
          <a:effectLst/>
        </p:spPr>
        <p:txBody>
          <a:bodyPr rtlCol="0" anchor="ctr" lIns="36576" rIns="36576"/>
          <a:lstStyle/>
          <a:p>
            <a:pPr algn="ctr"/>
          </a:p>
        </p:txBody>
      </p:sp>
      <p:pic>
        <p:nvPicPr>
          <p:cNvPr id="7" name="Picture 6" descr="python_brand.png"/>
          <p:cNvPicPr>
            <a:picLocks noChangeAspect="1"/>
          </p:cNvPicPr>
          <p:nvPr/>
        </p:nvPicPr>
        <p:blipFill>
          <a:blip r:embed="rId4"/>
          <a:stretch>
            <a:fillRect/>
          </a:stretch>
        </p:blipFill>
        <p:spPr>
          <a:xfrm>
            <a:off x="777240" y="1600200"/>
            <a:ext cx="292608" cy="292608"/>
          </a:xfrm>
          <a:prstGeom prst="rect">
            <a:avLst/>
          </a:prstGeom>
        </p:spPr>
      </p:pic>
      <p:sp>
        <p:nvSpPr>
          <p:cNvPr id="8" name="TextBox 7"/>
          <p:cNvSpPr txBox="1"/>
          <p:nvPr/>
        </p:nvSpPr>
        <p:spPr>
          <a:xfrm>
            <a:off x="1143000" y="1581912"/>
            <a:ext cx="365760" cy="329184"/>
          </a:xfrm>
          <a:prstGeom prst="rect">
            <a:avLst/>
          </a:prstGeom>
          <a:noFill/>
        </p:spPr>
        <p:txBody>
          <a:bodyPr wrap="square" lIns="0" rIns="0" tIns="0" bIns="0" anchor="ctr">
            <a:spAutoFit/>
          </a:bodyPr>
          <a:lstStyle/>
          <a:p>
            <a:pPr algn="l"/>
            <a:r>
              <a:rPr sz="1600" b="1" i="0">
                <a:solidFill>
                  <a:srgbClr val="3776AB"/>
                </a:solidFill>
                <a:latin typeface="Source Sans Pro"/>
                <a:cs typeface="Source Sans Pro"/>
              </a:rPr>
              <a:t>1</a:t>
            </a:r>
          </a:p>
        </p:txBody>
      </p:sp>
      <p:sp>
        <p:nvSpPr>
          <p:cNvPr id="9" name="TextBox 8"/>
          <p:cNvSpPr txBox="1"/>
          <p:nvPr/>
        </p:nvSpPr>
        <p:spPr>
          <a:xfrm>
            <a:off x="777240" y="2011680"/>
            <a:ext cx="1565910" cy="274320"/>
          </a:xfrm>
          <a:prstGeom prst="rect">
            <a:avLst/>
          </a:prstGeom>
          <a:noFill/>
        </p:spPr>
        <p:txBody>
          <a:bodyPr wrap="square" lIns="0" rIns="0" tIns="0" bIns="0" anchor="t">
            <a:spAutoFit/>
          </a:bodyPr>
          <a:lstStyle/>
          <a:p>
            <a:pPr algn="l"/>
            <a:r>
              <a:rPr sz="1050" b="1" i="0">
                <a:solidFill>
                  <a:srgbClr val="1D1D1B"/>
                </a:solidFill>
                <a:latin typeface="Consolas"/>
                <a:cs typeface="Consolas"/>
              </a:rPr>
              <a:t>check_links.py</a:t>
            </a:r>
          </a:p>
        </p:txBody>
      </p:sp>
      <p:sp>
        <p:nvSpPr>
          <p:cNvPr id="10" name="TextBox 9"/>
          <p:cNvSpPr txBox="1"/>
          <p:nvPr/>
        </p:nvSpPr>
        <p:spPr>
          <a:xfrm>
            <a:off x="777240" y="2331720"/>
            <a:ext cx="1538478" cy="1234440"/>
          </a:xfrm>
          <a:prstGeom prst="rect">
            <a:avLst/>
          </a:prstGeom>
          <a:noFill/>
        </p:spPr>
        <p:txBody>
          <a:bodyPr wrap="square" lIns="0" rIns="0" tIns="0" bIns="0" anchor="t">
            <a:spAutoFit/>
          </a:bodyPr>
          <a:lstStyle/>
          <a:p>
            <a:pPr algn="l"/>
            <a:r>
              <a:rPr sz="1100" b="0" i="0">
                <a:solidFill>
                  <a:srgbClr val="595959"/>
                </a:solidFill>
                <a:latin typeface="Calibri"/>
                <a:cs typeface="Calibri"/>
              </a:rPr>
              <a:t>Opens every Node, portal and facility link. Only links that work are printed on a page.</a:t>
            </a:r>
          </a:p>
        </p:txBody>
      </p:sp>
      <p:cxnSp>
        <p:nvCxnSpPr>
          <p:cNvPr id="11" name="Connector 10"/>
          <p:cNvCxnSpPr/>
          <p:nvPr/>
        </p:nvCxnSpPr>
        <p:spPr>
          <a:xfrm>
            <a:off x="2452877" y="2377440"/>
            <a:ext cx="192024" cy="0"/>
          </a:xfrm>
          <a:prstGeom prst="line">
            <a:avLst/>
          </a:prstGeom>
          <a:ln w="19050">
            <a:solidFill>
              <a:srgbClr val="3776A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663189" y="1463040"/>
            <a:ext cx="1794510" cy="1828800"/>
          </a:xfrm>
          <a:prstGeom prst="roundRect">
            <a:avLst>
              <a:gd name="adj" fmla="val 3057"/>
            </a:avLst>
          </a:prstGeom>
          <a:solidFill>
            <a:srgbClr val="FFFFFF"/>
          </a:solidFill>
          <a:ln w="12700">
            <a:solidFill>
              <a:srgbClr val="CFCFCF"/>
            </a:solidFill>
          </a:ln>
          <a:effectLst/>
        </p:spPr>
        <p:txBody>
          <a:bodyPr rtlCol="0" anchor="ctr" lIns="36576" rIns="36576"/>
          <a:lstStyle/>
          <a:p>
            <a:pPr algn="ctr"/>
          </a:p>
        </p:txBody>
      </p:sp>
      <p:pic>
        <p:nvPicPr>
          <p:cNvPr id="13" name="Picture 12" descr="python_brand.png"/>
          <p:cNvPicPr>
            <a:picLocks noChangeAspect="1"/>
          </p:cNvPicPr>
          <p:nvPr/>
        </p:nvPicPr>
        <p:blipFill>
          <a:blip r:embed="rId4"/>
          <a:stretch>
            <a:fillRect/>
          </a:stretch>
        </p:blipFill>
        <p:spPr>
          <a:xfrm>
            <a:off x="2800349" y="1600200"/>
            <a:ext cx="292608" cy="292608"/>
          </a:xfrm>
          <a:prstGeom prst="rect">
            <a:avLst/>
          </a:prstGeom>
        </p:spPr>
      </p:pic>
      <p:sp>
        <p:nvSpPr>
          <p:cNvPr id="14" name="TextBox 13"/>
          <p:cNvSpPr txBox="1"/>
          <p:nvPr/>
        </p:nvSpPr>
        <p:spPr>
          <a:xfrm>
            <a:off x="3166109" y="1581912"/>
            <a:ext cx="365760" cy="329184"/>
          </a:xfrm>
          <a:prstGeom prst="rect">
            <a:avLst/>
          </a:prstGeom>
          <a:noFill/>
        </p:spPr>
        <p:txBody>
          <a:bodyPr wrap="square" lIns="0" rIns="0" tIns="0" bIns="0" anchor="ctr">
            <a:spAutoFit/>
          </a:bodyPr>
          <a:lstStyle/>
          <a:p>
            <a:pPr algn="l"/>
            <a:r>
              <a:rPr sz="1600" b="1" i="0">
                <a:solidFill>
                  <a:srgbClr val="3776AB"/>
                </a:solidFill>
                <a:latin typeface="Source Sans Pro"/>
                <a:cs typeface="Source Sans Pro"/>
              </a:rPr>
              <a:t>2</a:t>
            </a:r>
          </a:p>
        </p:txBody>
      </p:sp>
      <p:sp>
        <p:nvSpPr>
          <p:cNvPr id="15" name="TextBox 14"/>
          <p:cNvSpPr txBox="1"/>
          <p:nvPr/>
        </p:nvSpPr>
        <p:spPr>
          <a:xfrm>
            <a:off x="2800349" y="2011680"/>
            <a:ext cx="1565910" cy="274320"/>
          </a:xfrm>
          <a:prstGeom prst="rect">
            <a:avLst/>
          </a:prstGeom>
          <a:noFill/>
        </p:spPr>
        <p:txBody>
          <a:bodyPr wrap="square" lIns="0" rIns="0" tIns="0" bIns="0" anchor="t">
            <a:spAutoFit/>
          </a:bodyPr>
          <a:lstStyle/>
          <a:p>
            <a:pPr algn="l"/>
            <a:r>
              <a:rPr sz="1050" b="1" i="0">
                <a:solidFill>
                  <a:srgbClr val="1D1D1B"/>
                </a:solidFill>
                <a:latin typeface="Consolas"/>
                <a:cs typeface="Consolas"/>
              </a:rPr>
              <a:t>reconcile.py</a:t>
            </a:r>
          </a:p>
        </p:txBody>
      </p:sp>
      <p:sp>
        <p:nvSpPr>
          <p:cNvPr id="16" name="TextBox 15"/>
          <p:cNvSpPr txBox="1"/>
          <p:nvPr/>
        </p:nvSpPr>
        <p:spPr>
          <a:xfrm>
            <a:off x="2800349" y="2331720"/>
            <a:ext cx="1538478" cy="1234440"/>
          </a:xfrm>
          <a:prstGeom prst="rect">
            <a:avLst/>
          </a:prstGeom>
          <a:noFill/>
        </p:spPr>
        <p:txBody>
          <a:bodyPr wrap="square" lIns="0" rIns="0" tIns="0" bIns="0" anchor="t">
            <a:spAutoFit/>
          </a:bodyPr>
          <a:lstStyle/>
          <a:p>
            <a:pPr algn="l"/>
            <a:r>
              <a:rPr sz="1100" b="0" i="0">
                <a:solidFill>
                  <a:srgbClr val="595959"/>
                </a:solidFill>
                <a:latin typeface="Calibri"/>
                <a:cs typeface="Calibri"/>
              </a:rPr>
              <a:t>Compares the older August Node texts with the master and removes anything the master contradicts.</a:t>
            </a:r>
          </a:p>
        </p:txBody>
      </p:sp>
      <p:cxnSp>
        <p:nvCxnSpPr>
          <p:cNvPr id="17" name="Connector 16"/>
          <p:cNvCxnSpPr/>
          <p:nvPr/>
        </p:nvCxnSpPr>
        <p:spPr>
          <a:xfrm>
            <a:off x="4475988" y="2377440"/>
            <a:ext cx="192024" cy="0"/>
          </a:xfrm>
          <a:prstGeom prst="line">
            <a:avLst/>
          </a:prstGeom>
          <a:ln w="19050">
            <a:solidFill>
              <a:srgbClr val="3776A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686300" y="1463040"/>
            <a:ext cx="1794510" cy="1828800"/>
          </a:xfrm>
          <a:prstGeom prst="roundRect">
            <a:avLst>
              <a:gd name="adj" fmla="val 3057"/>
            </a:avLst>
          </a:prstGeom>
          <a:solidFill>
            <a:srgbClr val="FFFFFF"/>
          </a:solidFill>
          <a:ln w="12700">
            <a:solidFill>
              <a:srgbClr val="CFCFCF"/>
            </a:solidFill>
          </a:ln>
          <a:effectLst/>
        </p:spPr>
        <p:txBody>
          <a:bodyPr rtlCol="0" anchor="ctr" lIns="36576" rIns="36576"/>
          <a:lstStyle/>
          <a:p>
            <a:pPr algn="ctr"/>
          </a:p>
        </p:txBody>
      </p:sp>
      <p:pic>
        <p:nvPicPr>
          <p:cNvPr id="19" name="Picture 18" descr="python_brand.png"/>
          <p:cNvPicPr>
            <a:picLocks noChangeAspect="1"/>
          </p:cNvPicPr>
          <p:nvPr/>
        </p:nvPicPr>
        <p:blipFill>
          <a:blip r:embed="rId4"/>
          <a:stretch>
            <a:fillRect/>
          </a:stretch>
        </p:blipFill>
        <p:spPr>
          <a:xfrm>
            <a:off x="4823460" y="1600200"/>
            <a:ext cx="292608" cy="292608"/>
          </a:xfrm>
          <a:prstGeom prst="rect">
            <a:avLst/>
          </a:prstGeom>
        </p:spPr>
      </p:pic>
      <p:sp>
        <p:nvSpPr>
          <p:cNvPr id="20" name="TextBox 19"/>
          <p:cNvSpPr txBox="1"/>
          <p:nvPr/>
        </p:nvSpPr>
        <p:spPr>
          <a:xfrm>
            <a:off x="5189220" y="1581912"/>
            <a:ext cx="365760" cy="329184"/>
          </a:xfrm>
          <a:prstGeom prst="rect">
            <a:avLst/>
          </a:prstGeom>
          <a:noFill/>
        </p:spPr>
        <p:txBody>
          <a:bodyPr wrap="square" lIns="0" rIns="0" tIns="0" bIns="0" anchor="ctr">
            <a:spAutoFit/>
          </a:bodyPr>
          <a:lstStyle/>
          <a:p>
            <a:pPr algn="l"/>
            <a:r>
              <a:rPr sz="1600" b="1" i="0">
                <a:solidFill>
                  <a:srgbClr val="3776AB"/>
                </a:solidFill>
                <a:latin typeface="Source Sans Pro"/>
                <a:cs typeface="Source Sans Pro"/>
              </a:rPr>
              <a:t>3</a:t>
            </a:r>
          </a:p>
        </p:txBody>
      </p:sp>
      <p:sp>
        <p:nvSpPr>
          <p:cNvPr id="21" name="TextBox 20"/>
          <p:cNvSpPr txBox="1"/>
          <p:nvPr/>
        </p:nvSpPr>
        <p:spPr>
          <a:xfrm>
            <a:off x="4823460" y="2011680"/>
            <a:ext cx="1565910" cy="274320"/>
          </a:xfrm>
          <a:prstGeom prst="rect">
            <a:avLst/>
          </a:prstGeom>
          <a:noFill/>
        </p:spPr>
        <p:txBody>
          <a:bodyPr wrap="square" lIns="0" rIns="0" tIns="0" bIns="0" anchor="t">
            <a:spAutoFit/>
          </a:bodyPr>
          <a:lstStyle/>
          <a:p>
            <a:pPr algn="l"/>
            <a:r>
              <a:rPr sz="1050" b="1" i="0">
                <a:solidFill>
                  <a:srgbClr val="1D1D1B"/>
                </a:solidFill>
                <a:latin typeface="Consolas"/>
                <a:cs typeface="Consolas"/>
              </a:rPr>
              <a:t>tech_instruments.py</a:t>
            </a:r>
          </a:p>
        </p:txBody>
      </p:sp>
      <p:sp>
        <p:nvSpPr>
          <p:cNvPr id="22" name="TextBox 21"/>
          <p:cNvSpPr txBox="1"/>
          <p:nvPr/>
        </p:nvSpPr>
        <p:spPr>
          <a:xfrm>
            <a:off x="4823460" y="2331720"/>
            <a:ext cx="1538478" cy="1234440"/>
          </a:xfrm>
          <a:prstGeom prst="rect">
            <a:avLst/>
          </a:prstGeom>
          <a:noFill/>
        </p:spPr>
        <p:txBody>
          <a:bodyPr wrap="square" lIns="0" rIns="0" tIns="0" bIns="0" anchor="t">
            <a:spAutoFit/>
          </a:bodyPr>
          <a:lstStyle/>
          <a:p>
            <a:pPr algn="l"/>
            <a:r>
              <a:rPr sz="1100" b="0" i="0">
                <a:solidFill>
                  <a:srgbClr val="595959"/>
                </a:solidFill>
                <a:latin typeface="Calibri"/>
                <a:cs typeface="Calibri"/>
              </a:rPr>
              <a:t>Matches each instrument to the method it is used for. A Dragonfly, for example, goes with spinning disk confocal.</a:t>
            </a:r>
          </a:p>
        </p:txBody>
      </p:sp>
      <p:cxnSp>
        <p:nvCxnSpPr>
          <p:cNvPr id="23" name="Connector 22"/>
          <p:cNvCxnSpPr/>
          <p:nvPr/>
        </p:nvCxnSpPr>
        <p:spPr>
          <a:xfrm>
            <a:off x="6499098" y="2377440"/>
            <a:ext cx="192024" cy="0"/>
          </a:xfrm>
          <a:prstGeom prst="line">
            <a:avLst/>
          </a:prstGeom>
          <a:ln w="19050">
            <a:solidFill>
              <a:srgbClr val="3776A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709409" y="1463040"/>
            <a:ext cx="1794510" cy="1828800"/>
          </a:xfrm>
          <a:prstGeom prst="roundRect">
            <a:avLst>
              <a:gd name="adj" fmla="val 3057"/>
            </a:avLst>
          </a:prstGeom>
          <a:solidFill>
            <a:srgbClr val="FFFFFF"/>
          </a:solidFill>
          <a:ln w="12700">
            <a:solidFill>
              <a:srgbClr val="CFCFCF"/>
            </a:solidFill>
          </a:ln>
          <a:effectLst/>
        </p:spPr>
        <p:txBody>
          <a:bodyPr rtlCol="0" anchor="ctr" lIns="36576" rIns="36576"/>
          <a:lstStyle/>
          <a:p>
            <a:pPr algn="ctr"/>
          </a:p>
        </p:txBody>
      </p:sp>
      <p:pic>
        <p:nvPicPr>
          <p:cNvPr id="25" name="Picture 24" descr="python_brand.png"/>
          <p:cNvPicPr>
            <a:picLocks noChangeAspect="1"/>
          </p:cNvPicPr>
          <p:nvPr/>
        </p:nvPicPr>
        <p:blipFill>
          <a:blip r:embed="rId4"/>
          <a:stretch>
            <a:fillRect/>
          </a:stretch>
        </p:blipFill>
        <p:spPr>
          <a:xfrm>
            <a:off x="6846570" y="1600200"/>
            <a:ext cx="292608" cy="292608"/>
          </a:xfrm>
          <a:prstGeom prst="rect">
            <a:avLst/>
          </a:prstGeom>
        </p:spPr>
      </p:pic>
      <p:sp>
        <p:nvSpPr>
          <p:cNvPr id="26" name="TextBox 25"/>
          <p:cNvSpPr txBox="1"/>
          <p:nvPr/>
        </p:nvSpPr>
        <p:spPr>
          <a:xfrm>
            <a:off x="7212329" y="1581912"/>
            <a:ext cx="365760" cy="329184"/>
          </a:xfrm>
          <a:prstGeom prst="rect">
            <a:avLst/>
          </a:prstGeom>
          <a:noFill/>
        </p:spPr>
        <p:txBody>
          <a:bodyPr wrap="square" lIns="0" rIns="0" tIns="0" bIns="0" anchor="ctr">
            <a:spAutoFit/>
          </a:bodyPr>
          <a:lstStyle/>
          <a:p>
            <a:pPr algn="l"/>
            <a:r>
              <a:rPr sz="1600" b="1" i="0">
                <a:solidFill>
                  <a:srgbClr val="3776AB"/>
                </a:solidFill>
                <a:latin typeface="Source Sans Pro"/>
                <a:cs typeface="Source Sans Pro"/>
              </a:rPr>
              <a:t>4</a:t>
            </a:r>
          </a:p>
        </p:txBody>
      </p:sp>
      <p:sp>
        <p:nvSpPr>
          <p:cNvPr id="27" name="TextBox 26"/>
          <p:cNvSpPr txBox="1"/>
          <p:nvPr/>
        </p:nvSpPr>
        <p:spPr>
          <a:xfrm>
            <a:off x="6846570" y="2011680"/>
            <a:ext cx="1565910" cy="274320"/>
          </a:xfrm>
          <a:prstGeom prst="rect">
            <a:avLst/>
          </a:prstGeom>
          <a:noFill/>
        </p:spPr>
        <p:txBody>
          <a:bodyPr wrap="square" lIns="0" rIns="0" tIns="0" bIns="0" anchor="t">
            <a:spAutoFit/>
          </a:bodyPr>
          <a:lstStyle/>
          <a:p>
            <a:pPr algn="l"/>
            <a:r>
              <a:rPr sz="1050" b="1" i="0">
                <a:solidFill>
                  <a:srgbClr val="1D1D1B"/>
                </a:solidFill>
                <a:latin typeface="Consolas"/>
                <a:cs typeface="Consolas"/>
              </a:rPr>
              <a:t>build_node_files.py</a:t>
            </a:r>
          </a:p>
        </p:txBody>
      </p:sp>
      <p:sp>
        <p:nvSpPr>
          <p:cNvPr id="28" name="TextBox 27"/>
          <p:cNvSpPr txBox="1"/>
          <p:nvPr/>
        </p:nvSpPr>
        <p:spPr>
          <a:xfrm>
            <a:off x="6846570" y="2331720"/>
            <a:ext cx="1538478" cy="1234440"/>
          </a:xfrm>
          <a:prstGeom prst="rect">
            <a:avLst/>
          </a:prstGeom>
          <a:noFill/>
        </p:spPr>
        <p:txBody>
          <a:bodyPr wrap="square" lIns="0" rIns="0" tIns="0" bIns="0" anchor="t">
            <a:spAutoFit/>
          </a:bodyPr>
          <a:lstStyle/>
          <a:p>
            <a:pPr algn="l"/>
            <a:r>
              <a:rPr sz="1100" b="0" i="0">
                <a:solidFill>
                  <a:srgbClr val="595959"/>
                </a:solidFill>
                <a:latin typeface="Calibri"/>
                <a:cs typeface="Calibri"/>
              </a:rPr>
              <a:t>Keeps only the rows the Navigator may use and writes one JSON file per Node.</a:t>
            </a:r>
          </a:p>
        </p:txBody>
      </p:sp>
      <p:sp>
        <p:nvSpPr>
          <p:cNvPr id="29" name="TextBox 28"/>
          <p:cNvSpPr txBox="1"/>
          <p:nvPr/>
        </p:nvSpPr>
        <p:spPr>
          <a:xfrm>
            <a:off x="640080" y="3337560"/>
            <a:ext cx="7863840" cy="502920"/>
          </a:xfrm>
          <a:prstGeom prst="rect">
            <a:avLst/>
          </a:prstGeom>
          <a:noFill/>
        </p:spPr>
        <p:txBody>
          <a:bodyPr wrap="square" lIns="0" rIns="0" tIns="0" bIns="0" anchor="ctr">
            <a:spAutoFit/>
          </a:bodyPr>
          <a:lstStyle/>
          <a:p>
            <a:pPr algn="l"/>
            <a:r>
              <a:rPr sz="1150" b="1" i="0">
                <a:solidFill>
                  <a:srgbClr val="1D1D1B"/>
                </a:solidFill>
                <a:latin typeface="Calibri"/>
                <a:cs typeface="Calibri"/>
              </a:rPr>
              <a:t>In: </a:t>
            </a:r>
            <a:r>
              <a:rPr sz="1150" b="0" i="0">
                <a:solidFill>
                  <a:srgbClr val="595959"/>
                </a:solidFill>
                <a:latin typeface="Calibri"/>
                <a:cs typeface="Calibri"/>
              </a:rPr>
              <a:t>Knowledge Base Master and the older August master.   </a:t>
            </a:r>
            <a:r>
              <a:rPr sz="1150" b="1" i="0">
                <a:solidFill>
                  <a:srgbClr val="1D1D1B"/>
                </a:solidFill>
                <a:latin typeface="Calibri"/>
                <a:cs typeface="Calibri"/>
              </a:rPr>
              <a:t>Out: </a:t>
            </a:r>
            <a:r>
              <a:rPr sz="1150" b="0" i="0">
                <a:solidFill>
                  <a:srgbClr val="595959"/>
                </a:solidFill>
                <a:latin typeface="Calibri"/>
                <a:cs typeface="Calibri"/>
              </a:rPr>
              <a:t>Node files (40 JSON files) and a review list per Node.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Python workflow: Which rows are used</a:t>
            </a:r>
          </a:p>
        </p:txBody>
      </p:sp>
      <p:sp>
        <p:nvSpPr>
          <p:cNvPr id="3" name="TextBox 2"/>
          <p:cNvSpPr txBox="1"/>
          <p:nvPr/>
        </p:nvSpPr>
        <p:spPr>
          <a:xfrm>
            <a:off x="457200" y="841248"/>
            <a:ext cx="8229600" cy="365760"/>
          </a:xfrm>
          <a:prstGeom prst="rect">
            <a:avLst/>
          </a:prstGeom>
          <a:noFill/>
        </p:spPr>
        <p:txBody>
          <a:bodyPr wrap="square" lIns="0" rIns="0" tIns="0" bIns="0" anchor="t">
            <a:spAutoFit/>
          </a:bodyPr>
          <a:lstStyle/>
          <a:p>
            <a:pPr algn="l"/>
            <a:r>
              <a:rPr sz="1250" b="0" i="0">
                <a:solidFill>
                  <a:srgbClr val="595959"/>
                </a:solidFill>
                <a:latin typeface="Calibri"/>
                <a:cs typeface="Calibri"/>
              </a:rPr>
              <a:t>Ali's team labelled every row in the master. The build reads the label and decides what happens to the row.</a:t>
            </a:r>
          </a:p>
        </p:txBody>
      </p:sp>
      <p:sp>
        <p:nvSpPr>
          <p:cNvPr id="4" name="Rounded Rectangle 3"/>
          <p:cNvSpPr/>
          <p:nvPr/>
        </p:nvSpPr>
        <p:spPr>
          <a:xfrm>
            <a:off x="457200" y="1325880"/>
            <a:ext cx="3977639" cy="3154680"/>
          </a:xfrm>
          <a:prstGeom prst="roundRect">
            <a:avLst>
              <a:gd name="adj" fmla="val 2318"/>
            </a:avLst>
          </a:prstGeom>
          <a:solidFill>
            <a:srgbClr val="EAF6EE"/>
          </a:solidFill>
          <a:ln>
            <a:noFill/>
          </a:ln>
          <a:effectLst/>
        </p:spPr>
        <p:txBody>
          <a:bodyPr rtlCol="0" anchor="ctr" lIns="36576" rIns="36576"/>
          <a:lstStyle/>
          <a:p>
            <a:pPr algn="ctr"/>
          </a:p>
        </p:txBody>
      </p:sp>
      <p:pic>
        <p:nvPicPr>
          <p:cNvPr id="5" name="Picture 4" descr="check_brand.png"/>
          <p:cNvPicPr>
            <a:picLocks noChangeAspect="1"/>
          </p:cNvPicPr>
          <p:nvPr/>
        </p:nvPicPr>
        <p:blipFill>
          <a:blip r:embed="rId3"/>
          <a:stretch>
            <a:fillRect/>
          </a:stretch>
        </p:blipFill>
        <p:spPr>
          <a:xfrm>
            <a:off x="594360" y="1426464"/>
            <a:ext cx="256032" cy="256032"/>
          </a:xfrm>
          <a:prstGeom prst="rect">
            <a:avLst/>
          </a:prstGeom>
        </p:spPr>
      </p:pic>
      <p:sp>
        <p:nvSpPr>
          <p:cNvPr id="6" name="TextBox 5"/>
          <p:cNvSpPr txBox="1"/>
          <p:nvPr/>
        </p:nvSpPr>
        <p:spPr>
          <a:xfrm>
            <a:off x="932688" y="1389888"/>
            <a:ext cx="1828800" cy="329184"/>
          </a:xfrm>
          <a:prstGeom prst="rect">
            <a:avLst/>
          </a:prstGeom>
          <a:noFill/>
        </p:spPr>
        <p:txBody>
          <a:bodyPr wrap="square" lIns="0" rIns="0" tIns="0" bIns="0" anchor="ctr">
            <a:spAutoFit/>
          </a:bodyPr>
          <a:lstStyle/>
          <a:p>
            <a:pPr algn="l"/>
            <a:r>
              <a:rPr sz="1400" b="1" i="0">
                <a:solidFill>
                  <a:srgbClr val="009B3C"/>
                </a:solidFill>
                <a:latin typeface="Source Sans Pro"/>
                <a:cs typeface="Source Sans Pro"/>
              </a:rPr>
              <a:t>Used</a:t>
            </a:r>
          </a:p>
        </p:txBody>
      </p:sp>
      <p:sp>
        <p:nvSpPr>
          <p:cNvPr id="7" name="TextBox 6"/>
          <p:cNvSpPr txBox="1"/>
          <p:nvPr/>
        </p:nvSpPr>
        <p:spPr>
          <a:xfrm>
            <a:off x="3246120" y="1389888"/>
            <a:ext cx="1051560" cy="329184"/>
          </a:xfrm>
          <a:prstGeom prst="rect">
            <a:avLst/>
          </a:prstGeom>
          <a:noFill/>
        </p:spPr>
        <p:txBody>
          <a:bodyPr wrap="square" lIns="0" rIns="0" tIns="0" bIns="0" anchor="ctr">
            <a:spAutoFit/>
          </a:bodyPr>
          <a:lstStyle/>
          <a:p>
            <a:pPr algn="r"/>
            <a:r>
              <a:rPr sz="950" b="0" i="0">
                <a:solidFill>
                  <a:srgbClr val="8C8C8C"/>
                </a:solidFill>
                <a:latin typeface="Calibri"/>
                <a:cs typeface="Calibri"/>
              </a:rPr>
              <a:t>rows</a:t>
            </a:r>
          </a:p>
        </p:txBody>
      </p:sp>
      <p:sp>
        <p:nvSpPr>
          <p:cNvPr id="8" name="Rounded Rectangle 7"/>
          <p:cNvSpPr/>
          <p:nvPr/>
        </p:nvSpPr>
        <p:spPr>
          <a:xfrm>
            <a:off x="594360" y="1865376"/>
            <a:ext cx="713232" cy="274320"/>
          </a:xfrm>
          <a:prstGeom prst="roundRect">
            <a:avLst>
              <a:gd name="adj" fmla="val 16666"/>
            </a:avLst>
          </a:prstGeom>
          <a:solidFill>
            <a:srgbClr val="009B3C"/>
          </a:solidFill>
          <a:ln>
            <a:noFill/>
          </a:ln>
          <a:effectLst/>
        </p:spPr>
        <p:txBody>
          <a:bodyPr rtlCol="0" anchor="ctr" lIns="36576" rIns="36576"/>
          <a:lstStyle/>
          <a:p>
            <a:pPr algn="ctr"/>
          </a:p>
        </p:txBody>
      </p:sp>
      <p:sp>
        <p:nvSpPr>
          <p:cNvPr id="9" name="TextBox 8"/>
          <p:cNvSpPr txBox="1"/>
          <p:nvPr/>
        </p:nvSpPr>
        <p:spPr>
          <a:xfrm>
            <a:off x="594360" y="1865376"/>
            <a:ext cx="713232" cy="274320"/>
          </a:xfrm>
          <a:prstGeom prst="rect">
            <a:avLst/>
          </a:prstGeom>
          <a:noFill/>
        </p:spPr>
        <p:txBody>
          <a:bodyPr wrap="square" lIns="0" rIns="0" tIns="0" bIns="0" anchor="ctr">
            <a:spAutoFit/>
          </a:bodyPr>
          <a:lstStyle/>
          <a:p>
            <a:pPr algn="ctr"/>
            <a:r>
              <a:rPr sz="900" b="1" i="0">
                <a:solidFill>
                  <a:srgbClr val="FFFFFF"/>
                </a:solidFill>
                <a:latin typeface="Calibri"/>
                <a:cs typeface="Calibri"/>
              </a:rPr>
              <a:t>FAC-01</a:t>
            </a:r>
          </a:p>
        </p:txBody>
      </p:sp>
      <p:sp>
        <p:nvSpPr>
          <p:cNvPr id="10" name="TextBox 9"/>
          <p:cNvSpPr txBox="1"/>
          <p:nvPr/>
        </p:nvSpPr>
        <p:spPr>
          <a:xfrm>
            <a:off x="1399032" y="1792224"/>
            <a:ext cx="2377439" cy="237744"/>
          </a:xfrm>
          <a:prstGeom prst="rect">
            <a:avLst/>
          </a:prstGeom>
          <a:noFill/>
        </p:spPr>
        <p:txBody>
          <a:bodyPr wrap="square" lIns="0" rIns="0" tIns="0" bIns="0" anchor="ctr">
            <a:spAutoFit/>
          </a:bodyPr>
          <a:lstStyle/>
          <a:p>
            <a:pPr algn="l"/>
            <a:r>
              <a:rPr sz="850" b="0" i="0">
                <a:solidFill>
                  <a:srgbClr val="1D1D1B"/>
                </a:solidFill>
                <a:latin typeface="Consolas"/>
                <a:cs typeface="Consolas"/>
              </a:rPr>
              <a:t>CURRENT_FACILITY_PROFILE</a:t>
            </a:r>
          </a:p>
        </p:txBody>
      </p:sp>
      <p:sp>
        <p:nvSpPr>
          <p:cNvPr id="11" name="TextBox 10"/>
          <p:cNvSpPr txBox="1"/>
          <p:nvPr/>
        </p:nvSpPr>
        <p:spPr>
          <a:xfrm>
            <a:off x="1399032" y="2002536"/>
            <a:ext cx="2377439" cy="237744"/>
          </a:xfrm>
          <a:prstGeom prst="rect">
            <a:avLst/>
          </a:prstGeom>
          <a:noFill/>
        </p:spPr>
        <p:txBody>
          <a:bodyPr wrap="square" lIns="0" rIns="0" tIns="0" bIns="0" anchor="ctr">
            <a:spAutoFit/>
          </a:bodyPr>
          <a:lstStyle/>
          <a:p>
            <a:pPr algn="l"/>
            <a:r>
              <a:rPr sz="1050" b="0" i="0">
                <a:solidFill>
                  <a:srgbClr val="595959"/>
                </a:solidFill>
                <a:latin typeface="Calibri"/>
                <a:cs typeface="Calibri"/>
              </a:rPr>
              <a:t>facility is on the page</a:t>
            </a:r>
          </a:p>
        </p:txBody>
      </p:sp>
      <p:sp>
        <p:nvSpPr>
          <p:cNvPr id="12" name="TextBox 11"/>
          <p:cNvSpPr txBox="1"/>
          <p:nvPr/>
        </p:nvSpPr>
        <p:spPr>
          <a:xfrm>
            <a:off x="3749039" y="1810512"/>
            <a:ext cx="548640" cy="411480"/>
          </a:xfrm>
          <a:prstGeom prst="rect">
            <a:avLst/>
          </a:prstGeom>
          <a:noFill/>
        </p:spPr>
        <p:txBody>
          <a:bodyPr wrap="square" lIns="0" rIns="0" tIns="0" bIns="0" anchor="ctr">
            <a:spAutoFit/>
          </a:bodyPr>
          <a:lstStyle/>
          <a:p>
            <a:pPr algn="r"/>
            <a:r>
              <a:rPr sz="1100" b="1" i="0">
                <a:solidFill>
                  <a:srgbClr val="1D1D1B"/>
                </a:solidFill>
                <a:latin typeface="Calibri"/>
                <a:cs typeface="Calibri"/>
              </a:rPr>
              <a:t>316</a:t>
            </a:r>
          </a:p>
        </p:txBody>
      </p:sp>
      <p:sp>
        <p:nvSpPr>
          <p:cNvPr id="13" name="Rounded Rectangle 12"/>
          <p:cNvSpPr/>
          <p:nvPr/>
        </p:nvSpPr>
        <p:spPr>
          <a:xfrm>
            <a:off x="594360" y="2304288"/>
            <a:ext cx="713232" cy="274320"/>
          </a:xfrm>
          <a:prstGeom prst="roundRect">
            <a:avLst>
              <a:gd name="adj" fmla="val 16666"/>
            </a:avLst>
          </a:prstGeom>
          <a:solidFill>
            <a:srgbClr val="009B3C"/>
          </a:solidFill>
          <a:ln>
            <a:noFill/>
          </a:ln>
          <a:effectLst/>
        </p:spPr>
        <p:txBody>
          <a:bodyPr rtlCol="0" anchor="ctr" lIns="36576" rIns="36576"/>
          <a:lstStyle/>
          <a:p>
            <a:pPr algn="ctr"/>
          </a:p>
        </p:txBody>
      </p:sp>
      <p:sp>
        <p:nvSpPr>
          <p:cNvPr id="14" name="TextBox 13"/>
          <p:cNvSpPr txBox="1"/>
          <p:nvPr/>
        </p:nvSpPr>
        <p:spPr>
          <a:xfrm>
            <a:off x="594360" y="2304288"/>
            <a:ext cx="713232" cy="274320"/>
          </a:xfrm>
          <a:prstGeom prst="rect">
            <a:avLst/>
          </a:prstGeom>
          <a:noFill/>
        </p:spPr>
        <p:txBody>
          <a:bodyPr wrap="square" lIns="0" rIns="0" tIns="0" bIns="0" anchor="ctr">
            <a:spAutoFit/>
          </a:bodyPr>
          <a:lstStyle/>
          <a:p>
            <a:pPr algn="ctr"/>
            <a:r>
              <a:rPr sz="900" b="1" i="0">
                <a:solidFill>
                  <a:srgbClr val="FFFFFF"/>
                </a:solidFill>
                <a:latin typeface="Calibri"/>
                <a:cs typeface="Calibri"/>
              </a:rPr>
              <a:t>NOD-02</a:t>
            </a:r>
          </a:p>
        </p:txBody>
      </p:sp>
      <p:sp>
        <p:nvSpPr>
          <p:cNvPr id="15" name="TextBox 14"/>
          <p:cNvSpPr txBox="1"/>
          <p:nvPr/>
        </p:nvSpPr>
        <p:spPr>
          <a:xfrm>
            <a:off x="1399032" y="2231136"/>
            <a:ext cx="2377439" cy="237744"/>
          </a:xfrm>
          <a:prstGeom prst="rect">
            <a:avLst/>
          </a:prstGeom>
          <a:noFill/>
        </p:spPr>
        <p:txBody>
          <a:bodyPr wrap="square" lIns="0" rIns="0" tIns="0" bIns="0" anchor="ctr">
            <a:spAutoFit/>
          </a:bodyPr>
          <a:lstStyle/>
          <a:p>
            <a:pPr algn="l"/>
            <a:r>
              <a:rPr sz="850" b="0" i="0">
                <a:solidFill>
                  <a:srgbClr val="1D1D1B"/>
                </a:solidFill>
                <a:latin typeface="Consolas"/>
                <a:cs typeface="Consolas"/>
              </a:rPr>
              <a:t>REGISTERED_NODE_SCOPE</a:t>
            </a:r>
          </a:p>
        </p:txBody>
      </p:sp>
      <p:sp>
        <p:nvSpPr>
          <p:cNvPr id="16" name="TextBox 15"/>
          <p:cNvSpPr txBox="1"/>
          <p:nvPr/>
        </p:nvSpPr>
        <p:spPr>
          <a:xfrm>
            <a:off x="1399032" y="2441448"/>
            <a:ext cx="2377439" cy="237744"/>
          </a:xfrm>
          <a:prstGeom prst="rect">
            <a:avLst/>
          </a:prstGeom>
          <a:noFill/>
        </p:spPr>
        <p:txBody>
          <a:bodyPr wrap="square" lIns="0" rIns="0" tIns="0" bIns="0" anchor="ctr">
            <a:spAutoFit/>
          </a:bodyPr>
          <a:lstStyle/>
          <a:p>
            <a:pPr algn="l"/>
            <a:r>
              <a:rPr sz="1050" b="0" i="0">
                <a:solidFill>
                  <a:srgbClr val="595959"/>
                </a:solidFill>
                <a:latin typeface="Calibri"/>
                <a:cs typeface="Calibri"/>
              </a:rPr>
              <a:t>method belongs to the Node</a:t>
            </a:r>
          </a:p>
        </p:txBody>
      </p:sp>
      <p:sp>
        <p:nvSpPr>
          <p:cNvPr id="17" name="TextBox 16"/>
          <p:cNvSpPr txBox="1"/>
          <p:nvPr/>
        </p:nvSpPr>
        <p:spPr>
          <a:xfrm>
            <a:off x="3749039" y="2249424"/>
            <a:ext cx="548640" cy="411480"/>
          </a:xfrm>
          <a:prstGeom prst="rect">
            <a:avLst/>
          </a:prstGeom>
          <a:noFill/>
        </p:spPr>
        <p:txBody>
          <a:bodyPr wrap="square" lIns="0" rIns="0" tIns="0" bIns="0" anchor="ctr">
            <a:spAutoFit/>
          </a:bodyPr>
          <a:lstStyle/>
          <a:p>
            <a:pPr algn="r"/>
            <a:r>
              <a:rPr sz="1100" b="1" i="0">
                <a:solidFill>
                  <a:srgbClr val="1D1D1B"/>
                </a:solidFill>
                <a:latin typeface="Calibri"/>
                <a:cs typeface="Calibri"/>
              </a:rPr>
              <a:t>1,092</a:t>
            </a:r>
          </a:p>
        </p:txBody>
      </p:sp>
      <p:sp>
        <p:nvSpPr>
          <p:cNvPr id="18" name="Rounded Rectangle 17"/>
          <p:cNvSpPr/>
          <p:nvPr/>
        </p:nvSpPr>
        <p:spPr>
          <a:xfrm>
            <a:off x="594360" y="2743200"/>
            <a:ext cx="713232" cy="274320"/>
          </a:xfrm>
          <a:prstGeom prst="roundRect">
            <a:avLst>
              <a:gd name="adj" fmla="val 16666"/>
            </a:avLst>
          </a:prstGeom>
          <a:solidFill>
            <a:srgbClr val="009B3C"/>
          </a:solidFill>
          <a:ln>
            <a:noFill/>
          </a:ln>
          <a:effectLst/>
        </p:spPr>
        <p:txBody>
          <a:bodyPr rtlCol="0" anchor="ctr" lIns="36576" rIns="36576"/>
          <a:lstStyle/>
          <a:p>
            <a:pPr algn="ctr"/>
          </a:p>
        </p:txBody>
      </p:sp>
      <p:sp>
        <p:nvSpPr>
          <p:cNvPr id="19" name="TextBox 18"/>
          <p:cNvSpPr txBox="1"/>
          <p:nvPr/>
        </p:nvSpPr>
        <p:spPr>
          <a:xfrm>
            <a:off x="594360" y="2743200"/>
            <a:ext cx="713232" cy="274320"/>
          </a:xfrm>
          <a:prstGeom prst="rect">
            <a:avLst/>
          </a:prstGeom>
          <a:noFill/>
        </p:spPr>
        <p:txBody>
          <a:bodyPr wrap="square" lIns="0" rIns="0" tIns="0" bIns="0" anchor="ctr">
            <a:spAutoFit/>
          </a:bodyPr>
          <a:lstStyle/>
          <a:p>
            <a:pPr algn="ctr"/>
            <a:r>
              <a:rPr sz="900" b="1" i="0">
                <a:solidFill>
                  <a:srgbClr val="FFFFFF"/>
                </a:solidFill>
                <a:latin typeface="Calibri"/>
                <a:cs typeface="Calibri"/>
              </a:rPr>
              <a:t>LNK-01</a:t>
            </a:r>
          </a:p>
        </p:txBody>
      </p:sp>
      <p:sp>
        <p:nvSpPr>
          <p:cNvPr id="20" name="TextBox 19"/>
          <p:cNvSpPr txBox="1"/>
          <p:nvPr/>
        </p:nvSpPr>
        <p:spPr>
          <a:xfrm>
            <a:off x="1399032" y="2670048"/>
            <a:ext cx="2377439" cy="237744"/>
          </a:xfrm>
          <a:prstGeom prst="rect">
            <a:avLst/>
          </a:prstGeom>
          <a:noFill/>
        </p:spPr>
        <p:txBody>
          <a:bodyPr wrap="square" lIns="0" rIns="0" tIns="0" bIns="0" anchor="ctr">
            <a:spAutoFit/>
          </a:bodyPr>
          <a:lstStyle/>
          <a:p>
            <a:pPr algn="l"/>
            <a:r>
              <a:rPr sz="850" b="0" i="0">
                <a:solidFill>
                  <a:srgbClr val="1D1D1B"/>
                </a:solidFill>
                <a:latin typeface="Consolas"/>
                <a:cs typeface="Consolas"/>
              </a:rPr>
              <a:t>REGISTERED_PROVIDER_LINK</a:t>
            </a:r>
          </a:p>
        </p:txBody>
      </p:sp>
      <p:sp>
        <p:nvSpPr>
          <p:cNvPr id="21" name="TextBox 20"/>
          <p:cNvSpPr txBox="1"/>
          <p:nvPr/>
        </p:nvSpPr>
        <p:spPr>
          <a:xfrm>
            <a:off x="1399032" y="2880360"/>
            <a:ext cx="2377439" cy="237744"/>
          </a:xfrm>
          <a:prstGeom prst="rect">
            <a:avLst/>
          </a:prstGeom>
          <a:noFill/>
        </p:spPr>
        <p:txBody>
          <a:bodyPr wrap="square" lIns="0" rIns="0" tIns="0" bIns="0" anchor="ctr">
            <a:spAutoFit/>
          </a:bodyPr>
          <a:lstStyle/>
          <a:p>
            <a:pPr algn="l"/>
            <a:r>
              <a:rPr sz="1050" b="0" i="0">
                <a:solidFill>
                  <a:srgbClr val="595959"/>
                </a:solidFill>
                <a:latin typeface="Calibri"/>
                <a:cs typeface="Calibri"/>
              </a:rPr>
              <a:t>facility named as provider</a:t>
            </a:r>
          </a:p>
        </p:txBody>
      </p:sp>
      <p:sp>
        <p:nvSpPr>
          <p:cNvPr id="22" name="TextBox 21"/>
          <p:cNvSpPr txBox="1"/>
          <p:nvPr/>
        </p:nvSpPr>
        <p:spPr>
          <a:xfrm>
            <a:off x="3749039" y="2688336"/>
            <a:ext cx="548640" cy="411480"/>
          </a:xfrm>
          <a:prstGeom prst="rect">
            <a:avLst/>
          </a:prstGeom>
          <a:noFill/>
        </p:spPr>
        <p:txBody>
          <a:bodyPr wrap="square" lIns="0" rIns="0" tIns="0" bIns="0" anchor="ctr">
            <a:spAutoFit/>
          </a:bodyPr>
          <a:lstStyle/>
          <a:p>
            <a:pPr algn="r"/>
            <a:r>
              <a:rPr sz="1100" b="1" i="0">
                <a:solidFill>
                  <a:srgbClr val="1D1D1B"/>
                </a:solidFill>
                <a:latin typeface="Calibri"/>
                <a:cs typeface="Calibri"/>
              </a:rPr>
              <a:t>1,691</a:t>
            </a:r>
          </a:p>
        </p:txBody>
      </p:sp>
      <p:sp>
        <p:nvSpPr>
          <p:cNvPr id="23" name="Rounded Rectangle 22"/>
          <p:cNvSpPr/>
          <p:nvPr/>
        </p:nvSpPr>
        <p:spPr>
          <a:xfrm>
            <a:off x="594360" y="3182112"/>
            <a:ext cx="713232" cy="274320"/>
          </a:xfrm>
          <a:prstGeom prst="roundRect">
            <a:avLst>
              <a:gd name="adj" fmla="val 16666"/>
            </a:avLst>
          </a:prstGeom>
          <a:solidFill>
            <a:srgbClr val="009B3C"/>
          </a:solidFill>
          <a:ln>
            <a:noFill/>
          </a:ln>
          <a:effectLst/>
        </p:spPr>
        <p:txBody>
          <a:bodyPr rtlCol="0" anchor="ctr" lIns="36576" rIns="36576"/>
          <a:lstStyle/>
          <a:p>
            <a:pPr algn="ctr"/>
          </a:p>
        </p:txBody>
      </p:sp>
      <p:sp>
        <p:nvSpPr>
          <p:cNvPr id="24" name="TextBox 23"/>
          <p:cNvSpPr txBox="1"/>
          <p:nvPr/>
        </p:nvSpPr>
        <p:spPr>
          <a:xfrm>
            <a:off x="594360" y="3182112"/>
            <a:ext cx="713232" cy="274320"/>
          </a:xfrm>
          <a:prstGeom prst="rect">
            <a:avLst/>
          </a:prstGeom>
          <a:noFill/>
        </p:spPr>
        <p:txBody>
          <a:bodyPr wrap="square" lIns="0" rIns="0" tIns="0" bIns="0" anchor="ctr">
            <a:spAutoFit/>
          </a:bodyPr>
          <a:lstStyle/>
          <a:p>
            <a:pPr algn="ctr"/>
            <a:r>
              <a:rPr sz="900" b="1" i="0">
                <a:solidFill>
                  <a:srgbClr val="FFFFFF"/>
                </a:solidFill>
                <a:latin typeface="Calibri"/>
                <a:cs typeface="Calibri"/>
              </a:rPr>
              <a:t>SVC-01</a:t>
            </a:r>
          </a:p>
        </p:txBody>
      </p:sp>
      <p:sp>
        <p:nvSpPr>
          <p:cNvPr id="25" name="TextBox 24"/>
          <p:cNvSpPr txBox="1"/>
          <p:nvPr/>
        </p:nvSpPr>
        <p:spPr>
          <a:xfrm>
            <a:off x="1399032" y="3108960"/>
            <a:ext cx="2377439" cy="237744"/>
          </a:xfrm>
          <a:prstGeom prst="rect">
            <a:avLst/>
          </a:prstGeom>
          <a:noFill/>
        </p:spPr>
        <p:txBody>
          <a:bodyPr wrap="square" lIns="0" rIns="0" tIns="0" bIns="0" anchor="ctr">
            <a:spAutoFit/>
          </a:bodyPr>
          <a:lstStyle/>
          <a:p>
            <a:pPr algn="l"/>
            <a:r>
              <a:rPr sz="850" b="0" i="0">
                <a:solidFill>
                  <a:srgbClr val="1D1D1B"/>
                </a:solidFill>
                <a:latin typeface="Consolas"/>
                <a:cs typeface="Consolas"/>
              </a:rPr>
              <a:t>CURRENT_FACILITY_SERVICE</a:t>
            </a:r>
          </a:p>
        </p:txBody>
      </p:sp>
      <p:sp>
        <p:nvSpPr>
          <p:cNvPr id="26" name="TextBox 25"/>
          <p:cNvSpPr txBox="1"/>
          <p:nvPr/>
        </p:nvSpPr>
        <p:spPr>
          <a:xfrm>
            <a:off x="1399032" y="3319272"/>
            <a:ext cx="2377439" cy="237744"/>
          </a:xfrm>
          <a:prstGeom prst="rect">
            <a:avLst/>
          </a:prstGeom>
          <a:noFill/>
        </p:spPr>
        <p:txBody>
          <a:bodyPr wrap="square" lIns="0" rIns="0" tIns="0" bIns="0" anchor="ctr">
            <a:spAutoFit/>
          </a:bodyPr>
          <a:lstStyle/>
          <a:p>
            <a:pPr algn="l"/>
            <a:r>
              <a:rPr sz="1050" b="0" i="0">
                <a:solidFill>
                  <a:srgbClr val="595959"/>
                </a:solidFill>
                <a:latin typeface="Calibri"/>
                <a:cs typeface="Calibri"/>
              </a:rPr>
              <a:t>service kept in the facility profile</a:t>
            </a:r>
          </a:p>
        </p:txBody>
      </p:sp>
      <p:sp>
        <p:nvSpPr>
          <p:cNvPr id="27" name="TextBox 26"/>
          <p:cNvSpPr txBox="1"/>
          <p:nvPr/>
        </p:nvSpPr>
        <p:spPr>
          <a:xfrm>
            <a:off x="3749039" y="3127248"/>
            <a:ext cx="548640" cy="411480"/>
          </a:xfrm>
          <a:prstGeom prst="rect">
            <a:avLst/>
          </a:prstGeom>
          <a:noFill/>
        </p:spPr>
        <p:txBody>
          <a:bodyPr wrap="square" lIns="0" rIns="0" tIns="0" bIns="0" anchor="ctr">
            <a:spAutoFit/>
          </a:bodyPr>
          <a:lstStyle/>
          <a:p>
            <a:pPr algn="r"/>
            <a:r>
              <a:rPr sz="1100" b="1" i="0">
                <a:solidFill>
                  <a:srgbClr val="1D1D1B"/>
                </a:solidFill>
                <a:latin typeface="Calibri"/>
                <a:cs typeface="Calibri"/>
              </a:rPr>
              <a:t>847</a:t>
            </a:r>
          </a:p>
        </p:txBody>
      </p:sp>
      <p:sp>
        <p:nvSpPr>
          <p:cNvPr id="28" name="Rounded Rectangle 27"/>
          <p:cNvSpPr/>
          <p:nvPr/>
        </p:nvSpPr>
        <p:spPr>
          <a:xfrm>
            <a:off x="594360" y="3621024"/>
            <a:ext cx="713232" cy="274320"/>
          </a:xfrm>
          <a:prstGeom prst="roundRect">
            <a:avLst>
              <a:gd name="adj" fmla="val 16666"/>
            </a:avLst>
          </a:prstGeom>
          <a:solidFill>
            <a:srgbClr val="009B3C"/>
          </a:solidFill>
          <a:ln>
            <a:noFill/>
          </a:ln>
          <a:effectLst/>
        </p:spPr>
        <p:txBody>
          <a:bodyPr rtlCol="0" anchor="ctr" lIns="36576" rIns="36576"/>
          <a:lstStyle/>
          <a:p>
            <a:pPr algn="ctr"/>
          </a:p>
        </p:txBody>
      </p:sp>
      <p:sp>
        <p:nvSpPr>
          <p:cNvPr id="29" name="TextBox 28"/>
          <p:cNvSpPr txBox="1"/>
          <p:nvPr/>
        </p:nvSpPr>
        <p:spPr>
          <a:xfrm>
            <a:off x="594360" y="3621024"/>
            <a:ext cx="713232" cy="274320"/>
          </a:xfrm>
          <a:prstGeom prst="rect">
            <a:avLst/>
          </a:prstGeom>
          <a:noFill/>
        </p:spPr>
        <p:txBody>
          <a:bodyPr wrap="square" lIns="0" rIns="0" tIns="0" bIns="0" anchor="ctr">
            <a:spAutoFit/>
          </a:bodyPr>
          <a:lstStyle/>
          <a:p>
            <a:pPr algn="ctr"/>
            <a:r>
              <a:rPr sz="900" b="1" i="0">
                <a:solidFill>
                  <a:srgbClr val="FFFFFF"/>
                </a:solidFill>
                <a:latin typeface="Calibri"/>
                <a:cs typeface="Calibri"/>
              </a:rPr>
              <a:t>CON-01</a:t>
            </a:r>
          </a:p>
        </p:txBody>
      </p:sp>
      <p:sp>
        <p:nvSpPr>
          <p:cNvPr id="30" name="TextBox 29"/>
          <p:cNvSpPr txBox="1"/>
          <p:nvPr/>
        </p:nvSpPr>
        <p:spPr>
          <a:xfrm>
            <a:off x="1399032" y="3547872"/>
            <a:ext cx="2377439" cy="237744"/>
          </a:xfrm>
          <a:prstGeom prst="rect">
            <a:avLst/>
          </a:prstGeom>
          <a:noFill/>
        </p:spPr>
        <p:txBody>
          <a:bodyPr wrap="square" lIns="0" rIns="0" tIns="0" bIns="0" anchor="ctr">
            <a:spAutoFit/>
          </a:bodyPr>
          <a:lstStyle/>
          <a:p>
            <a:pPr algn="l"/>
            <a:r>
              <a:rPr sz="850" b="0" i="0">
                <a:solidFill>
                  <a:srgbClr val="1D1D1B"/>
                </a:solidFill>
                <a:latin typeface="Consolas"/>
                <a:cs typeface="Consolas"/>
              </a:rPr>
              <a:t>PUBLIC_CONTACT</a:t>
            </a:r>
          </a:p>
        </p:txBody>
      </p:sp>
      <p:sp>
        <p:nvSpPr>
          <p:cNvPr id="31" name="TextBox 30"/>
          <p:cNvSpPr txBox="1"/>
          <p:nvPr/>
        </p:nvSpPr>
        <p:spPr>
          <a:xfrm>
            <a:off x="1399032" y="3758184"/>
            <a:ext cx="2377439" cy="237744"/>
          </a:xfrm>
          <a:prstGeom prst="rect">
            <a:avLst/>
          </a:prstGeom>
          <a:noFill/>
        </p:spPr>
        <p:txBody>
          <a:bodyPr wrap="square" lIns="0" rIns="0" tIns="0" bIns="0" anchor="ctr">
            <a:spAutoFit/>
          </a:bodyPr>
          <a:lstStyle/>
          <a:p>
            <a:pPr algn="l"/>
            <a:r>
              <a:rPr sz="1050" b="0" i="0">
                <a:solidFill>
                  <a:srgbClr val="595959"/>
                </a:solidFill>
                <a:latin typeface="Calibri"/>
                <a:cs typeface="Calibri"/>
              </a:rPr>
              <a:t>contact printed on the page</a:t>
            </a:r>
          </a:p>
        </p:txBody>
      </p:sp>
      <p:sp>
        <p:nvSpPr>
          <p:cNvPr id="32" name="TextBox 31"/>
          <p:cNvSpPr txBox="1"/>
          <p:nvPr/>
        </p:nvSpPr>
        <p:spPr>
          <a:xfrm>
            <a:off x="3749039" y="3566160"/>
            <a:ext cx="548640" cy="411480"/>
          </a:xfrm>
          <a:prstGeom prst="rect">
            <a:avLst/>
          </a:prstGeom>
          <a:noFill/>
        </p:spPr>
        <p:txBody>
          <a:bodyPr wrap="square" lIns="0" rIns="0" tIns="0" bIns="0" anchor="ctr">
            <a:spAutoFit/>
          </a:bodyPr>
          <a:lstStyle/>
          <a:p>
            <a:pPr algn="r"/>
            <a:r>
              <a:rPr sz="1100" b="1" i="0">
                <a:solidFill>
                  <a:srgbClr val="1D1D1B"/>
                </a:solidFill>
                <a:latin typeface="Calibri"/>
                <a:cs typeface="Calibri"/>
              </a:rPr>
              <a:t>174</a:t>
            </a:r>
          </a:p>
        </p:txBody>
      </p:sp>
      <p:sp>
        <p:nvSpPr>
          <p:cNvPr id="33" name="Rounded Rectangle 32"/>
          <p:cNvSpPr/>
          <p:nvPr/>
        </p:nvSpPr>
        <p:spPr>
          <a:xfrm>
            <a:off x="594360" y="4059935"/>
            <a:ext cx="713232" cy="274320"/>
          </a:xfrm>
          <a:prstGeom prst="roundRect">
            <a:avLst>
              <a:gd name="adj" fmla="val 16666"/>
            </a:avLst>
          </a:prstGeom>
          <a:solidFill>
            <a:srgbClr val="009B3C"/>
          </a:solidFill>
          <a:ln>
            <a:noFill/>
          </a:ln>
          <a:effectLst/>
        </p:spPr>
        <p:txBody>
          <a:bodyPr rtlCol="0" anchor="ctr" lIns="36576" rIns="36576"/>
          <a:lstStyle/>
          <a:p>
            <a:pPr algn="ctr"/>
          </a:p>
        </p:txBody>
      </p:sp>
      <p:sp>
        <p:nvSpPr>
          <p:cNvPr id="34" name="TextBox 33"/>
          <p:cNvSpPr txBox="1"/>
          <p:nvPr/>
        </p:nvSpPr>
        <p:spPr>
          <a:xfrm>
            <a:off x="594360" y="4059935"/>
            <a:ext cx="713232" cy="274320"/>
          </a:xfrm>
          <a:prstGeom prst="rect">
            <a:avLst/>
          </a:prstGeom>
          <a:noFill/>
        </p:spPr>
        <p:txBody>
          <a:bodyPr wrap="square" lIns="0" rIns="0" tIns="0" bIns="0" anchor="ctr">
            <a:spAutoFit/>
          </a:bodyPr>
          <a:lstStyle/>
          <a:p>
            <a:pPr algn="ctr"/>
            <a:r>
              <a:rPr sz="900" b="1" i="0">
                <a:solidFill>
                  <a:srgbClr val="FFFFFF"/>
                </a:solidFill>
                <a:latin typeface="Calibri"/>
                <a:cs typeface="Calibri"/>
              </a:rPr>
              <a:t>SLA-01</a:t>
            </a:r>
          </a:p>
        </p:txBody>
      </p:sp>
      <p:sp>
        <p:nvSpPr>
          <p:cNvPr id="35" name="TextBox 34"/>
          <p:cNvSpPr txBox="1"/>
          <p:nvPr/>
        </p:nvSpPr>
        <p:spPr>
          <a:xfrm>
            <a:off x="1399032" y="3986784"/>
            <a:ext cx="2377439" cy="237744"/>
          </a:xfrm>
          <a:prstGeom prst="rect">
            <a:avLst/>
          </a:prstGeom>
          <a:noFill/>
        </p:spPr>
        <p:txBody>
          <a:bodyPr wrap="square" lIns="0" rIns="0" tIns="0" bIns="0" anchor="ctr">
            <a:spAutoFit/>
          </a:bodyPr>
          <a:lstStyle/>
          <a:p>
            <a:pPr algn="l"/>
            <a:r>
              <a:rPr sz="850" b="0" i="0">
                <a:solidFill>
                  <a:srgbClr val="1D1D1B"/>
                </a:solidFill>
                <a:latin typeface="Consolas"/>
                <a:cs typeface="Consolas"/>
              </a:rPr>
              <a:t>NODE_CONTRACT_CONTEXT</a:t>
            </a:r>
          </a:p>
        </p:txBody>
      </p:sp>
      <p:sp>
        <p:nvSpPr>
          <p:cNvPr id="36" name="TextBox 35"/>
          <p:cNvSpPr txBox="1"/>
          <p:nvPr/>
        </p:nvSpPr>
        <p:spPr>
          <a:xfrm>
            <a:off x="1399032" y="4197096"/>
            <a:ext cx="2377439" cy="237744"/>
          </a:xfrm>
          <a:prstGeom prst="rect">
            <a:avLst/>
          </a:prstGeom>
          <a:noFill/>
        </p:spPr>
        <p:txBody>
          <a:bodyPr wrap="square" lIns="0" rIns="0" tIns="0" bIns="0" anchor="ctr">
            <a:spAutoFit/>
          </a:bodyPr>
          <a:lstStyle/>
          <a:p>
            <a:pPr algn="l"/>
            <a:r>
              <a:rPr sz="1050" b="0" i="0">
                <a:solidFill>
                  <a:srgbClr val="595959"/>
                </a:solidFill>
                <a:latin typeface="Calibri"/>
                <a:cs typeface="Calibri"/>
              </a:rPr>
              <a:t>service the AI may describe</a:t>
            </a:r>
          </a:p>
        </p:txBody>
      </p:sp>
      <p:sp>
        <p:nvSpPr>
          <p:cNvPr id="37" name="TextBox 36"/>
          <p:cNvSpPr txBox="1"/>
          <p:nvPr/>
        </p:nvSpPr>
        <p:spPr>
          <a:xfrm>
            <a:off x="3749039" y="4005072"/>
            <a:ext cx="548640" cy="411480"/>
          </a:xfrm>
          <a:prstGeom prst="rect">
            <a:avLst/>
          </a:prstGeom>
          <a:noFill/>
        </p:spPr>
        <p:txBody>
          <a:bodyPr wrap="square" lIns="0" rIns="0" tIns="0" bIns="0" anchor="ctr">
            <a:spAutoFit/>
          </a:bodyPr>
          <a:lstStyle/>
          <a:p>
            <a:pPr algn="r"/>
            <a:r>
              <a:rPr sz="1100" b="1" i="0">
                <a:solidFill>
                  <a:srgbClr val="1D1D1B"/>
                </a:solidFill>
                <a:latin typeface="Calibri"/>
                <a:cs typeface="Calibri"/>
              </a:rPr>
              <a:t>407</a:t>
            </a:r>
          </a:p>
        </p:txBody>
      </p:sp>
      <p:sp>
        <p:nvSpPr>
          <p:cNvPr id="38" name="Rounded Rectangle 37"/>
          <p:cNvSpPr/>
          <p:nvPr/>
        </p:nvSpPr>
        <p:spPr>
          <a:xfrm>
            <a:off x="4709159" y="1325880"/>
            <a:ext cx="3977639" cy="3154680"/>
          </a:xfrm>
          <a:prstGeom prst="roundRect">
            <a:avLst>
              <a:gd name="adj" fmla="val 2318"/>
            </a:avLst>
          </a:prstGeom>
          <a:solidFill>
            <a:srgbClr val="FBEAEA"/>
          </a:solidFill>
          <a:ln>
            <a:noFill/>
          </a:ln>
          <a:effectLst/>
        </p:spPr>
        <p:txBody>
          <a:bodyPr rtlCol="0" anchor="ctr" lIns="36576" rIns="36576"/>
          <a:lstStyle/>
          <a:p>
            <a:pPr algn="ctr"/>
          </a:p>
        </p:txBody>
      </p:sp>
      <p:pic>
        <p:nvPicPr>
          <p:cNvPr id="39" name="Picture 38" descr="xmark_brand.png"/>
          <p:cNvPicPr>
            <a:picLocks noChangeAspect="1"/>
          </p:cNvPicPr>
          <p:nvPr/>
        </p:nvPicPr>
        <p:blipFill>
          <a:blip r:embed="rId4"/>
          <a:stretch>
            <a:fillRect/>
          </a:stretch>
        </p:blipFill>
        <p:spPr>
          <a:xfrm>
            <a:off x="4846320" y="1426464"/>
            <a:ext cx="256032" cy="256032"/>
          </a:xfrm>
          <a:prstGeom prst="rect">
            <a:avLst/>
          </a:prstGeom>
        </p:spPr>
      </p:pic>
      <p:sp>
        <p:nvSpPr>
          <p:cNvPr id="40" name="TextBox 39"/>
          <p:cNvSpPr txBox="1"/>
          <p:nvPr/>
        </p:nvSpPr>
        <p:spPr>
          <a:xfrm>
            <a:off x="5184648" y="1389888"/>
            <a:ext cx="1828800" cy="329184"/>
          </a:xfrm>
          <a:prstGeom prst="rect">
            <a:avLst/>
          </a:prstGeom>
          <a:noFill/>
        </p:spPr>
        <p:txBody>
          <a:bodyPr wrap="square" lIns="0" rIns="0" tIns="0" bIns="0" anchor="ctr">
            <a:spAutoFit/>
          </a:bodyPr>
          <a:lstStyle/>
          <a:p>
            <a:pPr algn="l"/>
            <a:r>
              <a:rPr sz="1400" b="1" i="0">
                <a:solidFill>
                  <a:srgbClr val="B03A2E"/>
                </a:solidFill>
                <a:latin typeface="Source Sans Pro"/>
                <a:cs typeface="Source Sans Pro"/>
              </a:rPr>
              <a:t>Left out</a:t>
            </a:r>
          </a:p>
        </p:txBody>
      </p:sp>
      <p:sp>
        <p:nvSpPr>
          <p:cNvPr id="41" name="TextBox 40"/>
          <p:cNvSpPr txBox="1"/>
          <p:nvPr/>
        </p:nvSpPr>
        <p:spPr>
          <a:xfrm>
            <a:off x="7498079" y="1389888"/>
            <a:ext cx="1051560" cy="329184"/>
          </a:xfrm>
          <a:prstGeom prst="rect">
            <a:avLst/>
          </a:prstGeom>
          <a:noFill/>
        </p:spPr>
        <p:txBody>
          <a:bodyPr wrap="square" lIns="0" rIns="0" tIns="0" bIns="0" anchor="ctr">
            <a:spAutoFit/>
          </a:bodyPr>
          <a:lstStyle/>
          <a:p>
            <a:pPr algn="r"/>
            <a:r>
              <a:rPr sz="950" b="0" i="0">
                <a:solidFill>
                  <a:srgbClr val="8C8C8C"/>
                </a:solidFill>
                <a:latin typeface="Calibri"/>
                <a:cs typeface="Calibri"/>
              </a:rPr>
              <a:t>rows</a:t>
            </a:r>
          </a:p>
        </p:txBody>
      </p:sp>
      <p:sp>
        <p:nvSpPr>
          <p:cNvPr id="42" name="Rounded Rectangle 41"/>
          <p:cNvSpPr/>
          <p:nvPr/>
        </p:nvSpPr>
        <p:spPr>
          <a:xfrm>
            <a:off x="4846320" y="1865376"/>
            <a:ext cx="713232" cy="274320"/>
          </a:xfrm>
          <a:prstGeom prst="roundRect">
            <a:avLst>
              <a:gd name="adj" fmla="val 16666"/>
            </a:avLst>
          </a:prstGeom>
          <a:solidFill>
            <a:srgbClr val="B03A2E"/>
          </a:solidFill>
          <a:ln>
            <a:noFill/>
          </a:ln>
          <a:effectLst/>
        </p:spPr>
        <p:txBody>
          <a:bodyPr rtlCol="0" anchor="ctr" lIns="36576" rIns="36576"/>
          <a:lstStyle/>
          <a:p>
            <a:pPr algn="ctr"/>
          </a:p>
        </p:txBody>
      </p:sp>
      <p:sp>
        <p:nvSpPr>
          <p:cNvPr id="43" name="TextBox 42"/>
          <p:cNvSpPr txBox="1"/>
          <p:nvPr/>
        </p:nvSpPr>
        <p:spPr>
          <a:xfrm>
            <a:off x="4846320" y="1865376"/>
            <a:ext cx="713232" cy="274320"/>
          </a:xfrm>
          <a:prstGeom prst="rect">
            <a:avLst/>
          </a:prstGeom>
          <a:noFill/>
        </p:spPr>
        <p:txBody>
          <a:bodyPr wrap="square" lIns="0" rIns="0" tIns="0" bIns="0" anchor="ctr">
            <a:spAutoFit/>
          </a:bodyPr>
          <a:lstStyle/>
          <a:p>
            <a:pPr algn="ctr"/>
            <a:r>
              <a:rPr sz="900" b="1" i="0">
                <a:solidFill>
                  <a:srgbClr val="FFFFFF"/>
                </a:solidFill>
                <a:latin typeface="Calibri"/>
                <a:cs typeface="Calibri"/>
              </a:rPr>
              <a:t>FAC-02</a:t>
            </a:r>
          </a:p>
        </p:txBody>
      </p:sp>
      <p:sp>
        <p:nvSpPr>
          <p:cNvPr id="44" name="TextBox 43"/>
          <p:cNvSpPr txBox="1"/>
          <p:nvPr/>
        </p:nvSpPr>
        <p:spPr>
          <a:xfrm>
            <a:off x="5650992" y="1792224"/>
            <a:ext cx="2377439" cy="237744"/>
          </a:xfrm>
          <a:prstGeom prst="rect">
            <a:avLst/>
          </a:prstGeom>
          <a:noFill/>
        </p:spPr>
        <p:txBody>
          <a:bodyPr wrap="square" lIns="0" rIns="0" tIns="0" bIns="0" anchor="ctr">
            <a:spAutoFit/>
          </a:bodyPr>
          <a:lstStyle/>
          <a:p>
            <a:pPr algn="l"/>
            <a:r>
              <a:rPr sz="850" b="0" i="0">
                <a:solidFill>
                  <a:srgbClr val="1D1D1B"/>
                </a:solidFill>
                <a:latin typeface="Consolas"/>
                <a:cs typeface="Consolas"/>
              </a:rPr>
              <a:t>HELD_MEMBERSHIP</a:t>
            </a:r>
          </a:p>
        </p:txBody>
      </p:sp>
      <p:sp>
        <p:nvSpPr>
          <p:cNvPr id="45" name="TextBox 44"/>
          <p:cNvSpPr txBox="1"/>
          <p:nvPr/>
        </p:nvSpPr>
        <p:spPr>
          <a:xfrm>
            <a:off x="5650992" y="2002536"/>
            <a:ext cx="2377439" cy="237744"/>
          </a:xfrm>
          <a:prstGeom prst="rect">
            <a:avLst/>
          </a:prstGeom>
          <a:noFill/>
        </p:spPr>
        <p:txBody>
          <a:bodyPr wrap="square" lIns="0" rIns="0" tIns="0" bIns="0" anchor="ctr">
            <a:spAutoFit/>
          </a:bodyPr>
          <a:lstStyle/>
          <a:p>
            <a:pPr algn="l"/>
            <a:r>
              <a:rPr sz="1050" b="0" i="0">
                <a:solidFill>
                  <a:srgbClr val="595959"/>
                </a:solidFill>
                <a:latin typeface="Calibri"/>
                <a:cs typeface="Calibri"/>
              </a:rPr>
              <a:t>facility on hold, off the page</a:t>
            </a:r>
          </a:p>
        </p:txBody>
      </p:sp>
      <p:sp>
        <p:nvSpPr>
          <p:cNvPr id="46" name="TextBox 45"/>
          <p:cNvSpPr txBox="1"/>
          <p:nvPr/>
        </p:nvSpPr>
        <p:spPr>
          <a:xfrm>
            <a:off x="8001000" y="1810512"/>
            <a:ext cx="548640" cy="411480"/>
          </a:xfrm>
          <a:prstGeom prst="rect">
            <a:avLst/>
          </a:prstGeom>
          <a:noFill/>
        </p:spPr>
        <p:txBody>
          <a:bodyPr wrap="square" lIns="0" rIns="0" tIns="0" bIns="0" anchor="ctr">
            <a:spAutoFit/>
          </a:bodyPr>
          <a:lstStyle/>
          <a:p>
            <a:pPr algn="r"/>
            <a:r>
              <a:rPr sz="1100" b="1" i="0">
                <a:solidFill>
                  <a:srgbClr val="1D1D1B"/>
                </a:solidFill>
                <a:latin typeface="Calibri"/>
                <a:cs typeface="Calibri"/>
              </a:rPr>
              <a:t>64</a:t>
            </a:r>
          </a:p>
        </p:txBody>
      </p:sp>
      <p:sp>
        <p:nvSpPr>
          <p:cNvPr id="47" name="Rounded Rectangle 46"/>
          <p:cNvSpPr/>
          <p:nvPr/>
        </p:nvSpPr>
        <p:spPr>
          <a:xfrm>
            <a:off x="4846320" y="2304288"/>
            <a:ext cx="713232" cy="274320"/>
          </a:xfrm>
          <a:prstGeom prst="roundRect">
            <a:avLst>
              <a:gd name="adj" fmla="val 16666"/>
            </a:avLst>
          </a:prstGeom>
          <a:solidFill>
            <a:srgbClr val="B03A2E"/>
          </a:solidFill>
          <a:ln>
            <a:noFill/>
          </a:ln>
          <a:effectLst/>
        </p:spPr>
        <p:txBody>
          <a:bodyPr rtlCol="0" anchor="ctr" lIns="36576" rIns="36576"/>
          <a:lstStyle/>
          <a:p>
            <a:pPr algn="ctr"/>
          </a:p>
        </p:txBody>
      </p:sp>
      <p:sp>
        <p:nvSpPr>
          <p:cNvPr id="48" name="TextBox 47"/>
          <p:cNvSpPr txBox="1"/>
          <p:nvPr/>
        </p:nvSpPr>
        <p:spPr>
          <a:xfrm>
            <a:off x="4846320" y="2304288"/>
            <a:ext cx="713232" cy="274320"/>
          </a:xfrm>
          <a:prstGeom prst="rect">
            <a:avLst/>
          </a:prstGeom>
          <a:noFill/>
        </p:spPr>
        <p:txBody>
          <a:bodyPr wrap="square" lIns="0" rIns="0" tIns="0" bIns="0" anchor="ctr">
            <a:spAutoFit/>
          </a:bodyPr>
          <a:lstStyle/>
          <a:p>
            <a:pPr algn="ctr"/>
            <a:r>
              <a:rPr sz="900" b="1" i="0">
                <a:solidFill>
                  <a:srgbClr val="FFFFFF"/>
                </a:solidFill>
                <a:latin typeface="Calibri"/>
                <a:cs typeface="Calibri"/>
              </a:rPr>
              <a:t>LNK-02</a:t>
            </a:r>
          </a:p>
        </p:txBody>
      </p:sp>
      <p:sp>
        <p:nvSpPr>
          <p:cNvPr id="49" name="TextBox 48"/>
          <p:cNvSpPr txBox="1"/>
          <p:nvPr/>
        </p:nvSpPr>
        <p:spPr>
          <a:xfrm>
            <a:off x="5650992" y="2231136"/>
            <a:ext cx="2377439" cy="237744"/>
          </a:xfrm>
          <a:prstGeom prst="rect">
            <a:avLst/>
          </a:prstGeom>
          <a:noFill/>
        </p:spPr>
        <p:txBody>
          <a:bodyPr wrap="square" lIns="0" rIns="0" tIns="0" bIns="0" anchor="ctr">
            <a:spAutoFit/>
          </a:bodyPr>
          <a:lstStyle/>
          <a:p>
            <a:pPr algn="l"/>
            <a:r>
              <a:rPr sz="850" b="0" i="0">
                <a:solidFill>
                  <a:srgbClr val="1D1D1B"/>
                </a:solidFill>
                <a:latin typeface="Consolas"/>
                <a:cs typeface="Consolas"/>
              </a:rPr>
              <a:t>HELD_RELATIONSHIP</a:t>
            </a:r>
          </a:p>
        </p:txBody>
      </p:sp>
      <p:sp>
        <p:nvSpPr>
          <p:cNvPr id="50" name="TextBox 49"/>
          <p:cNvSpPr txBox="1"/>
          <p:nvPr/>
        </p:nvSpPr>
        <p:spPr>
          <a:xfrm>
            <a:off x="5650992" y="2441448"/>
            <a:ext cx="2377439" cy="237744"/>
          </a:xfrm>
          <a:prstGeom prst="rect">
            <a:avLst/>
          </a:prstGeom>
          <a:noFill/>
        </p:spPr>
        <p:txBody>
          <a:bodyPr wrap="square" lIns="0" rIns="0" tIns="0" bIns="0" anchor="ctr">
            <a:spAutoFit/>
          </a:bodyPr>
          <a:lstStyle/>
          <a:p>
            <a:pPr algn="l"/>
            <a:r>
              <a:rPr sz="1050" b="0" i="0">
                <a:solidFill>
                  <a:srgbClr val="595959"/>
                </a:solidFill>
                <a:latin typeface="Calibri"/>
                <a:cs typeface="Calibri"/>
              </a:rPr>
              <a:t>link on hold, review list</a:t>
            </a:r>
          </a:p>
        </p:txBody>
      </p:sp>
      <p:sp>
        <p:nvSpPr>
          <p:cNvPr id="51" name="TextBox 50"/>
          <p:cNvSpPr txBox="1"/>
          <p:nvPr/>
        </p:nvSpPr>
        <p:spPr>
          <a:xfrm>
            <a:off x="8001000" y="2249424"/>
            <a:ext cx="548640" cy="411480"/>
          </a:xfrm>
          <a:prstGeom prst="rect">
            <a:avLst/>
          </a:prstGeom>
          <a:noFill/>
        </p:spPr>
        <p:txBody>
          <a:bodyPr wrap="square" lIns="0" rIns="0" tIns="0" bIns="0" anchor="ctr">
            <a:spAutoFit/>
          </a:bodyPr>
          <a:lstStyle/>
          <a:p>
            <a:pPr algn="r"/>
            <a:r>
              <a:rPr sz="1100" b="1" i="0">
                <a:solidFill>
                  <a:srgbClr val="1D1D1B"/>
                </a:solidFill>
                <a:latin typeface="Calibri"/>
                <a:cs typeface="Calibri"/>
              </a:rPr>
              <a:t>40</a:t>
            </a:r>
          </a:p>
        </p:txBody>
      </p:sp>
      <p:sp>
        <p:nvSpPr>
          <p:cNvPr id="52" name="Rounded Rectangle 51"/>
          <p:cNvSpPr/>
          <p:nvPr/>
        </p:nvSpPr>
        <p:spPr>
          <a:xfrm>
            <a:off x="4846320" y="2743200"/>
            <a:ext cx="713232" cy="274320"/>
          </a:xfrm>
          <a:prstGeom prst="roundRect">
            <a:avLst>
              <a:gd name="adj" fmla="val 16666"/>
            </a:avLst>
          </a:prstGeom>
          <a:solidFill>
            <a:srgbClr val="B03A2E"/>
          </a:solidFill>
          <a:ln>
            <a:noFill/>
          </a:ln>
          <a:effectLst/>
        </p:spPr>
        <p:txBody>
          <a:bodyPr rtlCol="0" anchor="ctr" lIns="36576" rIns="36576"/>
          <a:lstStyle/>
          <a:p>
            <a:pPr algn="ctr"/>
          </a:p>
        </p:txBody>
      </p:sp>
      <p:sp>
        <p:nvSpPr>
          <p:cNvPr id="53" name="TextBox 52"/>
          <p:cNvSpPr txBox="1"/>
          <p:nvPr/>
        </p:nvSpPr>
        <p:spPr>
          <a:xfrm>
            <a:off x="4846320" y="2743200"/>
            <a:ext cx="713232" cy="274320"/>
          </a:xfrm>
          <a:prstGeom prst="rect">
            <a:avLst/>
          </a:prstGeom>
          <a:noFill/>
        </p:spPr>
        <p:txBody>
          <a:bodyPr wrap="square" lIns="0" rIns="0" tIns="0" bIns="0" anchor="ctr">
            <a:spAutoFit/>
          </a:bodyPr>
          <a:lstStyle/>
          <a:p>
            <a:pPr algn="ctr"/>
            <a:r>
              <a:rPr sz="900" b="1" i="0">
                <a:solidFill>
                  <a:srgbClr val="FFFFFF"/>
                </a:solidFill>
                <a:latin typeface="Calibri"/>
                <a:cs typeface="Calibri"/>
              </a:rPr>
              <a:t>TEC-02</a:t>
            </a:r>
          </a:p>
        </p:txBody>
      </p:sp>
      <p:sp>
        <p:nvSpPr>
          <p:cNvPr id="54" name="TextBox 53"/>
          <p:cNvSpPr txBox="1"/>
          <p:nvPr/>
        </p:nvSpPr>
        <p:spPr>
          <a:xfrm>
            <a:off x="5650992" y="2670048"/>
            <a:ext cx="2377439" cy="237744"/>
          </a:xfrm>
          <a:prstGeom prst="rect">
            <a:avLst/>
          </a:prstGeom>
          <a:noFill/>
        </p:spPr>
        <p:txBody>
          <a:bodyPr wrap="square" lIns="0" rIns="0" tIns="0" bIns="0" anchor="ctr">
            <a:spAutoFit/>
          </a:bodyPr>
          <a:lstStyle/>
          <a:p>
            <a:pPr algn="l"/>
            <a:r>
              <a:rPr sz="850" b="0" i="0">
                <a:solidFill>
                  <a:srgbClr val="1D1D1B"/>
                </a:solidFill>
                <a:latin typeface="Consolas"/>
                <a:cs typeface="Consolas"/>
              </a:rPr>
              <a:t>UTILITY_EXCLUDED</a:t>
            </a:r>
          </a:p>
        </p:txBody>
      </p:sp>
      <p:sp>
        <p:nvSpPr>
          <p:cNvPr id="55" name="TextBox 54"/>
          <p:cNvSpPr txBox="1"/>
          <p:nvPr/>
        </p:nvSpPr>
        <p:spPr>
          <a:xfrm>
            <a:off x="5650992" y="2880360"/>
            <a:ext cx="2377439" cy="237744"/>
          </a:xfrm>
          <a:prstGeom prst="rect">
            <a:avLst/>
          </a:prstGeom>
          <a:noFill/>
        </p:spPr>
        <p:txBody>
          <a:bodyPr wrap="square" lIns="0" rIns="0" tIns="0" bIns="0" anchor="ctr">
            <a:spAutoFit/>
          </a:bodyPr>
          <a:lstStyle/>
          <a:p>
            <a:pPr algn="l"/>
            <a:r>
              <a:rPr sz="1050" b="0" i="0">
                <a:solidFill>
                  <a:srgbClr val="595959"/>
                </a:solidFill>
                <a:latin typeface="Calibri"/>
                <a:cs typeface="Calibri"/>
              </a:rPr>
              <a:t>not a real method</a:t>
            </a:r>
          </a:p>
        </p:txBody>
      </p:sp>
      <p:sp>
        <p:nvSpPr>
          <p:cNvPr id="56" name="TextBox 55"/>
          <p:cNvSpPr txBox="1"/>
          <p:nvPr/>
        </p:nvSpPr>
        <p:spPr>
          <a:xfrm>
            <a:off x="8001000" y="2688336"/>
            <a:ext cx="548640" cy="411480"/>
          </a:xfrm>
          <a:prstGeom prst="rect">
            <a:avLst/>
          </a:prstGeom>
          <a:noFill/>
        </p:spPr>
        <p:txBody>
          <a:bodyPr wrap="square" lIns="0" rIns="0" tIns="0" bIns="0" anchor="ctr">
            <a:spAutoFit/>
          </a:bodyPr>
          <a:lstStyle/>
          <a:p>
            <a:pPr algn="r"/>
            <a:r>
              <a:rPr sz="1100" b="1" i="0">
                <a:solidFill>
                  <a:srgbClr val="1D1D1B"/>
                </a:solidFill>
                <a:latin typeface="Calibri"/>
                <a:cs typeface="Calibri"/>
              </a:rPr>
              <a:t>37</a:t>
            </a:r>
          </a:p>
        </p:txBody>
      </p:sp>
      <p:sp>
        <p:nvSpPr>
          <p:cNvPr id="57" name="Rounded Rectangle 56"/>
          <p:cNvSpPr/>
          <p:nvPr/>
        </p:nvSpPr>
        <p:spPr>
          <a:xfrm>
            <a:off x="4846320" y="3182112"/>
            <a:ext cx="713232" cy="274320"/>
          </a:xfrm>
          <a:prstGeom prst="roundRect">
            <a:avLst>
              <a:gd name="adj" fmla="val 16666"/>
            </a:avLst>
          </a:prstGeom>
          <a:solidFill>
            <a:srgbClr val="B03A2E"/>
          </a:solidFill>
          <a:ln>
            <a:noFill/>
          </a:ln>
          <a:effectLst/>
        </p:spPr>
        <p:txBody>
          <a:bodyPr rtlCol="0" anchor="ctr" lIns="36576" rIns="36576"/>
          <a:lstStyle/>
          <a:p>
            <a:pPr algn="ctr"/>
          </a:p>
        </p:txBody>
      </p:sp>
      <p:sp>
        <p:nvSpPr>
          <p:cNvPr id="58" name="TextBox 57"/>
          <p:cNvSpPr txBox="1"/>
          <p:nvPr/>
        </p:nvSpPr>
        <p:spPr>
          <a:xfrm>
            <a:off x="4846320" y="3182112"/>
            <a:ext cx="713232" cy="274320"/>
          </a:xfrm>
          <a:prstGeom prst="rect">
            <a:avLst/>
          </a:prstGeom>
          <a:noFill/>
        </p:spPr>
        <p:txBody>
          <a:bodyPr wrap="square" lIns="0" rIns="0" tIns="0" bIns="0" anchor="ctr">
            <a:spAutoFit/>
          </a:bodyPr>
          <a:lstStyle/>
          <a:p>
            <a:pPr algn="ctr"/>
            <a:r>
              <a:rPr sz="900" b="1" i="0">
                <a:solidFill>
                  <a:srgbClr val="FFFFFF"/>
                </a:solidFill>
                <a:latin typeface="Calibri"/>
                <a:cs typeface="Calibri"/>
              </a:rPr>
              <a:t>SVC-02/03</a:t>
            </a:r>
          </a:p>
        </p:txBody>
      </p:sp>
      <p:sp>
        <p:nvSpPr>
          <p:cNvPr id="59" name="TextBox 58"/>
          <p:cNvSpPr txBox="1"/>
          <p:nvPr/>
        </p:nvSpPr>
        <p:spPr>
          <a:xfrm>
            <a:off x="5650992" y="3108960"/>
            <a:ext cx="2377439" cy="237744"/>
          </a:xfrm>
          <a:prstGeom prst="rect">
            <a:avLst/>
          </a:prstGeom>
          <a:noFill/>
        </p:spPr>
        <p:txBody>
          <a:bodyPr wrap="square" lIns="0" rIns="0" tIns="0" bIns="0" anchor="ctr">
            <a:spAutoFit/>
          </a:bodyPr>
          <a:lstStyle/>
          <a:p>
            <a:pPr algn="l"/>
            <a:r>
              <a:rPr sz="850" b="0" i="0">
                <a:solidFill>
                  <a:srgbClr val="1D1D1B"/>
                </a:solidFill>
                <a:latin typeface="Consolas"/>
                <a:cs typeface="Consolas"/>
              </a:rPr>
              <a:t>HELD_SERVICE, CONTEXT_NOT_SERVICE</a:t>
            </a:r>
          </a:p>
        </p:txBody>
      </p:sp>
      <p:sp>
        <p:nvSpPr>
          <p:cNvPr id="60" name="TextBox 59"/>
          <p:cNvSpPr txBox="1"/>
          <p:nvPr/>
        </p:nvSpPr>
        <p:spPr>
          <a:xfrm>
            <a:off x="5650992" y="3319272"/>
            <a:ext cx="2377439" cy="237744"/>
          </a:xfrm>
          <a:prstGeom prst="rect">
            <a:avLst/>
          </a:prstGeom>
          <a:noFill/>
        </p:spPr>
        <p:txBody>
          <a:bodyPr wrap="square" lIns="0" rIns="0" tIns="0" bIns="0" anchor="ctr">
            <a:spAutoFit/>
          </a:bodyPr>
          <a:lstStyle/>
          <a:p>
            <a:pPr algn="l"/>
            <a:r>
              <a:rPr sz="1050" b="0" i="0">
                <a:solidFill>
                  <a:srgbClr val="595959"/>
                </a:solidFill>
                <a:latin typeface="Calibri"/>
                <a:cs typeface="Calibri"/>
              </a:rPr>
              <a:t>not a current service</a:t>
            </a:r>
          </a:p>
        </p:txBody>
      </p:sp>
      <p:sp>
        <p:nvSpPr>
          <p:cNvPr id="61" name="TextBox 60"/>
          <p:cNvSpPr txBox="1"/>
          <p:nvPr/>
        </p:nvSpPr>
        <p:spPr>
          <a:xfrm>
            <a:off x="8001000" y="3127248"/>
            <a:ext cx="548640" cy="411480"/>
          </a:xfrm>
          <a:prstGeom prst="rect">
            <a:avLst/>
          </a:prstGeom>
          <a:noFill/>
        </p:spPr>
        <p:txBody>
          <a:bodyPr wrap="square" lIns="0" rIns="0" tIns="0" bIns="0" anchor="ctr">
            <a:spAutoFit/>
          </a:bodyPr>
          <a:lstStyle/>
          <a:p>
            <a:pPr algn="r"/>
            <a:r>
              <a:rPr sz="1100" b="1" i="0">
                <a:solidFill>
                  <a:srgbClr val="1D1D1B"/>
                </a:solidFill>
                <a:latin typeface="Calibri"/>
                <a:cs typeface="Calibri"/>
              </a:rPr>
              <a:t>73</a:t>
            </a:r>
          </a:p>
        </p:txBody>
      </p:sp>
      <p:sp>
        <p:nvSpPr>
          <p:cNvPr id="62" name="Rounded Rectangle 61"/>
          <p:cNvSpPr/>
          <p:nvPr/>
        </p:nvSpPr>
        <p:spPr>
          <a:xfrm>
            <a:off x="4846320" y="3621024"/>
            <a:ext cx="713232" cy="274320"/>
          </a:xfrm>
          <a:prstGeom prst="roundRect">
            <a:avLst>
              <a:gd name="adj" fmla="val 16666"/>
            </a:avLst>
          </a:prstGeom>
          <a:solidFill>
            <a:srgbClr val="B03A2E"/>
          </a:solidFill>
          <a:ln>
            <a:noFill/>
          </a:ln>
          <a:effectLst/>
        </p:spPr>
        <p:txBody>
          <a:bodyPr rtlCol="0" anchor="ctr" lIns="36576" rIns="36576"/>
          <a:lstStyle/>
          <a:p>
            <a:pPr algn="ctr"/>
          </a:p>
        </p:txBody>
      </p:sp>
      <p:sp>
        <p:nvSpPr>
          <p:cNvPr id="63" name="TextBox 62"/>
          <p:cNvSpPr txBox="1"/>
          <p:nvPr/>
        </p:nvSpPr>
        <p:spPr>
          <a:xfrm>
            <a:off x="4846320" y="3621024"/>
            <a:ext cx="713232" cy="274320"/>
          </a:xfrm>
          <a:prstGeom prst="rect">
            <a:avLst/>
          </a:prstGeom>
          <a:noFill/>
        </p:spPr>
        <p:txBody>
          <a:bodyPr wrap="square" lIns="0" rIns="0" tIns="0" bIns="0" anchor="ctr">
            <a:spAutoFit/>
          </a:bodyPr>
          <a:lstStyle/>
          <a:p>
            <a:pPr algn="ctr"/>
            <a:r>
              <a:rPr sz="900" b="1" i="0">
                <a:solidFill>
                  <a:srgbClr val="FFFFFF"/>
                </a:solidFill>
                <a:latin typeface="Calibri"/>
                <a:cs typeface="Calibri"/>
              </a:rPr>
              <a:t>CON-02</a:t>
            </a:r>
          </a:p>
        </p:txBody>
      </p:sp>
      <p:sp>
        <p:nvSpPr>
          <p:cNvPr id="64" name="TextBox 63"/>
          <p:cNvSpPr txBox="1"/>
          <p:nvPr/>
        </p:nvSpPr>
        <p:spPr>
          <a:xfrm>
            <a:off x="5650992" y="3547872"/>
            <a:ext cx="2377439" cy="237744"/>
          </a:xfrm>
          <a:prstGeom prst="rect">
            <a:avLst/>
          </a:prstGeom>
          <a:noFill/>
        </p:spPr>
        <p:txBody>
          <a:bodyPr wrap="square" lIns="0" rIns="0" tIns="0" bIns="0" anchor="ctr">
            <a:spAutoFit/>
          </a:bodyPr>
          <a:lstStyle/>
          <a:p>
            <a:pPr algn="l"/>
            <a:r>
              <a:rPr sz="850" b="0" i="0">
                <a:solidFill>
                  <a:srgbClr val="1D1D1B"/>
                </a:solidFill>
                <a:latin typeface="Consolas"/>
                <a:cs typeface="Consolas"/>
              </a:rPr>
              <a:t>RETAINED_CONTACT_CONTEXT</a:t>
            </a:r>
          </a:p>
        </p:txBody>
      </p:sp>
      <p:sp>
        <p:nvSpPr>
          <p:cNvPr id="65" name="TextBox 64"/>
          <p:cNvSpPr txBox="1"/>
          <p:nvPr/>
        </p:nvSpPr>
        <p:spPr>
          <a:xfrm>
            <a:off x="5650992" y="3758184"/>
            <a:ext cx="2377439" cy="237744"/>
          </a:xfrm>
          <a:prstGeom prst="rect">
            <a:avLst/>
          </a:prstGeom>
          <a:noFill/>
        </p:spPr>
        <p:txBody>
          <a:bodyPr wrap="square" lIns="0" rIns="0" tIns="0" bIns="0" anchor="ctr">
            <a:spAutoFit/>
          </a:bodyPr>
          <a:lstStyle/>
          <a:p>
            <a:pPr algn="l"/>
            <a:r>
              <a:rPr sz="1050" b="0" i="0">
                <a:solidFill>
                  <a:srgbClr val="595959"/>
                </a:solidFill>
                <a:latin typeface="Calibri"/>
                <a:cs typeface="Calibri"/>
              </a:rPr>
              <a:t>older contact, kept for history</a:t>
            </a:r>
          </a:p>
        </p:txBody>
      </p:sp>
      <p:sp>
        <p:nvSpPr>
          <p:cNvPr id="66" name="TextBox 65"/>
          <p:cNvSpPr txBox="1"/>
          <p:nvPr/>
        </p:nvSpPr>
        <p:spPr>
          <a:xfrm>
            <a:off x="8001000" y="3566160"/>
            <a:ext cx="548640" cy="411480"/>
          </a:xfrm>
          <a:prstGeom prst="rect">
            <a:avLst/>
          </a:prstGeom>
          <a:noFill/>
        </p:spPr>
        <p:txBody>
          <a:bodyPr wrap="square" lIns="0" rIns="0" tIns="0" bIns="0" anchor="ctr">
            <a:spAutoFit/>
          </a:bodyPr>
          <a:lstStyle/>
          <a:p>
            <a:pPr algn="r"/>
            <a:r>
              <a:rPr sz="1100" b="1" i="0">
                <a:solidFill>
                  <a:srgbClr val="1D1D1B"/>
                </a:solidFill>
                <a:latin typeface="Calibri"/>
                <a:cs typeface="Calibri"/>
              </a:rPr>
              <a:t>20</a:t>
            </a:r>
          </a:p>
        </p:txBody>
      </p:sp>
      <p:sp>
        <p:nvSpPr>
          <p:cNvPr id="67" name="Rounded Rectangle 66"/>
          <p:cNvSpPr/>
          <p:nvPr/>
        </p:nvSpPr>
        <p:spPr>
          <a:xfrm>
            <a:off x="4846320" y="4059935"/>
            <a:ext cx="713232" cy="274320"/>
          </a:xfrm>
          <a:prstGeom prst="roundRect">
            <a:avLst>
              <a:gd name="adj" fmla="val 16666"/>
            </a:avLst>
          </a:prstGeom>
          <a:solidFill>
            <a:srgbClr val="B03A2E"/>
          </a:solidFill>
          <a:ln>
            <a:noFill/>
          </a:ln>
          <a:effectLst/>
        </p:spPr>
        <p:txBody>
          <a:bodyPr rtlCol="0" anchor="ctr" lIns="36576" rIns="36576"/>
          <a:lstStyle/>
          <a:p>
            <a:pPr algn="ctr"/>
          </a:p>
        </p:txBody>
      </p:sp>
      <p:sp>
        <p:nvSpPr>
          <p:cNvPr id="68" name="TextBox 67"/>
          <p:cNvSpPr txBox="1"/>
          <p:nvPr/>
        </p:nvSpPr>
        <p:spPr>
          <a:xfrm>
            <a:off x="4846320" y="4059935"/>
            <a:ext cx="713232" cy="274320"/>
          </a:xfrm>
          <a:prstGeom prst="rect">
            <a:avLst/>
          </a:prstGeom>
          <a:noFill/>
        </p:spPr>
        <p:txBody>
          <a:bodyPr wrap="square" lIns="0" rIns="0" tIns="0" bIns="0" anchor="ctr">
            <a:spAutoFit/>
          </a:bodyPr>
          <a:lstStyle/>
          <a:p>
            <a:pPr algn="ctr"/>
            <a:r>
              <a:rPr sz="900" b="1" i="0">
                <a:solidFill>
                  <a:srgbClr val="FFFFFF"/>
                </a:solidFill>
                <a:latin typeface="Calibri"/>
                <a:cs typeface="Calibri"/>
              </a:rPr>
              <a:t>SLA-02</a:t>
            </a:r>
          </a:p>
        </p:txBody>
      </p:sp>
      <p:sp>
        <p:nvSpPr>
          <p:cNvPr id="69" name="TextBox 68"/>
          <p:cNvSpPr txBox="1"/>
          <p:nvPr/>
        </p:nvSpPr>
        <p:spPr>
          <a:xfrm>
            <a:off x="5650992" y="3986784"/>
            <a:ext cx="2377439" cy="237744"/>
          </a:xfrm>
          <a:prstGeom prst="rect">
            <a:avLst/>
          </a:prstGeom>
          <a:noFill/>
        </p:spPr>
        <p:txBody>
          <a:bodyPr wrap="square" lIns="0" rIns="0" tIns="0" bIns="0" anchor="ctr">
            <a:spAutoFit/>
          </a:bodyPr>
          <a:lstStyle/>
          <a:p>
            <a:pPr algn="l"/>
            <a:r>
              <a:rPr sz="850" b="0" i="0">
                <a:solidFill>
                  <a:srgbClr val="1D1D1B"/>
                </a:solidFill>
                <a:latin typeface="Consolas"/>
                <a:cs typeface="Consolas"/>
              </a:rPr>
              <a:t>FACILITY_DERIVED_NODE_SUMMARY</a:t>
            </a:r>
          </a:p>
        </p:txBody>
      </p:sp>
      <p:sp>
        <p:nvSpPr>
          <p:cNvPr id="70" name="TextBox 69"/>
          <p:cNvSpPr txBox="1"/>
          <p:nvPr/>
        </p:nvSpPr>
        <p:spPr>
          <a:xfrm>
            <a:off x="5650992" y="4197096"/>
            <a:ext cx="2377439" cy="237744"/>
          </a:xfrm>
          <a:prstGeom prst="rect">
            <a:avLst/>
          </a:prstGeom>
          <a:noFill/>
        </p:spPr>
        <p:txBody>
          <a:bodyPr wrap="square" lIns="0" rIns="0" tIns="0" bIns="0" anchor="ctr">
            <a:spAutoFit/>
          </a:bodyPr>
          <a:lstStyle/>
          <a:p>
            <a:pPr algn="l"/>
            <a:r>
              <a:rPr sz="1050" b="0" i="0">
                <a:solidFill>
                  <a:srgbClr val="595959"/>
                </a:solidFill>
                <a:latin typeface="Calibri"/>
                <a:cs typeface="Calibri"/>
              </a:rPr>
              <a:t>not in the signed SLA</a:t>
            </a:r>
          </a:p>
        </p:txBody>
      </p:sp>
      <p:sp>
        <p:nvSpPr>
          <p:cNvPr id="71" name="TextBox 70"/>
          <p:cNvSpPr txBox="1"/>
          <p:nvPr/>
        </p:nvSpPr>
        <p:spPr>
          <a:xfrm>
            <a:off x="8001000" y="4005072"/>
            <a:ext cx="548640" cy="411480"/>
          </a:xfrm>
          <a:prstGeom prst="rect">
            <a:avLst/>
          </a:prstGeom>
          <a:noFill/>
        </p:spPr>
        <p:txBody>
          <a:bodyPr wrap="square" lIns="0" rIns="0" tIns="0" bIns="0" anchor="ctr">
            <a:spAutoFit/>
          </a:bodyPr>
          <a:lstStyle/>
          <a:p>
            <a:pPr algn="r"/>
            <a:r>
              <a:rPr sz="1100" b="1" i="0">
                <a:solidFill>
                  <a:srgbClr val="1D1D1B"/>
                </a:solidFill>
                <a:latin typeface="Calibri"/>
                <a:cs typeface="Calibri"/>
              </a:rPr>
              <a:t>96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Node file</a:t>
            </a:r>
          </a:p>
        </p:txBody>
      </p:sp>
      <p:sp>
        <p:nvSpPr>
          <p:cNvPr id="3" name="Rounded Rectangle 2"/>
          <p:cNvSpPr/>
          <p:nvPr/>
        </p:nvSpPr>
        <p:spPr>
          <a:xfrm>
            <a:off x="457200" y="914400"/>
            <a:ext cx="2590800" cy="3017520"/>
          </a:xfrm>
          <a:prstGeom prst="roundRect">
            <a:avLst>
              <a:gd name="adj" fmla="val 2823"/>
            </a:avLst>
          </a:prstGeom>
          <a:solidFill>
            <a:srgbClr val="FAFAFA"/>
          </a:solidFill>
          <a:ln w="9525">
            <a:solidFill>
              <a:srgbClr val="E3E3E3"/>
            </a:solidFill>
          </a:ln>
          <a:effectLst/>
        </p:spPr>
        <p:txBody>
          <a:bodyPr rtlCol="0" anchor="ctr" lIns="36576" rIns="36576"/>
          <a:lstStyle/>
          <a:p>
            <a:pPr algn="ctr"/>
          </a:p>
        </p:txBody>
      </p:sp>
      <p:sp>
        <p:nvSpPr>
          <p:cNvPr id="4" name="Rounded Rectangle 3"/>
          <p:cNvSpPr/>
          <p:nvPr/>
        </p:nvSpPr>
        <p:spPr>
          <a:xfrm>
            <a:off x="457200" y="914400"/>
            <a:ext cx="2590800" cy="566928"/>
          </a:xfrm>
          <a:prstGeom prst="roundRect">
            <a:avLst>
              <a:gd name="adj" fmla="val 12903"/>
            </a:avLst>
          </a:prstGeom>
          <a:solidFill>
            <a:srgbClr val="009B3C"/>
          </a:solidFill>
          <a:ln>
            <a:noFill/>
          </a:ln>
          <a:effectLst/>
        </p:spPr>
        <p:txBody>
          <a:bodyPr rtlCol="0" anchor="ctr" lIns="36576" rIns="36576"/>
          <a:lstStyle/>
          <a:p>
            <a:pPr algn="ctr"/>
          </a:p>
        </p:txBody>
      </p:sp>
      <p:sp>
        <p:nvSpPr>
          <p:cNvPr id="5" name="Rectangle 4"/>
          <p:cNvSpPr/>
          <p:nvPr/>
        </p:nvSpPr>
        <p:spPr>
          <a:xfrm>
            <a:off x="457200" y="1234440"/>
            <a:ext cx="2590800" cy="246888"/>
          </a:xfrm>
          <a:prstGeom prst="rect">
            <a:avLst/>
          </a:prstGeom>
          <a:solidFill>
            <a:srgbClr val="009B3C"/>
          </a:solidFill>
          <a:ln>
            <a:noFill/>
          </a:ln>
          <a:effectLst/>
        </p:spPr>
        <p:txBody>
          <a:bodyPr rtlCol="0" anchor="ctr" lIns="36576" rIns="36576"/>
          <a:lstStyle/>
          <a:p>
            <a:pPr algn="ctr"/>
          </a:p>
        </p:txBody>
      </p:sp>
      <p:sp>
        <p:nvSpPr>
          <p:cNvPr id="6" name="TextBox 5"/>
          <p:cNvSpPr txBox="1"/>
          <p:nvPr/>
        </p:nvSpPr>
        <p:spPr>
          <a:xfrm>
            <a:off x="621792" y="914400"/>
            <a:ext cx="2316480" cy="347472"/>
          </a:xfrm>
          <a:prstGeom prst="rect">
            <a:avLst/>
          </a:prstGeom>
          <a:noFill/>
        </p:spPr>
        <p:txBody>
          <a:bodyPr wrap="square" lIns="0" rIns="0" tIns="0" bIns="0" anchor="ctr">
            <a:spAutoFit/>
          </a:bodyPr>
          <a:lstStyle/>
          <a:p>
            <a:pPr algn="l"/>
            <a:r>
              <a:rPr sz="1300" b="1" i="0">
                <a:solidFill>
                  <a:srgbClr val="FFFFFF"/>
                </a:solidFill>
                <a:latin typeface="Consolas"/>
                <a:cs typeface="Consolas"/>
              </a:rPr>
              <a:t>node_briefing</a:t>
            </a:r>
          </a:p>
        </p:txBody>
      </p:sp>
      <p:sp>
        <p:nvSpPr>
          <p:cNvPr id="7" name="TextBox 6"/>
          <p:cNvSpPr txBox="1"/>
          <p:nvPr/>
        </p:nvSpPr>
        <p:spPr>
          <a:xfrm>
            <a:off x="621792" y="1216152"/>
            <a:ext cx="2316480" cy="237744"/>
          </a:xfrm>
          <a:prstGeom prst="rect">
            <a:avLst/>
          </a:prstGeom>
          <a:noFill/>
        </p:spPr>
        <p:txBody>
          <a:bodyPr wrap="square" lIns="0" rIns="0" tIns="0" bIns="0" anchor="ctr">
            <a:spAutoFit/>
          </a:bodyPr>
          <a:lstStyle/>
          <a:p>
            <a:pPr algn="l"/>
            <a:r>
              <a:rPr sz="1000" b="0" i="0">
                <a:solidFill>
                  <a:srgbClr val="FFFFFF"/>
                </a:solidFill>
                <a:latin typeface="Calibri"/>
                <a:cs typeface="Calibri"/>
              </a:rPr>
              <a:t>Sent to the AI writer</a:t>
            </a:r>
          </a:p>
        </p:txBody>
      </p:sp>
      <p:sp>
        <p:nvSpPr>
          <p:cNvPr id="8" name="TextBox 7"/>
          <p:cNvSpPr txBox="1"/>
          <p:nvPr/>
        </p:nvSpPr>
        <p:spPr>
          <a:xfrm>
            <a:off x="621792" y="1691640"/>
            <a:ext cx="2316480" cy="2194560"/>
          </a:xfrm>
          <a:prstGeom prst="rect">
            <a:avLst/>
          </a:prstGeom>
          <a:noFill/>
        </p:spPr>
        <p:txBody>
          <a:bodyPr wrap="square" lIns="0" rIns="0" tIns="0" bIns="0" anchor="t">
            <a:spAutoFit/>
          </a:bodyPr>
          <a:lstStyle/>
          <a:p>
            <a:pPr algn="l">
              <a:spcAft>
                <a:spcPts val="400"/>
              </a:spcAft>
            </a:pPr>
            <a:r>
              <a:rPr sz="1100" b="0" i="0">
                <a:solidFill>
                  <a:srgbClr val="1D1D1B"/>
                </a:solidFill>
                <a:latin typeface="Consolas"/>
                <a:cs typeface="Consolas"/>
              </a:rPr>
              <a:t>identity, structure</a:t>
            </a:r>
          </a:p>
          <a:p>
            <a:pPr algn="l">
              <a:spcAft>
                <a:spcPts val="400"/>
              </a:spcAft>
            </a:pPr>
            <a:r>
              <a:rPr sz="1100" b="0" i="0">
                <a:solidFill>
                  <a:srgbClr val="1D1D1B"/>
                </a:solidFill>
                <a:latin typeface="Consolas"/>
                <a:cs typeface="Consolas"/>
              </a:rPr>
              <a:t>strength_profile</a:t>
            </a:r>
          </a:p>
          <a:p>
            <a:pPr algn="l">
              <a:spcAft>
                <a:spcPts val="400"/>
              </a:spcAft>
            </a:pPr>
            <a:r>
              <a:rPr sz="1100" b="0" i="0">
                <a:solidFill>
                  <a:srgbClr val="1D1D1B"/>
                </a:solidFill>
                <a:latin typeface="Consolas"/>
                <a:cs typeface="Consolas"/>
              </a:rPr>
              <a:t>technologies_by_category</a:t>
            </a:r>
          </a:p>
          <a:p>
            <a:pPr algn="l">
              <a:spcAft>
                <a:spcPts val="400"/>
              </a:spcAft>
            </a:pPr>
            <a:r>
              <a:rPr sz="1100" b="0" i="0">
                <a:solidFill>
                  <a:srgbClr val="1D1D1B"/>
                </a:solidFill>
                <a:latin typeface="Consolas"/>
                <a:cs typeface="Consolas"/>
              </a:rPr>
              <a:t>technology_guidance</a:t>
            </a:r>
          </a:p>
          <a:p>
            <a:pPr algn="l">
              <a:spcAft>
                <a:spcPts val="400"/>
              </a:spcAft>
            </a:pPr>
            <a:r>
              <a:rPr sz="1100" b="0" i="0">
                <a:solidFill>
                  <a:srgbClr val="1D1D1B"/>
                </a:solidFill>
                <a:latin typeface="Consolas"/>
                <a:cs typeface="Consolas"/>
              </a:rPr>
              <a:t>instrument_highlights</a:t>
            </a:r>
          </a:p>
          <a:p>
            <a:pPr algn="l">
              <a:spcAft>
                <a:spcPts val="400"/>
              </a:spcAft>
            </a:pPr>
            <a:r>
              <a:rPr sz="1100" b="0" i="0">
                <a:solidFill>
                  <a:srgbClr val="1D1D1B"/>
                </a:solidFill>
                <a:latin typeface="Consolas"/>
                <a:cs typeface="Consolas"/>
              </a:rPr>
              <a:t>specialties, application_areas</a:t>
            </a:r>
          </a:p>
          <a:p>
            <a:pPr algn="l">
              <a:spcAft>
                <a:spcPts val="400"/>
              </a:spcAft>
            </a:pPr>
            <a:r>
              <a:rPr sz="1100" b="0" i="0">
                <a:solidFill>
                  <a:srgbClr val="1D1D1B"/>
                </a:solidFill>
                <a:latin typeface="Consolas"/>
                <a:cs typeface="Consolas"/>
              </a:rPr>
              <a:t>services_support (SLA)</a:t>
            </a:r>
          </a:p>
          <a:p>
            <a:pPr algn="l">
              <a:spcAft>
                <a:spcPts val="400"/>
              </a:spcAft>
            </a:pPr>
            <a:r>
              <a:rPr sz="1100" b="0" i="0">
                <a:solidFill>
                  <a:srgbClr val="1D1D1B"/>
                </a:solidFill>
                <a:latin typeface="Consolas"/>
                <a:cs typeface="Consolas"/>
              </a:rPr>
              <a:t>geography, facilities</a:t>
            </a:r>
          </a:p>
        </p:txBody>
      </p:sp>
      <p:sp>
        <p:nvSpPr>
          <p:cNvPr id="9" name="Rounded Rectangle 8"/>
          <p:cNvSpPr/>
          <p:nvPr/>
        </p:nvSpPr>
        <p:spPr>
          <a:xfrm>
            <a:off x="3276600" y="914400"/>
            <a:ext cx="2590800" cy="3017520"/>
          </a:xfrm>
          <a:prstGeom prst="roundRect">
            <a:avLst>
              <a:gd name="adj" fmla="val 2823"/>
            </a:avLst>
          </a:prstGeom>
          <a:solidFill>
            <a:srgbClr val="FAFAFA"/>
          </a:solidFill>
          <a:ln w="9525">
            <a:solidFill>
              <a:srgbClr val="E3E3E3"/>
            </a:solidFill>
          </a:ln>
          <a:effectLst/>
        </p:spPr>
        <p:txBody>
          <a:bodyPr rtlCol="0" anchor="ctr" lIns="36576" rIns="36576"/>
          <a:lstStyle/>
          <a:p>
            <a:pPr algn="ctr"/>
          </a:p>
        </p:txBody>
      </p:sp>
      <p:sp>
        <p:nvSpPr>
          <p:cNvPr id="10" name="Rounded Rectangle 9"/>
          <p:cNvSpPr/>
          <p:nvPr/>
        </p:nvSpPr>
        <p:spPr>
          <a:xfrm>
            <a:off x="3276600" y="914400"/>
            <a:ext cx="2590800" cy="566928"/>
          </a:xfrm>
          <a:prstGeom prst="roundRect">
            <a:avLst>
              <a:gd name="adj" fmla="val 12903"/>
            </a:avLst>
          </a:prstGeom>
          <a:solidFill>
            <a:srgbClr val="1A73E8"/>
          </a:solidFill>
          <a:ln>
            <a:noFill/>
          </a:ln>
          <a:effectLst/>
        </p:spPr>
        <p:txBody>
          <a:bodyPr rtlCol="0" anchor="ctr" lIns="36576" rIns="36576"/>
          <a:lstStyle/>
          <a:p>
            <a:pPr algn="ctr"/>
          </a:p>
        </p:txBody>
      </p:sp>
      <p:sp>
        <p:nvSpPr>
          <p:cNvPr id="11" name="Rectangle 10"/>
          <p:cNvSpPr/>
          <p:nvPr/>
        </p:nvSpPr>
        <p:spPr>
          <a:xfrm>
            <a:off x="3276600" y="1234440"/>
            <a:ext cx="2590800" cy="246888"/>
          </a:xfrm>
          <a:prstGeom prst="rect">
            <a:avLst/>
          </a:prstGeom>
          <a:solidFill>
            <a:srgbClr val="1A73E8"/>
          </a:solidFill>
          <a:ln>
            <a:noFill/>
          </a:ln>
          <a:effectLst/>
        </p:spPr>
        <p:txBody>
          <a:bodyPr rtlCol="0" anchor="ctr" lIns="36576" rIns="36576"/>
          <a:lstStyle/>
          <a:p>
            <a:pPr algn="ctr"/>
          </a:p>
        </p:txBody>
      </p:sp>
      <p:sp>
        <p:nvSpPr>
          <p:cNvPr id="12" name="TextBox 11"/>
          <p:cNvSpPr txBox="1"/>
          <p:nvPr/>
        </p:nvSpPr>
        <p:spPr>
          <a:xfrm>
            <a:off x="3441192" y="914400"/>
            <a:ext cx="2316480" cy="347472"/>
          </a:xfrm>
          <a:prstGeom prst="rect">
            <a:avLst/>
          </a:prstGeom>
          <a:noFill/>
        </p:spPr>
        <p:txBody>
          <a:bodyPr wrap="square" lIns="0" rIns="0" tIns="0" bIns="0" anchor="ctr">
            <a:spAutoFit/>
          </a:bodyPr>
          <a:lstStyle/>
          <a:p>
            <a:pPr algn="l"/>
            <a:r>
              <a:rPr sz="1300" b="1" i="0">
                <a:solidFill>
                  <a:srgbClr val="FFFFFF"/>
                </a:solidFill>
                <a:latin typeface="Consolas"/>
                <a:cs typeface="Consolas"/>
              </a:rPr>
              <a:t>node_record</a:t>
            </a:r>
          </a:p>
        </p:txBody>
      </p:sp>
      <p:sp>
        <p:nvSpPr>
          <p:cNvPr id="13" name="TextBox 12"/>
          <p:cNvSpPr txBox="1"/>
          <p:nvPr/>
        </p:nvSpPr>
        <p:spPr>
          <a:xfrm>
            <a:off x="3441192" y="1216152"/>
            <a:ext cx="2316480" cy="237744"/>
          </a:xfrm>
          <a:prstGeom prst="rect">
            <a:avLst/>
          </a:prstGeom>
          <a:noFill/>
        </p:spPr>
        <p:txBody>
          <a:bodyPr wrap="square" lIns="0" rIns="0" tIns="0" bIns="0" anchor="ctr">
            <a:spAutoFit/>
          </a:bodyPr>
          <a:lstStyle/>
          <a:p>
            <a:pPr algn="l"/>
            <a:r>
              <a:rPr sz="1000" b="0" i="0">
                <a:solidFill>
                  <a:srgbClr val="FFFFFF"/>
                </a:solidFill>
                <a:latin typeface="Calibri"/>
                <a:cs typeface="Calibri"/>
              </a:rPr>
              <a:t>Printed by Render node page</a:t>
            </a:r>
          </a:p>
        </p:txBody>
      </p:sp>
      <p:sp>
        <p:nvSpPr>
          <p:cNvPr id="14" name="TextBox 13"/>
          <p:cNvSpPr txBox="1"/>
          <p:nvPr/>
        </p:nvSpPr>
        <p:spPr>
          <a:xfrm>
            <a:off x="3441192" y="1691640"/>
            <a:ext cx="2316480" cy="2194560"/>
          </a:xfrm>
          <a:prstGeom prst="rect">
            <a:avLst/>
          </a:prstGeom>
          <a:noFill/>
        </p:spPr>
        <p:txBody>
          <a:bodyPr wrap="square" lIns="0" rIns="0" tIns="0" bIns="0" anchor="t">
            <a:spAutoFit/>
          </a:bodyPr>
          <a:lstStyle/>
          <a:p>
            <a:pPr algn="l">
              <a:spcAft>
                <a:spcPts val="400"/>
              </a:spcAft>
            </a:pPr>
            <a:r>
              <a:rPr sz="1100" b="0" i="0">
                <a:solidFill>
                  <a:srgbClr val="1D1D1B"/>
                </a:solidFill>
                <a:latin typeface="Consolas"/>
                <a:cs typeface="Consolas"/>
              </a:rPr>
              <a:t>node_contact</a:t>
            </a:r>
          </a:p>
          <a:p>
            <a:pPr algn="l">
              <a:spcAft>
                <a:spcPts val="400"/>
              </a:spcAft>
            </a:pPr>
            <a:r>
              <a:rPr sz="1100" b="0" i="0">
                <a:solidFill>
                  <a:srgbClr val="1D1D1B"/>
                </a:solidFill>
                <a:latin typeface="Consolas"/>
                <a:cs typeface="Consolas"/>
              </a:rPr>
              <a:t>services_list</a:t>
            </a:r>
          </a:p>
          <a:p>
            <a:pPr algn="l">
              <a:spcAft>
                <a:spcPts val="400"/>
              </a:spcAft>
            </a:pPr>
            <a:r>
              <a:rPr sz="1100" b="0" i="0">
                <a:solidFill>
                  <a:srgbClr val="1D1D1B"/>
                </a:solidFill>
                <a:latin typeface="Consolas"/>
                <a:cs typeface="Consolas"/>
              </a:rPr>
              <a:t>facilities: website, facility_uri</a:t>
            </a:r>
          </a:p>
          <a:p>
            <a:pPr algn="l">
              <a:spcAft>
                <a:spcPts val="400"/>
              </a:spcAft>
            </a:pPr>
            <a:r>
              <a:rPr sz="1100" b="0" i="0">
                <a:solidFill>
                  <a:srgbClr val="1D1D1B"/>
                </a:solidFill>
                <a:latin typeface="Consolas"/>
                <a:cs typeface="Consolas"/>
              </a:rPr>
              <a:t>address, contacts</a:t>
            </a:r>
          </a:p>
          <a:p>
            <a:pPr algn="l">
              <a:spcAft>
                <a:spcPts val="400"/>
              </a:spcAft>
            </a:pPr>
            <a:r>
              <a:rPr sz="1100" b="0" i="0">
                <a:solidFill>
                  <a:srgbClr val="1D1D1B"/>
                </a:solidFill>
                <a:latin typeface="Consolas"/>
                <a:cs typeface="Consolas"/>
              </a:rPr>
              <a:t>access_routes</a:t>
            </a:r>
          </a:p>
          <a:p>
            <a:pPr algn="l">
              <a:spcAft>
                <a:spcPts val="400"/>
              </a:spcAft>
            </a:pPr>
            <a:r>
              <a:rPr sz="1100" b="0" i="0">
                <a:solidFill>
                  <a:srgbClr val="1D1D1B"/>
                </a:solidFill>
                <a:latin typeface="Consolas"/>
                <a:cs typeface="Consolas"/>
              </a:rPr>
              <a:t>full facility profile</a:t>
            </a:r>
          </a:p>
        </p:txBody>
      </p:sp>
      <p:sp>
        <p:nvSpPr>
          <p:cNvPr id="15" name="Rounded Rectangle 14"/>
          <p:cNvSpPr/>
          <p:nvPr/>
        </p:nvSpPr>
        <p:spPr>
          <a:xfrm>
            <a:off x="6096000" y="914400"/>
            <a:ext cx="2590800" cy="3017520"/>
          </a:xfrm>
          <a:prstGeom prst="roundRect">
            <a:avLst>
              <a:gd name="adj" fmla="val 2823"/>
            </a:avLst>
          </a:prstGeom>
          <a:solidFill>
            <a:srgbClr val="FAFAFA"/>
          </a:solidFill>
          <a:ln w="9525">
            <a:solidFill>
              <a:srgbClr val="E3E3E3"/>
            </a:solidFill>
          </a:ln>
          <a:effectLst/>
        </p:spPr>
        <p:txBody>
          <a:bodyPr rtlCol="0" anchor="ctr" lIns="36576" rIns="36576"/>
          <a:lstStyle/>
          <a:p>
            <a:pPr algn="ctr"/>
          </a:p>
        </p:txBody>
      </p:sp>
      <p:sp>
        <p:nvSpPr>
          <p:cNvPr id="16" name="Rounded Rectangle 15"/>
          <p:cNvSpPr/>
          <p:nvPr/>
        </p:nvSpPr>
        <p:spPr>
          <a:xfrm>
            <a:off x="6096000" y="914400"/>
            <a:ext cx="2590800" cy="566928"/>
          </a:xfrm>
          <a:prstGeom prst="roundRect">
            <a:avLst>
              <a:gd name="adj" fmla="val 12903"/>
            </a:avLst>
          </a:prstGeom>
          <a:solidFill>
            <a:srgbClr val="B03A2E"/>
          </a:solidFill>
          <a:ln>
            <a:noFill/>
          </a:ln>
          <a:effectLst/>
        </p:spPr>
        <p:txBody>
          <a:bodyPr rtlCol="0" anchor="ctr" lIns="36576" rIns="36576"/>
          <a:lstStyle/>
          <a:p>
            <a:pPr algn="ctr"/>
          </a:p>
        </p:txBody>
      </p:sp>
      <p:sp>
        <p:nvSpPr>
          <p:cNvPr id="17" name="Rectangle 16"/>
          <p:cNvSpPr/>
          <p:nvPr/>
        </p:nvSpPr>
        <p:spPr>
          <a:xfrm>
            <a:off x="6096000" y="1234440"/>
            <a:ext cx="2590800" cy="246888"/>
          </a:xfrm>
          <a:prstGeom prst="rect">
            <a:avLst/>
          </a:prstGeom>
          <a:solidFill>
            <a:srgbClr val="B03A2E"/>
          </a:solidFill>
          <a:ln>
            <a:noFill/>
          </a:ln>
          <a:effectLst/>
        </p:spPr>
        <p:txBody>
          <a:bodyPr rtlCol="0" anchor="ctr" lIns="36576" rIns="36576"/>
          <a:lstStyle/>
          <a:p>
            <a:pPr algn="ctr"/>
          </a:p>
        </p:txBody>
      </p:sp>
      <p:sp>
        <p:nvSpPr>
          <p:cNvPr id="18" name="TextBox 17"/>
          <p:cNvSpPr txBox="1"/>
          <p:nvPr/>
        </p:nvSpPr>
        <p:spPr>
          <a:xfrm>
            <a:off x="6260592" y="914400"/>
            <a:ext cx="2316480" cy="347472"/>
          </a:xfrm>
          <a:prstGeom prst="rect">
            <a:avLst/>
          </a:prstGeom>
          <a:noFill/>
        </p:spPr>
        <p:txBody>
          <a:bodyPr wrap="square" lIns="0" rIns="0" tIns="0" bIns="0" anchor="ctr">
            <a:spAutoFit/>
          </a:bodyPr>
          <a:lstStyle/>
          <a:p>
            <a:pPr algn="l"/>
            <a:r>
              <a:rPr sz="1300" b="1" i="0">
                <a:solidFill>
                  <a:srgbClr val="FFFFFF"/>
                </a:solidFill>
                <a:latin typeface="Consolas"/>
                <a:cs typeface="Consolas"/>
              </a:rPr>
              <a:t>missing_info</a:t>
            </a:r>
          </a:p>
        </p:txBody>
      </p:sp>
      <p:sp>
        <p:nvSpPr>
          <p:cNvPr id="19" name="TextBox 18"/>
          <p:cNvSpPr txBox="1"/>
          <p:nvPr/>
        </p:nvSpPr>
        <p:spPr>
          <a:xfrm>
            <a:off x="6260592" y="1216152"/>
            <a:ext cx="2316480" cy="237744"/>
          </a:xfrm>
          <a:prstGeom prst="rect">
            <a:avLst/>
          </a:prstGeom>
          <a:noFill/>
        </p:spPr>
        <p:txBody>
          <a:bodyPr wrap="square" lIns="0" rIns="0" tIns="0" bIns="0" anchor="ctr">
            <a:spAutoFit/>
          </a:bodyPr>
          <a:lstStyle/>
          <a:p>
            <a:pPr algn="l"/>
            <a:r>
              <a:rPr sz="1000" b="0" i="0">
                <a:solidFill>
                  <a:srgbClr val="FFFFFF"/>
                </a:solidFill>
                <a:latin typeface="Calibri"/>
                <a:cs typeface="Calibri"/>
              </a:rPr>
              <a:t>Review list only</a:t>
            </a:r>
          </a:p>
        </p:txBody>
      </p:sp>
      <p:sp>
        <p:nvSpPr>
          <p:cNvPr id="20" name="TextBox 19"/>
          <p:cNvSpPr txBox="1"/>
          <p:nvPr/>
        </p:nvSpPr>
        <p:spPr>
          <a:xfrm>
            <a:off x="6260592" y="1691640"/>
            <a:ext cx="2316480" cy="2194560"/>
          </a:xfrm>
          <a:prstGeom prst="rect">
            <a:avLst/>
          </a:prstGeom>
          <a:noFill/>
        </p:spPr>
        <p:txBody>
          <a:bodyPr wrap="square" lIns="0" rIns="0" tIns="0" bIns="0" anchor="t">
            <a:spAutoFit/>
          </a:bodyPr>
          <a:lstStyle/>
          <a:p>
            <a:pPr algn="l">
              <a:spcAft>
                <a:spcPts val="400"/>
              </a:spcAft>
            </a:pPr>
            <a:r>
              <a:rPr sz="1100" b="0" i="0">
                <a:solidFill>
                  <a:srgbClr val="1D1D1B"/>
                </a:solidFill>
                <a:latin typeface="Consolas"/>
                <a:cs typeface="Consolas"/>
              </a:rPr>
              <a:t>held links and facilities</a:t>
            </a:r>
          </a:p>
          <a:p>
            <a:pPr algn="l">
              <a:spcAft>
                <a:spcPts val="400"/>
              </a:spcAft>
            </a:pPr>
            <a:r>
              <a:rPr sz="1100" b="0" i="0">
                <a:solidFill>
                  <a:srgbClr val="1D1D1B"/>
                </a:solidFill>
                <a:latin typeface="Consolas"/>
                <a:cs typeface="Consolas"/>
              </a:rPr>
              <a:t>methods without a facility</a:t>
            </a:r>
          </a:p>
          <a:p>
            <a:pPr algn="l">
              <a:spcAft>
                <a:spcPts val="400"/>
              </a:spcAft>
            </a:pPr>
            <a:r>
              <a:rPr sz="1100" b="0" i="0">
                <a:solidFill>
                  <a:srgbClr val="1D1D1B"/>
                </a:solidFill>
                <a:latin typeface="Consolas"/>
                <a:cs typeface="Consolas"/>
              </a:rPr>
              <a:t>links that did not open</a:t>
            </a:r>
          </a:p>
          <a:p>
            <a:pPr algn="l">
              <a:spcAft>
                <a:spcPts val="400"/>
              </a:spcAft>
            </a:pPr>
            <a:r>
              <a:rPr sz="1100" b="0" i="0">
                <a:solidFill>
                  <a:srgbClr val="1D1D1B"/>
                </a:solidFill>
                <a:latin typeface="Consolas"/>
                <a:cs typeface="Consolas"/>
              </a:rPr>
              <a:t>removed August text</a:t>
            </a:r>
          </a:p>
          <a:p>
            <a:pPr algn="l">
              <a:spcAft>
                <a:spcPts val="400"/>
              </a:spcAft>
            </a:pPr>
            <a:r>
              <a:rPr sz="1100" b="0" i="0">
                <a:solidFill>
                  <a:srgbClr val="1D1D1B"/>
                </a:solidFill>
                <a:latin typeface="Consolas"/>
                <a:cs typeface="Consolas"/>
              </a:rPr>
              <a:t>open Data Enrichment issues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n8n workflow</a:t>
            </a:r>
          </a:p>
        </p:txBody>
      </p:sp>
      <p:pic>
        <p:nvPicPr>
          <p:cNvPr id="3" name="Picture 2" descr="canvas.png"/>
          <p:cNvPicPr>
            <a:picLocks noChangeAspect="1"/>
          </p:cNvPicPr>
          <p:nvPr/>
        </p:nvPicPr>
        <p:blipFill>
          <a:blip r:embed="rId3"/>
          <a:stretch>
            <a:fillRect/>
          </a:stretch>
        </p:blipFill>
        <p:spPr>
          <a:xfrm>
            <a:off x="457200" y="868680"/>
            <a:ext cx="8229600" cy="1600200"/>
          </a:xfrm>
          <a:prstGeom prst="rect">
            <a:avLst/>
          </a:prstGeom>
        </p:spPr>
      </p:pic>
      <p:sp>
        <p:nvSpPr>
          <p:cNvPr id="4" name="Rounded Rectangle 3"/>
          <p:cNvSpPr/>
          <p:nvPr/>
        </p:nvSpPr>
        <p:spPr>
          <a:xfrm>
            <a:off x="3584447" y="960120"/>
            <a:ext cx="5221224" cy="1417320"/>
          </a:xfrm>
          <a:prstGeom prst="roundRect">
            <a:avLst>
              <a:gd name="adj" fmla="val 5161"/>
            </a:avLst>
          </a:prstGeom>
          <a:noFill/>
          <a:ln w="12700">
            <a:solidFill>
              <a:srgbClr val="2E7D32"/>
            </a:solidFill>
          </a:ln>
          <a:effectLst/>
        </p:spPr>
        <p:txBody>
          <a:bodyPr rtlCol="0" anchor="ctr" lIns="36576" rIns="36576"/>
          <a:lstStyle/>
          <a:p>
            <a:pPr algn="ctr"/>
          </a:p>
        </p:txBody>
      </p:sp>
      <p:sp>
        <p:nvSpPr>
          <p:cNvPr id="5" name="TextBox 4"/>
          <p:cNvSpPr txBox="1"/>
          <p:nvPr/>
        </p:nvSpPr>
        <p:spPr>
          <a:xfrm>
            <a:off x="3675887" y="2139696"/>
            <a:ext cx="2743200" cy="201168"/>
          </a:xfrm>
          <a:prstGeom prst="rect">
            <a:avLst/>
          </a:prstGeom>
          <a:noFill/>
        </p:spPr>
        <p:txBody>
          <a:bodyPr wrap="square" lIns="0" rIns="0" tIns="0" bIns="0" anchor="t">
            <a:spAutoFit/>
          </a:bodyPr>
          <a:lstStyle/>
          <a:p>
            <a:pPr algn="l"/>
            <a:r>
              <a:rPr sz="900" b="0" i="1">
                <a:solidFill>
                  <a:srgbClr val="2E7D32"/>
                </a:solidFill>
                <a:latin typeface="Calibri"/>
                <a:cs typeface="Calibri"/>
              </a:rPr>
              <a:t>repeated for each Node</a:t>
            </a:r>
          </a:p>
        </p:txBody>
      </p:sp>
      <p:sp>
        <p:nvSpPr>
          <p:cNvPr id="6" name="Rounded Rectangle 5"/>
          <p:cNvSpPr/>
          <p:nvPr/>
        </p:nvSpPr>
        <p:spPr>
          <a:xfrm>
            <a:off x="621792" y="1124712"/>
            <a:ext cx="457200" cy="457200"/>
          </a:xfrm>
          <a:prstGeom prst="roundRect">
            <a:avLst>
              <a:gd name="adj" fmla="val 16000"/>
            </a:avLst>
          </a:prstGeom>
          <a:solidFill>
            <a:srgbClr val="FFFFFF"/>
          </a:solidFill>
          <a:ln w="22225">
            <a:solidFill>
              <a:srgbClr val="6B6B6B"/>
            </a:solidFill>
          </a:ln>
          <a:effectLst/>
        </p:spPr>
        <p:txBody>
          <a:bodyPr rtlCol="0" anchor="ctr" lIns="36576" rIns="36576"/>
          <a:lstStyle/>
          <a:p>
            <a:pPr algn="ctr"/>
          </a:p>
        </p:txBody>
      </p:sp>
      <p:pic>
        <p:nvPicPr>
          <p:cNvPr id="7" name="Picture 6" descr="pointer_brand.png"/>
          <p:cNvPicPr>
            <a:picLocks noChangeAspect="1"/>
          </p:cNvPicPr>
          <p:nvPr/>
        </p:nvPicPr>
        <p:blipFill>
          <a:blip r:embed="rId4"/>
          <a:stretch>
            <a:fillRect/>
          </a:stretch>
        </p:blipFill>
        <p:spPr>
          <a:xfrm>
            <a:off x="722375" y="1225296"/>
            <a:ext cx="256032" cy="256032"/>
          </a:xfrm>
          <a:prstGeom prst="rect">
            <a:avLst/>
          </a:prstGeom>
        </p:spPr>
      </p:pic>
      <p:sp>
        <p:nvSpPr>
          <p:cNvPr id="8" name="Oval 7"/>
          <p:cNvSpPr/>
          <p:nvPr/>
        </p:nvSpPr>
        <p:spPr>
          <a:xfrm>
            <a:off x="960119" y="1033271"/>
            <a:ext cx="201168" cy="201168"/>
          </a:xfrm>
          <a:prstGeom prst="ellipse">
            <a:avLst/>
          </a:prstGeom>
          <a:solidFill>
            <a:srgbClr val="6B6B6B"/>
          </a:solidFill>
          <a:ln>
            <a:noFill/>
          </a:ln>
          <a:effectLst/>
        </p:spPr>
        <p:txBody>
          <a:bodyPr rtlCol="0" anchor="ctr" lIns="36576" rIns="36576"/>
          <a:lstStyle/>
          <a:p>
            <a:pPr algn="ctr"/>
          </a:p>
        </p:txBody>
      </p:sp>
      <p:sp>
        <p:nvSpPr>
          <p:cNvPr id="9" name="TextBox 8"/>
          <p:cNvSpPr txBox="1"/>
          <p:nvPr/>
        </p:nvSpPr>
        <p:spPr>
          <a:xfrm>
            <a:off x="960119"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1</a:t>
            </a:r>
          </a:p>
        </p:txBody>
      </p:sp>
      <p:sp>
        <p:nvSpPr>
          <p:cNvPr id="10" name="TextBox 9"/>
          <p:cNvSpPr txBox="1"/>
          <p:nvPr/>
        </p:nvSpPr>
        <p:spPr>
          <a:xfrm>
            <a:off x="493775"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Manual trigger</a:t>
            </a:r>
          </a:p>
        </p:txBody>
      </p:sp>
      <p:cxnSp>
        <p:nvCxnSpPr>
          <p:cNvPr id="11" name="Connector 10"/>
          <p:cNvCxnSpPr/>
          <p:nvPr/>
        </p:nvCxnSpPr>
        <p:spPr>
          <a:xfrm>
            <a:off x="1097280" y="1353312"/>
            <a:ext cx="269748"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385316" y="1124712"/>
            <a:ext cx="457200" cy="457200"/>
          </a:xfrm>
          <a:prstGeom prst="roundRect">
            <a:avLst>
              <a:gd name="adj" fmla="val 16000"/>
            </a:avLst>
          </a:prstGeom>
          <a:solidFill>
            <a:srgbClr val="FFFFFF"/>
          </a:solidFill>
          <a:ln w="22225">
            <a:solidFill>
              <a:srgbClr val="1A73E8"/>
            </a:solidFill>
          </a:ln>
          <a:effectLst/>
        </p:spPr>
        <p:txBody>
          <a:bodyPr rtlCol="0" anchor="ctr" lIns="36576" rIns="36576"/>
          <a:lstStyle/>
          <a:p>
            <a:pPr algn="ctr"/>
          </a:p>
        </p:txBody>
      </p:sp>
      <p:pic>
        <p:nvPicPr>
          <p:cNvPr id="13" name="Picture 12" descr="drive_brand.png"/>
          <p:cNvPicPr>
            <a:picLocks noChangeAspect="1"/>
          </p:cNvPicPr>
          <p:nvPr/>
        </p:nvPicPr>
        <p:blipFill>
          <a:blip r:embed="rId5"/>
          <a:stretch>
            <a:fillRect/>
          </a:stretch>
        </p:blipFill>
        <p:spPr>
          <a:xfrm>
            <a:off x="1485900" y="1225296"/>
            <a:ext cx="256032" cy="256032"/>
          </a:xfrm>
          <a:prstGeom prst="rect">
            <a:avLst/>
          </a:prstGeom>
        </p:spPr>
      </p:pic>
      <p:sp>
        <p:nvSpPr>
          <p:cNvPr id="14" name="Oval 13"/>
          <p:cNvSpPr/>
          <p:nvPr/>
        </p:nvSpPr>
        <p:spPr>
          <a:xfrm>
            <a:off x="1723643" y="1033271"/>
            <a:ext cx="201168" cy="201168"/>
          </a:xfrm>
          <a:prstGeom prst="ellipse">
            <a:avLst/>
          </a:prstGeom>
          <a:solidFill>
            <a:srgbClr val="1A73E8"/>
          </a:solidFill>
          <a:ln>
            <a:noFill/>
          </a:ln>
          <a:effectLst/>
        </p:spPr>
        <p:txBody>
          <a:bodyPr rtlCol="0" anchor="ctr" lIns="36576" rIns="36576"/>
          <a:lstStyle/>
          <a:p>
            <a:pPr algn="ctr"/>
          </a:p>
        </p:txBody>
      </p:sp>
      <p:sp>
        <p:nvSpPr>
          <p:cNvPr id="15" name="TextBox 14"/>
          <p:cNvSpPr txBox="1"/>
          <p:nvPr/>
        </p:nvSpPr>
        <p:spPr>
          <a:xfrm>
            <a:off x="1723643"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2</a:t>
            </a:r>
          </a:p>
        </p:txBody>
      </p:sp>
      <p:sp>
        <p:nvSpPr>
          <p:cNvPr id="16" name="TextBox 15"/>
          <p:cNvSpPr txBox="1"/>
          <p:nvPr/>
        </p:nvSpPr>
        <p:spPr>
          <a:xfrm>
            <a:off x="1257300"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List node files</a:t>
            </a:r>
          </a:p>
        </p:txBody>
      </p:sp>
      <p:cxnSp>
        <p:nvCxnSpPr>
          <p:cNvPr id="17" name="Connector 16"/>
          <p:cNvCxnSpPr/>
          <p:nvPr/>
        </p:nvCxnSpPr>
        <p:spPr>
          <a:xfrm>
            <a:off x="1860803" y="1353312"/>
            <a:ext cx="269748"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148839" y="1124712"/>
            <a:ext cx="457200" cy="457200"/>
          </a:xfrm>
          <a:prstGeom prst="roundRect">
            <a:avLst>
              <a:gd name="adj" fmla="val 16000"/>
            </a:avLst>
          </a:prstGeom>
          <a:solidFill>
            <a:srgbClr val="FFFFFF"/>
          </a:solidFill>
          <a:ln w="22225">
            <a:solidFill>
              <a:srgbClr val="E8710A"/>
            </a:solidFill>
          </a:ln>
          <a:effectLst/>
        </p:spPr>
        <p:txBody>
          <a:bodyPr rtlCol="0" anchor="ctr" lIns="36576" rIns="36576"/>
          <a:lstStyle/>
          <a:p>
            <a:pPr algn="ctr"/>
          </a:p>
        </p:txBody>
      </p:sp>
      <p:pic>
        <p:nvPicPr>
          <p:cNvPr id="19" name="Picture 18" descr="code_brand.png"/>
          <p:cNvPicPr>
            <a:picLocks noChangeAspect="1"/>
          </p:cNvPicPr>
          <p:nvPr/>
        </p:nvPicPr>
        <p:blipFill>
          <a:blip r:embed="rId6"/>
          <a:stretch>
            <a:fillRect/>
          </a:stretch>
        </p:blipFill>
        <p:spPr>
          <a:xfrm>
            <a:off x="2249423" y="1225296"/>
            <a:ext cx="256032" cy="256032"/>
          </a:xfrm>
          <a:prstGeom prst="rect">
            <a:avLst/>
          </a:prstGeom>
        </p:spPr>
      </p:pic>
      <p:sp>
        <p:nvSpPr>
          <p:cNvPr id="20" name="Oval 19"/>
          <p:cNvSpPr/>
          <p:nvPr/>
        </p:nvSpPr>
        <p:spPr>
          <a:xfrm>
            <a:off x="2487168" y="1033271"/>
            <a:ext cx="201168" cy="201168"/>
          </a:xfrm>
          <a:prstGeom prst="ellipse">
            <a:avLst/>
          </a:prstGeom>
          <a:solidFill>
            <a:srgbClr val="E8710A"/>
          </a:solidFill>
          <a:ln>
            <a:noFill/>
          </a:ln>
          <a:effectLst/>
        </p:spPr>
        <p:txBody>
          <a:bodyPr rtlCol="0" anchor="ctr" lIns="36576" rIns="36576"/>
          <a:lstStyle/>
          <a:p>
            <a:pPr algn="ctr"/>
          </a:p>
        </p:txBody>
      </p:sp>
      <p:sp>
        <p:nvSpPr>
          <p:cNvPr id="21" name="TextBox 20"/>
          <p:cNvSpPr txBox="1"/>
          <p:nvPr/>
        </p:nvSpPr>
        <p:spPr>
          <a:xfrm>
            <a:off x="2487168"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3</a:t>
            </a:r>
          </a:p>
        </p:txBody>
      </p:sp>
      <p:sp>
        <p:nvSpPr>
          <p:cNvPr id="22" name="TextBox 21"/>
          <p:cNvSpPr txBox="1"/>
          <p:nvPr/>
        </p:nvSpPr>
        <p:spPr>
          <a:xfrm>
            <a:off x="2020823"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Pick node files</a:t>
            </a:r>
          </a:p>
        </p:txBody>
      </p:sp>
      <p:cxnSp>
        <p:nvCxnSpPr>
          <p:cNvPr id="23" name="Connector 22"/>
          <p:cNvCxnSpPr/>
          <p:nvPr/>
        </p:nvCxnSpPr>
        <p:spPr>
          <a:xfrm>
            <a:off x="2624327" y="1353312"/>
            <a:ext cx="269748"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912363" y="1124712"/>
            <a:ext cx="457200" cy="457200"/>
          </a:xfrm>
          <a:prstGeom prst="roundRect">
            <a:avLst>
              <a:gd name="adj" fmla="val 16000"/>
            </a:avLst>
          </a:prstGeom>
          <a:solidFill>
            <a:srgbClr val="FFFFFF"/>
          </a:solidFill>
          <a:ln w="22225">
            <a:solidFill>
              <a:srgbClr val="2E7D32"/>
            </a:solidFill>
          </a:ln>
          <a:effectLst/>
        </p:spPr>
        <p:txBody>
          <a:bodyPr rtlCol="0" anchor="ctr" lIns="36576" rIns="36576"/>
          <a:lstStyle/>
          <a:p>
            <a:pPr algn="ctr"/>
          </a:p>
        </p:txBody>
      </p:sp>
      <p:pic>
        <p:nvPicPr>
          <p:cNvPr id="25" name="Picture 24" descr="loop_brand.png"/>
          <p:cNvPicPr>
            <a:picLocks noChangeAspect="1"/>
          </p:cNvPicPr>
          <p:nvPr/>
        </p:nvPicPr>
        <p:blipFill>
          <a:blip r:embed="rId7"/>
          <a:stretch>
            <a:fillRect/>
          </a:stretch>
        </p:blipFill>
        <p:spPr>
          <a:xfrm>
            <a:off x="3012947" y="1225296"/>
            <a:ext cx="256032" cy="256032"/>
          </a:xfrm>
          <a:prstGeom prst="rect">
            <a:avLst/>
          </a:prstGeom>
        </p:spPr>
      </p:pic>
      <p:sp>
        <p:nvSpPr>
          <p:cNvPr id="26" name="Oval 25"/>
          <p:cNvSpPr/>
          <p:nvPr/>
        </p:nvSpPr>
        <p:spPr>
          <a:xfrm>
            <a:off x="3250691" y="1033271"/>
            <a:ext cx="201168" cy="201168"/>
          </a:xfrm>
          <a:prstGeom prst="ellipse">
            <a:avLst/>
          </a:prstGeom>
          <a:solidFill>
            <a:srgbClr val="2E7D32"/>
          </a:solidFill>
          <a:ln>
            <a:noFill/>
          </a:ln>
          <a:effectLst/>
        </p:spPr>
        <p:txBody>
          <a:bodyPr rtlCol="0" anchor="ctr" lIns="36576" rIns="36576"/>
          <a:lstStyle/>
          <a:p>
            <a:pPr algn="ctr"/>
          </a:p>
        </p:txBody>
      </p:sp>
      <p:sp>
        <p:nvSpPr>
          <p:cNvPr id="27" name="TextBox 26"/>
          <p:cNvSpPr txBox="1"/>
          <p:nvPr/>
        </p:nvSpPr>
        <p:spPr>
          <a:xfrm>
            <a:off x="3250691"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4</a:t>
            </a:r>
          </a:p>
        </p:txBody>
      </p:sp>
      <p:sp>
        <p:nvSpPr>
          <p:cNvPr id="28" name="TextBox 27"/>
          <p:cNvSpPr txBox="1"/>
          <p:nvPr/>
        </p:nvSpPr>
        <p:spPr>
          <a:xfrm>
            <a:off x="2784347"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Loop Over Nodes</a:t>
            </a:r>
          </a:p>
        </p:txBody>
      </p:sp>
      <p:cxnSp>
        <p:nvCxnSpPr>
          <p:cNvPr id="29" name="Connector 28"/>
          <p:cNvCxnSpPr/>
          <p:nvPr/>
        </p:nvCxnSpPr>
        <p:spPr>
          <a:xfrm>
            <a:off x="3387851" y="1353312"/>
            <a:ext cx="269748"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675887" y="1124712"/>
            <a:ext cx="457200" cy="457200"/>
          </a:xfrm>
          <a:prstGeom prst="roundRect">
            <a:avLst>
              <a:gd name="adj" fmla="val 16000"/>
            </a:avLst>
          </a:prstGeom>
          <a:solidFill>
            <a:srgbClr val="FFFFFF"/>
          </a:solidFill>
          <a:ln w="22225">
            <a:solidFill>
              <a:srgbClr val="1A73E8"/>
            </a:solidFill>
          </a:ln>
          <a:effectLst/>
        </p:spPr>
        <p:txBody>
          <a:bodyPr rtlCol="0" anchor="ctr" lIns="36576" rIns="36576"/>
          <a:lstStyle/>
          <a:p>
            <a:pPr algn="ctr"/>
          </a:p>
        </p:txBody>
      </p:sp>
      <p:pic>
        <p:nvPicPr>
          <p:cNvPr id="31" name="Picture 30" descr="drive_brand.png"/>
          <p:cNvPicPr>
            <a:picLocks noChangeAspect="1"/>
          </p:cNvPicPr>
          <p:nvPr/>
        </p:nvPicPr>
        <p:blipFill>
          <a:blip r:embed="rId5"/>
          <a:stretch>
            <a:fillRect/>
          </a:stretch>
        </p:blipFill>
        <p:spPr>
          <a:xfrm>
            <a:off x="3776472" y="1225296"/>
            <a:ext cx="256032" cy="256032"/>
          </a:xfrm>
          <a:prstGeom prst="rect">
            <a:avLst/>
          </a:prstGeom>
        </p:spPr>
      </p:pic>
      <p:sp>
        <p:nvSpPr>
          <p:cNvPr id="32" name="Oval 31"/>
          <p:cNvSpPr/>
          <p:nvPr/>
        </p:nvSpPr>
        <p:spPr>
          <a:xfrm>
            <a:off x="4014215" y="1033271"/>
            <a:ext cx="201168" cy="201168"/>
          </a:xfrm>
          <a:prstGeom prst="ellipse">
            <a:avLst/>
          </a:prstGeom>
          <a:solidFill>
            <a:srgbClr val="1A73E8"/>
          </a:solidFill>
          <a:ln>
            <a:noFill/>
          </a:ln>
          <a:effectLst/>
        </p:spPr>
        <p:txBody>
          <a:bodyPr rtlCol="0" anchor="ctr" lIns="36576" rIns="36576"/>
          <a:lstStyle/>
          <a:p>
            <a:pPr algn="ctr"/>
          </a:p>
        </p:txBody>
      </p:sp>
      <p:sp>
        <p:nvSpPr>
          <p:cNvPr id="33" name="TextBox 32"/>
          <p:cNvSpPr txBox="1"/>
          <p:nvPr/>
        </p:nvSpPr>
        <p:spPr>
          <a:xfrm>
            <a:off x="4014215"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5</a:t>
            </a:r>
          </a:p>
        </p:txBody>
      </p:sp>
      <p:sp>
        <p:nvSpPr>
          <p:cNvPr id="34" name="TextBox 33"/>
          <p:cNvSpPr txBox="1"/>
          <p:nvPr/>
        </p:nvSpPr>
        <p:spPr>
          <a:xfrm>
            <a:off x="3547871"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Download node file</a:t>
            </a:r>
          </a:p>
        </p:txBody>
      </p:sp>
      <p:cxnSp>
        <p:nvCxnSpPr>
          <p:cNvPr id="35" name="Connector 34"/>
          <p:cNvCxnSpPr/>
          <p:nvPr/>
        </p:nvCxnSpPr>
        <p:spPr>
          <a:xfrm>
            <a:off x="4151375" y="1353312"/>
            <a:ext cx="269749"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439412" y="1124712"/>
            <a:ext cx="457200" cy="457200"/>
          </a:xfrm>
          <a:prstGeom prst="roundRect">
            <a:avLst>
              <a:gd name="adj" fmla="val 16000"/>
            </a:avLst>
          </a:prstGeom>
          <a:solidFill>
            <a:srgbClr val="FFFFFF"/>
          </a:solidFill>
          <a:ln w="22225">
            <a:solidFill>
              <a:srgbClr val="E8710A"/>
            </a:solidFill>
          </a:ln>
          <a:effectLst/>
        </p:spPr>
        <p:txBody>
          <a:bodyPr rtlCol="0" anchor="ctr" lIns="36576" rIns="36576"/>
          <a:lstStyle/>
          <a:p>
            <a:pPr algn="ctr"/>
          </a:p>
        </p:txBody>
      </p:sp>
      <p:pic>
        <p:nvPicPr>
          <p:cNvPr id="37" name="Picture 36" descr="code_brand.png"/>
          <p:cNvPicPr>
            <a:picLocks noChangeAspect="1"/>
          </p:cNvPicPr>
          <p:nvPr/>
        </p:nvPicPr>
        <p:blipFill>
          <a:blip r:embed="rId6"/>
          <a:stretch>
            <a:fillRect/>
          </a:stretch>
        </p:blipFill>
        <p:spPr>
          <a:xfrm>
            <a:off x="4539996" y="1225296"/>
            <a:ext cx="256032" cy="256032"/>
          </a:xfrm>
          <a:prstGeom prst="rect">
            <a:avLst/>
          </a:prstGeom>
        </p:spPr>
      </p:pic>
      <p:sp>
        <p:nvSpPr>
          <p:cNvPr id="38" name="Oval 37"/>
          <p:cNvSpPr/>
          <p:nvPr/>
        </p:nvSpPr>
        <p:spPr>
          <a:xfrm>
            <a:off x="4777740" y="1033271"/>
            <a:ext cx="201168" cy="201168"/>
          </a:xfrm>
          <a:prstGeom prst="ellipse">
            <a:avLst/>
          </a:prstGeom>
          <a:solidFill>
            <a:srgbClr val="E8710A"/>
          </a:solidFill>
          <a:ln>
            <a:noFill/>
          </a:ln>
          <a:effectLst/>
        </p:spPr>
        <p:txBody>
          <a:bodyPr rtlCol="0" anchor="ctr" lIns="36576" rIns="36576"/>
          <a:lstStyle/>
          <a:p>
            <a:pPr algn="ctr"/>
          </a:p>
        </p:txBody>
      </p:sp>
      <p:sp>
        <p:nvSpPr>
          <p:cNvPr id="39" name="TextBox 38"/>
          <p:cNvSpPr txBox="1"/>
          <p:nvPr/>
        </p:nvSpPr>
        <p:spPr>
          <a:xfrm>
            <a:off x="4777740"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6</a:t>
            </a:r>
          </a:p>
        </p:txBody>
      </p:sp>
      <p:sp>
        <p:nvSpPr>
          <p:cNvPr id="40" name="TextBox 39"/>
          <p:cNvSpPr txBox="1"/>
          <p:nvPr/>
        </p:nvSpPr>
        <p:spPr>
          <a:xfrm>
            <a:off x="4311396"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Read node file</a:t>
            </a:r>
          </a:p>
        </p:txBody>
      </p:sp>
      <p:cxnSp>
        <p:nvCxnSpPr>
          <p:cNvPr id="41" name="Connector 40"/>
          <p:cNvCxnSpPr/>
          <p:nvPr/>
        </p:nvCxnSpPr>
        <p:spPr>
          <a:xfrm>
            <a:off x="4914899" y="1353312"/>
            <a:ext cx="269749"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5202936" y="1124712"/>
            <a:ext cx="457200" cy="457200"/>
          </a:xfrm>
          <a:prstGeom prst="roundRect">
            <a:avLst>
              <a:gd name="adj" fmla="val 16000"/>
            </a:avLst>
          </a:prstGeom>
          <a:solidFill>
            <a:srgbClr val="FFFFFF"/>
          </a:solidFill>
          <a:ln w="22225">
            <a:solidFill>
              <a:srgbClr val="6A4C93"/>
            </a:solidFill>
          </a:ln>
          <a:effectLst/>
        </p:spPr>
        <p:txBody>
          <a:bodyPr rtlCol="0" anchor="ctr" lIns="36576" rIns="36576"/>
          <a:lstStyle/>
          <a:p>
            <a:pPr algn="ctr"/>
          </a:p>
        </p:txBody>
      </p:sp>
      <p:pic>
        <p:nvPicPr>
          <p:cNvPr id="43" name="Picture 42" descr="robot_brand.png"/>
          <p:cNvPicPr>
            <a:picLocks noChangeAspect="1"/>
          </p:cNvPicPr>
          <p:nvPr/>
        </p:nvPicPr>
        <p:blipFill>
          <a:blip r:embed="rId8"/>
          <a:stretch>
            <a:fillRect/>
          </a:stretch>
        </p:blipFill>
        <p:spPr>
          <a:xfrm>
            <a:off x="5303520" y="1225296"/>
            <a:ext cx="256032" cy="256032"/>
          </a:xfrm>
          <a:prstGeom prst="rect">
            <a:avLst/>
          </a:prstGeom>
        </p:spPr>
      </p:pic>
      <p:sp>
        <p:nvSpPr>
          <p:cNvPr id="44" name="Oval 43"/>
          <p:cNvSpPr/>
          <p:nvPr/>
        </p:nvSpPr>
        <p:spPr>
          <a:xfrm>
            <a:off x="5541264" y="1033271"/>
            <a:ext cx="201168" cy="201168"/>
          </a:xfrm>
          <a:prstGeom prst="ellipse">
            <a:avLst/>
          </a:prstGeom>
          <a:solidFill>
            <a:srgbClr val="6A4C93"/>
          </a:solidFill>
          <a:ln>
            <a:noFill/>
          </a:ln>
          <a:effectLst/>
        </p:spPr>
        <p:txBody>
          <a:bodyPr rtlCol="0" anchor="ctr" lIns="36576" rIns="36576"/>
          <a:lstStyle/>
          <a:p>
            <a:pPr algn="ctr"/>
          </a:p>
        </p:txBody>
      </p:sp>
      <p:sp>
        <p:nvSpPr>
          <p:cNvPr id="45" name="TextBox 44"/>
          <p:cNvSpPr txBox="1"/>
          <p:nvPr/>
        </p:nvSpPr>
        <p:spPr>
          <a:xfrm>
            <a:off x="5541264"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7</a:t>
            </a:r>
          </a:p>
        </p:txBody>
      </p:sp>
      <p:sp>
        <p:nvSpPr>
          <p:cNvPr id="46" name="TextBox 45"/>
          <p:cNvSpPr txBox="1"/>
          <p:nvPr/>
        </p:nvSpPr>
        <p:spPr>
          <a:xfrm>
            <a:off x="5074920"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AI Node Writer</a:t>
            </a:r>
          </a:p>
        </p:txBody>
      </p:sp>
      <p:cxnSp>
        <p:nvCxnSpPr>
          <p:cNvPr id="47" name="Connector 46"/>
          <p:cNvCxnSpPr/>
          <p:nvPr/>
        </p:nvCxnSpPr>
        <p:spPr>
          <a:xfrm>
            <a:off x="5678423" y="1353312"/>
            <a:ext cx="269749"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5966459" y="1124712"/>
            <a:ext cx="457200" cy="457200"/>
          </a:xfrm>
          <a:prstGeom prst="roundRect">
            <a:avLst>
              <a:gd name="adj" fmla="val 16000"/>
            </a:avLst>
          </a:prstGeom>
          <a:solidFill>
            <a:srgbClr val="FFFFFF"/>
          </a:solidFill>
          <a:ln w="22225">
            <a:solidFill>
              <a:srgbClr val="E8710A"/>
            </a:solidFill>
          </a:ln>
          <a:effectLst/>
        </p:spPr>
        <p:txBody>
          <a:bodyPr rtlCol="0" anchor="ctr" lIns="36576" rIns="36576"/>
          <a:lstStyle/>
          <a:p>
            <a:pPr algn="ctr"/>
          </a:p>
        </p:txBody>
      </p:sp>
      <p:pic>
        <p:nvPicPr>
          <p:cNvPr id="49" name="Picture 48" descr="code_brand.png"/>
          <p:cNvPicPr>
            <a:picLocks noChangeAspect="1"/>
          </p:cNvPicPr>
          <p:nvPr/>
        </p:nvPicPr>
        <p:blipFill>
          <a:blip r:embed="rId6"/>
          <a:stretch>
            <a:fillRect/>
          </a:stretch>
        </p:blipFill>
        <p:spPr>
          <a:xfrm>
            <a:off x="6067044" y="1225296"/>
            <a:ext cx="256032" cy="256032"/>
          </a:xfrm>
          <a:prstGeom prst="rect">
            <a:avLst/>
          </a:prstGeom>
        </p:spPr>
      </p:pic>
      <p:sp>
        <p:nvSpPr>
          <p:cNvPr id="50" name="Oval 49"/>
          <p:cNvSpPr/>
          <p:nvPr/>
        </p:nvSpPr>
        <p:spPr>
          <a:xfrm>
            <a:off x="6304788" y="1033271"/>
            <a:ext cx="201168" cy="201168"/>
          </a:xfrm>
          <a:prstGeom prst="ellipse">
            <a:avLst/>
          </a:prstGeom>
          <a:solidFill>
            <a:srgbClr val="E8710A"/>
          </a:solidFill>
          <a:ln>
            <a:noFill/>
          </a:ln>
          <a:effectLst/>
        </p:spPr>
        <p:txBody>
          <a:bodyPr rtlCol="0" anchor="ctr" lIns="36576" rIns="36576"/>
          <a:lstStyle/>
          <a:p>
            <a:pPr algn="ctr"/>
          </a:p>
        </p:txBody>
      </p:sp>
      <p:sp>
        <p:nvSpPr>
          <p:cNvPr id="51" name="TextBox 50"/>
          <p:cNvSpPr txBox="1"/>
          <p:nvPr/>
        </p:nvSpPr>
        <p:spPr>
          <a:xfrm>
            <a:off x="6304788"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8</a:t>
            </a:r>
          </a:p>
        </p:txBody>
      </p:sp>
      <p:sp>
        <p:nvSpPr>
          <p:cNvPr id="52" name="TextBox 51"/>
          <p:cNvSpPr txBox="1"/>
          <p:nvPr/>
        </p:nvSpPr>
        <p:spPr>
          <a:xfrm>
            <a:off x="5838444"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Clean and explode sections</a:t>
            </a:r>
          </a:p>
        </p:txBody>
      </p:sp>
      <p:cxnSp>
        <p:nvCxnSpPr>
          <p:cNvPr id="53" name="Connector 52"/>
          <p:cNvCxnSpPr/>
          <p:nvPr/>
        </p:nvCxnSpPr>
        <p:spPr>
          <a:xfrm>
            <a:off x="6441947" y="1353312"/>
            <a:ext cx="269749"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6729983" y="1124712"/>
            <a:ext cx="457200" cy="457200"/>
          </a:xfrm>
          <a:prstGeom prst="roundRect">
            <a:avLst>
              <a:gd name="adj" fmla="val 16000"/>
            </a:avLst>
          </a:prstGeom>
          <a:solidFill>
            <a:srgbClr val="FFFFFF"/>
          </a:solidFill>
          <a:ln w="22225">
            <a:solidFill>
              <a:srgbClr val="E8710A"/>
            </a:solidFill>
          </a:ln>
          <a:effectLst/>
        </p:spPr>
        <p:txBody>
          <a:bodyPr rtlCol="0" anchor="ctr" lIns="36576" rIns="36576"/>
          <a:lstStyle/>
          <a:p>
            <a:pPr algn="ctr"/>
          </a:p>
        </p:txBody>
      </p:sp>
      <p:pic>
        <p:nvPicPr>
          <p:cNvPr id="55" name="Picture 54" descr="code_brand.png"/>
          <p:cNvPicPr>
            <a:picLocks noChangeAspect="1"/>
          </p:cNvPicPr>
          <p:nvPr/>
        </p:nvPicPr>
        <p:blipFill>
          <a:blip r:embed="rId6"/>
          <a:stretch>
            <a:fillRect/>
          </a:stretch>
        </p:blipFill>
        <p:spPr>
          <a:xfrm>
            <a:off x="6830568" y="1225296"/>
            <a:ext cx="256032" cy="256032"/>
          </a:xfrm>
          <a:prstGeom prst="rect">
            <a:avLst/>
          </a:prstGeom>
        </p:spPr>
      </p:pic>
      <p:sp>
        <p:nvSpPr>
          <p:cNvPr id="56" name="Oval 55"/>
          <p:cNvSpPr/>
          <p:nvPr/>
        </p:nvSpPr>
        <p:spPr>
          <a:xfrm>
            <a:off x="7068312" y="1033271"/>
            <a:ext cx="201168" cy="201168"/>
          </a:xfrm>
          <a:prstGeom prst="ellipse">
            <a:avLst/>
          </a:prstGeom>
          <a:solidFill>
            <a:srgbClr val="E8710A"/>
          </a:solidFill>
          <a:ln>
            <a:noFill/>
          </a:ln>
          <a:effectLst/>
        </p:spPr>
        <p:txBody>
          <a:bodyPr rtlCol="0" anchor="ctr" lIns="36576" rIns="36576"/>
          <a:lstStyle/>
          <a:p>
            <a:pPr algn="ctr"/>
          </a:p>
        </p:txBody>
      </p:sp>
      <p:sp>
        <p:nvSpPr>
          <p:cNvPr id="57" name="TextBox 56"/>
          <p:cNvSpPr txBox="1"/>
          <p:nvPr/>
        </p:nvSpPr>
        <p:spPr>
          <a:xfrm>
            <a:off x="7068312"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9</a:t>
            </a:r>
          </a:p>
        </p:txBody>
      </p:sp>
      <p:sp>
        <p:nvSpPr>
          <p:cNvPr id="58" name="TextBox 57"/>
          <p:cNvSpPr txBox="1"/>
          <p:nvPr/>
        </p:nvSpPr>
        <p:spPr>
          <a:xfrm>
            <a:off x="6601968"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Render node page</a:t>
            </a:r>
          </a:p>
        </p:txBody>
      </p:sp>
      <p:cxnSp>
        <p:nvCxnSpPr>
          <p:cNvPr id="59" name="Connector 58"/>
          <p:cNvCxnSpPr/>
          <p:nvPr/>
        </p:nvCxnSpPr>
        <p:spPr>
          <a:xfrm>
            <a:off x="7205471" y="1353312"/>
            <a:ext cx="269749"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7493508" y="1124712"/>
            <a:ext cx="457200" cy="457200"/>
          </a:xfrm>
          <a:prstGeom prst="roundRect">
            <a:avLst>
              <a:gd name="adj" fmla="val 16000"/>
            </a:avLst>
          </a:prstGeom>
          <a:solidFill>
            <a:srgbClr val="FFFFFF"/>
          </a:solidFill>
          <a:ln w="22225">
            <a:solidFill>
              <a:srgbClr val="E8710A"/>
            </a:solidFill>
          </a:ln>
          <a:effectLst/>
        </p:spPr>
        <p:txBody>
          <a:bodyPr rtlCol="0" anchor="ctr" lIns="36576" rIns="36576"/>
          <a:lstStyle/>
          <a:p>
            <a:pPr algn="ctr"/>
          </a:p>
        </p:txBody>
      </p:sp>
      <p:pic>
        <p:nvPicPr>
          <p:cNvPr id="61" name="Picture 60" descr="code_brand.png"/>
          <p:cNvPicPr>
            <a:picLocks noChangeAspect="1"/>
          </p:cNvPicPr>
          <p:nvPr/>
        </p:nvPicPr>
        <p:blipFill>
          <a:blip r:embed="rId6"/>
          <a:stretch>
            <a:fillRect/>
          </a:stretch>
        </p:blipFill>
        <p:spPr>
          <a:xfrm>
            <a:off x="7594092" y="1225296"/>
            <a:ext cx="256032" cy="256032"/>
          </a:xfrm>
          <a:prstGeom prst="rect">
            <a:avLst/>
          </a:prstGeom>
        </p:spPr>
      </p:pic>
      <p:sp>
        <p:nvSpPr>
          <p:cNvPr id="62" name="Oval 61"/>
          <p:cNvSpPr/>
          <p:nvPr/>
        </p:nvSpPr>
        <p:spPr>
          <a:xfrm>
            <a:off x="7831836" y="1033271"/>
            <a:ext cx="201168" cy="201168"/>
          </a:xfrm>
          <a:prstGeom prst="ellipse">
            <a:avLst/>
          </a:prstGeom>
          <a:solidFill>
            <a:srgbClr val="E8710A"/>
          </a:solidFill>
          <a:ln>
            <a:noFill/>
          </a:ln>
          <a:effectLst/>
        </p:spPr>
        <p:txBody>
          <a:bodyPr rtlCol="0" anchor="ctr" lIns="36576" rIns="36576"/>
          <a:lstStyle/>
          <a:p>
            <a:pPr algn="ctr"/>
          </a:p>
        </p:txBody>
      </p:sp>
      <p:sp>
        <p:nvSpPr>
          <p:cNvPr id="63" name="TextBox 62"/>
          <p:cNvSpPr txBox="1"/>
          <p:nvPr/>
        </p:nvSpPr>
        <p:spPr>
          <a:xfrm>
            <a:off x="7831836"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10</a:t>
            </a:r>
          </a:p>
        </p:txBody>
      </p:sp>
      <p:sp>
        <p:nvSpPr>
          <p:cNvPr id="64" name="TextBox 63"/>
          <p:cNvSpPr txBox="1"/>
          <p:nvPr/>
        </p:nvSpPr>
        <p:spPr>
          <a:xfrm>
            <a:off x="7365492"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Create markdown file</a:t>
            </a:r>
          </a:p>
        </p:txBody>
      </p:sp>
      <p:cxnSp>
        <p:nvCxnSpPr>
          <p:cNvPr id="65" name="Connector 64"/>
          <p:cNvCxnSpPr/>
          <p:nvPr/>
        </p:nvCxnSpPr>
        <p:spPr>
          <a:xfrm>
            <a:off x="7968996" y="1353312"/>
            <a:ext cx="269748"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8257031" y="1124712"/>
            <a:ext cx="457200" cy="457200"/>
          </a:xfrm>
          <a:prstGeom prst="roundRect">
            <a:avLst>
              <a:gd name="adj" fmla="val 16000"/>
            </a:avLst>
          </a:prstGeom>
          <a:solidFill>
            <a:srgbClr val="FFFFFF"/>
          </a:solidFill>
          <a:ln w="22225">
            <a:solidFill>
              <a:srgbClr val="1A73E8"/>
            </a:solidFill>
          </a:ln>
          <a:effectLst/>
        </p:spPr>
        <p:txBody>
          <a:bodyPr rtlCol="0" anchor="ctr" lIns="36576" rIns="36576"/>
          <a:lstStyle/>
          <a:p>
            <a:pPr algn="ctr"/>
          </a:p>
        </p:txBody>
      </p:sp>
      <p:pic>
        <p:nvPicPr>
          <p:cNvPr id="67" name="Picture 66" descr="drive_brand.png"/>
          <p:cNvPicPr>
            <a:picLocks noChangeAspect="1"/>
          </p:cNvPicPr>
          <p:nvPr/>
        </p:nvPicPr>
        <p:blipFill>
          <a:blip r:embed="rId5"/>
          <a:stretch>
            <a:fillRect/>
          </a:stretch>
        </p:blipFill>
        <p:spPr>
          <a:xfrm>
            <a:off x="8357615" y="1225296"/>
            <a:ext cx="256032" cy="256032"/>
          </a:xfrm>
          <a:prstGeom prst="rect">
            <a:avLst/>
          </a:prstGeom>
        </p:spPr>
      </p:pic>
      <p:sp>
        <p:nvSpPr>
          <p:cNvPr id="68" name="Oval 67"/>
          <p:cNvSpPr/>
          <p:nvPr/>
        </p:nvSpPr>
        <p:spPr>
          <a:xfrm>
            <a:off x="8595359" y="1033271"/>
            <a:ext cx="201168" cy="201168"/>
          </a:xfrm>
          <a:prstGeom prst="ellipse">
            <a:avLst/>
          </a:prstGeom>
          <a:solidFill>
            <a:srgbClr val="1A73E8"/>
          </a:solidFill>
          <a:ln>
            <a:noFill/>
          </a:ln>
          <a:effectLst/>
        </p:spPr>
        <p:txBody>
          <a:bodyPr rtlCol="0" anchor="ctr" lIns="36576" rIns="36576"/>
          <a:lstStyle/>
          <a:p>
            <a:pPr algn="ctr"/>
          </a:p>
        </p:txBody>
      </p:sp>
      <p:sp>
        <p:nvSpPr>
          <p:cNvPr id="69" name="TextBox 68"/>
          <p:cNvSpPr txBox="1"/>
          <p:nvPr/>
        </p:nvSpPr>
        <p:spPr>
          <a:xfrm>
            <a:off x="8595359"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11</a:t>
            </a:r>
          </a:p>
        </p:txBody>
      </p:sp>
      <p:sp>
        <p:nvSpPr>
          <p:cNvPr id="70" name="TextBox 69"/>
          <p:cNvSpPr txBox="1"/>
          <p:nvPr/>
        </p:nvSpPr>
        <p:spPr>
          <a:xfrm>
            <a:off x="8129015"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Upload node page to Drive</a:t>
            </a:r>
          </a:p>
        </p:txBody>
      </p:sp>
      <p:sp>
        <p:nvSpPr>
          <p:cNvPr id="71" name="Oval 70"/>
          <p:cNvSpPr/>
          <p:nvPr/>
        </p:nvSpPr>
        <p:spPr>
          <a:xfrm>
            <a:off x="457200" y="2651760"/>
            <a:ext cx="201168" cy="201168"/>
          </a:xfrm>
          <a:prstGeom prst="ellipse">
            <a:avLst/>
          </a:prstGeom>
          <a:solidFill>
            <a:srgbClr val="6B6B6B"/>
          </a:solidFill>
          <a:ln>
            <a:noFill/>
          </a:ln>
          <a:effectLst/>
        </p:spPr>
        <p:txBody>
          <a:bodyPr rtlCol="0" anchor="ctr" lIns="36576" rIns="36576"/>
          <a:lstStyle/>
          <a:p>
            <a:pPr algn="ctr"/>
          </a:p>
        </p:txBody>
      </p:sp>
      <p:sp>
        <p:nvSpPr>
          <p:cNvPr id="72" name="TextBox 71"/>
          <p:cNvSpPr txBox="1"/>
          <p:nvPr/>
        </p:nvSpPr>
        <p:spPr>
          <a:xfrm>
            <a:off x="457200" y="2651760"/>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1</a:t>
            </a:r>
          </a:p>
        </p:txBody>
      </p:sp>
      <p:sp>
        <p:nvSpPr>
          <p:cNvPr id="73" name="TextBox 72"/>
          <p:cNvSpPr txBox="1"/>
          <p:nvPr/>
        </p:nvSpPr>
        <p:spPr>
          <a:xfrm>
            <a:off x="749808" y="2578608"/>
            <a:ext cx="3730752" cy="338328"/>
          </a:xfrm>
          <a:prstGeom prst="rect">
            <a:avLst/>
          </a:prstGeom>
          <a:noFill/>
        </p:spPr>
        <p:txBody>
          <a:bodyPr wrap="square" lIns="0" rIns="0" tIns="0" bIns="0" anchor="ctr">
            <a:spAutoFit/>
          </a:bodyPr>
          <a:lstStyle/>
          <a:p>
            <a:pPr algn="l"/>
            <a:r>
              <a:rPr sz="1000" b="1" i="0">
                <a:solidFill>
                  <a:srgbClr val="1D1D1B"/>
                </a:solidFill>
                <a:latin typeface="Calibri"/>
                <a:cs typeface="Calibri"/>
              </a:rPr>
              <a:t>Manual trigger. </a:t>
            </a:r>
            <a:r>
              <a:rPr sz="1000" b="0" i="0">
                <a:solidFill>
                  <a:srgbClr val="595959"/>
                </a:solidFill>
                <a:latin typeface="Calibri"/>
                <a:cs typeface="Calibri"/>
              </a:rPr>
              <a:t>Starts a run when we press Execute.</a:t>
            </a:r>
          </a:p>
        </p:txBody>
      </p:sp>
      <p:sp>
        <p:nvSpPr>
          <p:cNvPr id="74" name="Oval 73"/>
          <p:cNvSpPr/>
          <p:nvPr/>
        </p:nvSpPr>
        <p:spPr>
          <a:xfrm>
            <a:off x="457200" y="2990088"/>
            <a:ext cx="201168" cy="201168"/>
          </a:xfrm>
          <a:prstGeom prst="ellipse">
            <a:avLst/>
          </a:prstGeom>
          <a:solidFill>
            <a:srgbClr val="1A73E8"/>
          </a:solidFill>
          <a:ln>
            <a:noFill/>
          </a:ln>
          <a:effectLst/>
        </p:spPr>
        <p:txBody>
          <a:bodyPr rtlCol="0" anchor="ctr" lIns="36576" rIns="36576"/>
          <a:lstStyle/>
          <a:p>
            <a:pPr algn="ctr"/>
          </a:p>
        </p:txBody>
      </p:sp>
      <p:sp>
        <p:nvSpPr>
          <p:cNvPr id="75" name="TextBox 74"/>
          <p:cNvSpPr txBox="1"/>
          <p:nvPr/>
        </p:nvSpPr>
        <p:spPr>
          <a:xfrm>
            <a:off x="457200" y="2990088"/>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2</a:t>
            </a:r>
          </a:p>
        </p:txBody>
      </p:sp>
      <p:sp>
        <p:nvSpPr>
          <p:cNvPr id="76" name="TextBox 75"/>
          <p:cNvSpPr txBox="1"/>
          <p:nvPr/>
        </p:nvSpPr>
        <p:spPr>
          <a:xfrm>
            <a:off x="749808" y="2916936"/>
            <a:ext cx="3730752" cy="338328"/>
          </a:xfrm>
          <a:prstGeom prst="rect">
            <a:avLst/>
          </a:prstGeom>
          <a:noFill/>
        </p:spPr>
        <p:txBody>
          <a:bodyPr wrap="square" lIns="0" rIns="0" tIns="0" bIns="0" anchor="ctr">
            <a:spAutoFit/>
          </a:bodyPr>
          <a:lstStyle/>
          <a:p>
            <a:pPr algn="l"/>
            <a:r>
              <a:rPr sz="1000" b="1" i="0">
                <a:solidFill>
                  <a:srgbClr val="1D1D1B"/>
                </a:solidFill>
                <a:latin typeface="Calibri"/>
                <a:cs typeface="Calibri"/>
              </a:rPr>
              <a:t>List node files. </a:t>
            </a:r>
            <a:r>
              <a:rPr sz="1000" b="0" i="0">
                <a:solidFill>
                  <a:srgbClr val="595959"/>
                </a:solidFill>
                <a:latin typeface="Calibri"/>
                <a:cs typeface="Calibri"/>
              </a:rPr>
              <a:t>Lists the files in the Drive folder.</a:t>
            </a:r>
          </a:p>
        </p:txBody>
      </p:sp>
      <p:sp>
        <p:nvSpPr>
          <p:cNvPr id="77" name="Oval 76"/>
          <p:cNvSpPr/>
          <p:nvPr/>
        </p:nvSpPr>
        <p:spPr>
          <a:xfrm>
            <a:off x="457200" y="3328415"/>
            <a:ext cx="201168" cy="201168"/>
          </a:xfrm>
          <a:prstGeom prst="ellipse">
            <a:avLst/>
          </a:prstGeom>
          <a:solidFill>
            <a:srgbClr val="E8710A"/>
          </a:solidFill>
          <a:ln>
            <a:noFill/>
          </a:ln>
          <a:effectLst/>
        </p:spPr>
        <p:txBody>
          <a:bodyPr rtlCol="0" anchor="ctr" lIns="36576" rIns="36576"/>
          <a:lstStyle/>
          <a:p>
            <a:pPr algn="ctr"/>
          </a:p>
        </p:txBody>
      </p:sp>
      <p:sp>
        <p:nvSpPr>
          <p:cNvPr id="78" name="TextBox 77"/>
          <p:cNvSpPr txBox="1"/>
          <p:nvPr/>
        </p:nvSpPr>
        <p:spPr>
          <a:xfrm>
            <a:off x="457200" y="3328415"/>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3</a:t>
            </a:r>
          </a:p>
        </p:txBody>
      </p:sp>
      <p:sp>
        <p:nvSpPr>
          <p:cNvPr id="79" name="TextBox 78"/>
          <p:cNvSpPr txBox="1"/>
          <p:nvPr/>
        </p:nvSpPr>
        <p:spPr>
          <a:xfrm>
            <a:off x="749808" y="3255263"/>
            <a:ext cx="3730752" cy="338328"/>
          </a:xfrm>
          <a:prstGeom prst="rect">
            <a:avLst/>
          </a:prstGeom>
          <a:noFill/>
        </p:spPr>
        <p:txBody>
          <a:bodyPr wrap="square" lIns="0" rIns="0" tIns="0" bIns="0" anchor="ctr">
            <a:spAutoFit/>
          </a:bodyPr>
          <a:lstStyle/>
          <a:p>
            <a:pPr algn="l"/>
            <a:r>
              <a:rPr sz="1000" b="1" i="0">
                <a:solidFill>
                  <a:srgbClr val="1D1D1B"/>
                </a:solidFill>
                <a:latin typeface="Calibri"/>
                <a:cs typeface="Calibri"/>
              </a:rPr>
              <a:t>Pick node files. </a:t>
            </a:r>
            <a:r>
              <a:rPr sz="1000" b="0" i="0">
                <a:solidFill>
                  <a:srgbClr val="595959"/>
                </a:solidFill>
                <a:latin typeface="Calibri"/>
                <a:cs typeface="Calibri"/>
              </a:rPr>
              <a:t>Keeps the .json files, skips duplicates, and can limit the run to some Nodes (NODE_FILTER).</a:t>
            </a:r>
          </a:p>
        </p:txBody>
      </p:sp>
      <p:sp>
        <p:nvSpPr>
          <p:cNvPr id="80" name="Oval 79"/>
          <p:cNvSpPr/>
          <p:nvPr/>
        </p:nvSpPr>
        <p:spPr>
          <a:xfrm>
            <a:off x="457200" y="3666744"/>
            <a:ext cx="201168" cy="201168"/>
          </a:xfrm>
          <a:prstGeom prst="ellipse">
            <a:avLst/>
          </a:prstGeom>
          <a:solidFill>
            <a:srgbClr val="2E7D32"/>
          </a:solidFill>
          <a:ln>
            <a:noFill/>
          </a:ln>
          <a:effectLst/>
        </p:spPr>
        <p:txBody>
          <a:bodyPr rtlCol="0" anchor="ctr" lIns="36576" rIns="36576"/>
          <a:lstStyle/>
          <a:p>
            <a:pPr algn="ctr"/>
          </a:p>
        </p:txBody>
      </p:sp>
      <p:sp>
        <p:nvSpPr>
          <p:cNvPr id="81" name="TextBox 80"/>
          <p:cNvSpPr txBox="1"/>
          <p:nvPr/>
        </p:nvSpPr>
        <p:spPr>
          <a:xfrm>
            <a:off x="457200" y="3666744"/>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4</a:t>
            </a:r>
          </a:p>
        </p:txBody>
      </p:sp>
      <p:sp>
        <p:nvSpPr>
          <p:cNvPr id="82" name="TextBox 81"/>
          <p:cNvSpPr txBox="1"/>
          <p:nvPr/>
        </p:nvSpPr>
        <p:spPr>
          <a:xfrm>
            <a:off x="749808" y="3593591"/>
            <a:ext cx="3730752" cy="338328"/>
          </a:xfrm>
          <a:prstGeom prst="rect">
            <a:avLst/>
          </a:prstGeom>
          <a:noFill/>
        </p:spPr>
        <p:txBody>
          <a:bodyPr wrap="square" lIns="0" rIns="0" tIns="0" bIns="0" anchor="ctr">
            <a:spAutoFit/>
          </a:bodyPr>
          <a:lstStyle/>
          <a:p>
            <a:pPr algn="l"/>
            <a:r>
              <a:rPr sz="1000" b="1" i="0">
                <a:solidFill>
                  <a:srgbClr val="1D1D1B"/>
                </a:solidFill>
                <a:latin typeface="Calibri"/>
                <a:cs typeface="Calibri"/>
              </a:rPr>
              <a:t>Loop Over Nodes. </a:t>
            </a:r>
            <a:r>
              <a:rPr sz="1000" b="0" i="0">
                <a:solidFill>
                  <a:srgbClr val="595959"/>
                </a:solidFill>
                <a:latin typeface="Calibri"/>
                <a:cs typeface="Calibri"/>
              </a:rPr>
              <a:t>Sends one Node at a time through the next steps.</a:t>
            </a:r>
          </a:p>
        </p:txBody>
      </p:sp>
      <p:sp>
        <p:nvSpPr>
          <p:cNvPr id="83" name="Oval 82"/>
          <p:cNvSpPr/>
          <p:nvPr/>
        </p:nvSpPr>
        <p:spPr>
          <a:xfrm>
            <a:off x="457200" y="4005072"/>
            <a:ext cx="201168" cy="201168"/>
          </a:xfrm>
          <a:prstGeom prst="ellipse">
            <a:avLst/>
          </a:prstGeom>
          <a:solidFill>
            <a:srgbClr val="1A73E8"/>
          </a:solidFill>
          <a:ln>
            <a:noFill/>
          </a:ln>
          <a:effectLst/>
        </p:spPr>
        <p:txBody>
          <a:bodyPr rtlCol="0" anchor="ctr" lIns="36576" rIns="36576"/>
          <a:lstStyle/>
          <a:p>
            <a:pPr algn="ctr"/>
          </a:p>
        </p:txBody>
      </p:sp>
      <p:sp>
        <p:nvSpPr>
          <p:cNvPr id="84" name="TextBox 83"/>
          <p:cNvSpPr txBox="1"/>
          <p:nvPr/>
        </p:nvSpPr>
        <p:spPr>
          <a:xfrm>
            <a:off x="457200" y="4005072"/>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5</a:t>
            </a:r>
          </a:p>
        </p:txBody>
      </p:sp>
      <p:sp>
        <p:nvSpPr>
          <p:cNvPr id="85" name="TextBox 84"/>
          <p:cNvSpPr txBox="1"/>
          <p:nvPr/>
        </p:nvSpPr>
        <p:spPr>
          <a:xfrm>
            <a:off x="749808" y="3931920"/>
            <a:ext cx="3730752" cy="338328"/>
          </a:xfrm>
          <a:prstGeom prst="rect">
            <a:avLst/>
          </a:prstGeom>
          <a:noFill/>
        </p:spPr>
        <p:txBody>
          <a:bodyPr wrap="square" lIns="0" rIns="0" tIns="0" bIns="0" anchor="ctr">
            <a:spAutoFit/>
          </a:bodyPr>
          <a:lstStyle/>
          <a:p>
            <a:pPr algn="l"/>
            <a:r>
              <a:rPr sz="1000" b="1" i="0">
                <a:solidFill>
                  <a:srgbClr val="1D1D1B"/>
                </a:solidFill>
                <a:latin typeface="Calibri"/>
                <a:cs typeface="Calibri"/>
              </a:rPr>
              <a:t>Download node file. </a:t>
            </a:r>
            <a:r>
              <a:rPr sz="1000" b="0" i="0">
                <a:solidFill>
                  <a:srgbClr val="595959"/>
                </a:solidFill>
                <a:latin typeface="Calibri"/>
                <a:cs typeface="Calibri"/>
              </a:rPr>
              <a:t>Downloads that Node's file.</a:t>
            </a:r>
          </a:p>
        </p:txBody>
      </p:sp>
      <p:sp>
        <p:nvSpPr>
          <p:cNvPr id="86" name="Oval 85"/>
          <p:cNvSpPr/>
          <p:nvPr/>
        </p:nvSpPr>
        <p:spPr>
          <a:xfrm>
            <a:off x="457200" y="4343400"/>
            <a:ext cx="201168" cy="201168"/>
          </a:xfrm>
          <a:prstGeom prst="ellipse">
            <a:avLst/>
          </a:prstGeom>
          <a:solidFill>
            <a:srgbClr val="E8710A"/>
          </a:solidFill>
          <a:ln>
            <a:noFill/>
          </a:ln>
          <a:effectLst/>
        </p:spPr>
        <p:txBody>
          <a:bodyPr rtlCol="0" anchor="ctr" lIns="36576" rIns="36576"/>
          <a:lstStyle/>
          <a:p>
            <a:pPr algn="ctr"/>
          </a:p>
        </p:txBody>
      </p:sp>
      <p:sp>
        <p:nvSpPr>
          <p:cNvPr id="87" name="TextBox 86"/>
          <p:cNvSpPr txBox="1"/>
          <p:nvPr/>
        </p:nvSpPr>
        <p:spPr>
          <a:xfrm>
            <a:off x="457200" y="4343400"/>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6</a:t>
            </a:r>
          </a:p>
        </p:txBody>
      </p:sp>
      <p:sp>
        <p:nvSpPr>
          <p:cNvPr id="88" name="TextBox 87"/>
          <p:cNvSpPr txBox="1"/>
          <p:nvPr/>
        </p:nvSpPr>
        <p:spPr>
          <a:xfrm>
            <a:off x="749808" y="4270248"/>
            <a:ext cx="3730752" cy="338328"/>
          </a:xfrm>
          <a:prstGeom prst="rect">
            <a:avLst/>
          </a:prstGeom>
          <a:noFill/>
        </p:spPr>
        <p:txBody>
          <a:bodyPr wrap="square" lIns="0" rIns="0" tIns="0" bIns="0" anchor="ctr">
            <a:spAutoFit/>
          </a:bodyPr>
          <a:lstStyle/>
          <a:p>
            <a:pPr algn="l"/>
            <a:r>
              <a:rPr sz="1000" b="1" i="0">
                <a:solidFill>
                  <a:srgbClr val="1D1D1B"/>
                </a:solidFill>
                <a:latin typeface="Calibri"/>
                <a:cs typeface="Calibri"/>
              </a:rPr>
              <a:t>Read node file. </a:t>
            </a:r>
            <a:r>
              <a:rPr sz="1000" b="0" i="0">
                <a:solidFill>
                  <a:srgbClr val="595959"/>
                </a:solidFill>
                <a:latin typeface="Calibri"/>
                <a:cs typeface="Calibri"/>
              </a:rPr>
              <a:t>Opens the JSON and stops if a part is missing.</a:t>
            </a:r>
          </a:p>
        </p:txBody>
      </p:sp>
      <p:sp>
        <p:nvSpPr>
          <p:cNvPr id="89" name="Oval 88"/>
          <p:cNvSpPr/>
          <p:nvPr/>
        </p:nvSpPr>
        <p:spPr>
          <a:xfrm>
            <a:off x="4572000" y="2651760"/>
            <a:ext cx="201168" cy="201168"/>
          </a:xfrm>
          <a:prstGeom prst="ellipse">
            <a:avLst/>
          </a:prstGeom>
          <a:solidFill>
            <a:srgbClr val="6A4C93"/>
          </a:solidFill>
          <a:ln>
            <a:noFill/>
          </a:ln>
          <a:effectLst/>
        </p:spPr>
        <p:txBody>
          <a:bodyPr rtlCol="0" anchor="ctr" lIns="36576" rIns="36576"/>
          <a:lstStyle/>
          <a:p>
            <a:pPr algn="ctr"/>
          </a:p>
        </p:txBody>
      </p:sp>
      <p:sp>
        <p:nvSpPr>
          <p:cNvPr id="90" name="TextBox 89"/>
          <p:cNvSpPr txBox="1"/>
          <p:nvPr/>
        </p:nvSpPr>
        <p:spPr>
          <a:xfrm>
            <a:off x="4572000" y="2651760"/>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7</a:t>
            </a:r>
          </a:p>
        </p:txBody>
      </p:sp>
      <p:sp>
        <p:nvSpPr>
          <p:cNvPr id="91" name="TextBox 90"/>
          <p:cNvSpPr txBox="1"/>
          <p:nvPr/>
        </p:nvSpPr>
        <p:spPr>
          <a:xfrm>
            <a:off x="4864608" y="2578608"/>
            <a:ext cx="3730752" cy="338328"/>
          </a:xfrm>
          <a:prstGeom prst="rect">
            <a:avLst/>
          </a:prstGeom>
          <a:noFill/>
        </p:spPr>
        <p:txBody>
          <a:bodyPr wrap="square" lIns="0" rIns="0" tIns="0" bIns="0" anchor="ctr">
            <a:spAutoFit/>
          </a:bodyPr>
          <a:lstStyle/>
          <a:p>
            <a:pPr algn="l"/>
            <a:r>
              <a:rPr sz="1000" b="1" i="0">
                <a:solidFill>
                  <a:srgbClr val="1D1D1B"/>
                </a:solidFill>
                <a:latin typeface="Calibri"/>
                <a:cs typeface="Calibri"/>
              </a:rPr>
              <a:t>AI Node Writer. </a:t>
            </a:r>
            <a:r>
              <a:rPr sz="1000" b="0" i="0">
                <a:solidFill>
                  <a:srgbClr val="595959"/>
                </a:solidFill>
                <a:latin typeface="Calibri"/>
                <a:cs typeface="Calibri"/>
              </a:rPr>
              <a:t>Claude writes the five text sections from node_briefing.</a:t>
            </a:r>
          </a:p>
        </p:txBody>
      </p:sp>
      <p:sp>
        <p:nvSpPr>
          <p:cNvPr id="92" name="Oval 91"/>
          <p:cNvSpPr/>
          <p:nvPr/>
        </p:nvSpPr>
        <p:spPr>
          <a:xfrm>
            <a:off x="4572000" y="2990088"/>
            <a:ext cx="201168" cy="201168"/>
          </a:xfrm>
          <a:prstGeom prst="ellipse">
            <a:avLst/>
          </a:prstGeom>
          <a:solidFill>
            <a:srgbClr val="E8710A"/>
          </a:solidFill>
          <a:ln>
            <a:noFill/>
          </a:ln>
          <a:effectLst/>
        </p:spPr>
        <p:txBody>
          <a:bodyPr rtlCol="0" anchor="ctr" lIns="36576" rIns="36576"/>
          <a:lstStyle/>
          <a:p>
            <a:pPr algn="ctr"/>
          </a:p>
        </p:txBody>
      </p:sp>
      <p:sp>
        <p:nvSpPr>
          <p:cNvPr id="93" name="TextBox 92"/>
          <p:cNvSpPr txBox="1"/>
          <p:nvPr/>
        </p:nvSpPr>
        <p:spPr>
          <a:xfrm>
            <a:off x="4572000" y="2990088"/>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8</a:t>
            </a:r>
          </a:p>
        </p:txBody>
      </p:sp>
      <p:sp>
        <p:nvSpPr>
          <p:cNvPr id="94" name="TextBox 93"/>
          <p:cNvSpPr txBox="1"/>
          <p:nvPr/>
        </p:nvSpPr>
        <p:spPr>
          <a:xfrm>
            <a:off x="4864608" y="2916936"/>
            <a:ext cx="3730752" cy="338328"/>
          </a:xfrm>
          <a:prstGeom prst="rect">
            <a:avLst/>
          </a:prstGeom>
          <a:noFill/>
        </p:spPr>
        <p:txBody>
          <a:bodyPr wrap="square" lIns="0" rIns="0" tIns="0" bIns="0" anchor="ctr">
            <a:spAutoFit/>
          </a:bodyPr>
          <a:lstStyle/>
          <a:p>
            <a:pPr algn="l"/>
            <a:r>
              <a:rPr sz="1000" b="1" i="0">
                <a:solidFill>
                  <a:srgbClr val="1D1D1B"/>
                </a:solidFill>
                <a:latin typeface="Calibri"/>
                <a:cs typeface="Calibri"/>
              </a:rPr>
              <a:t>Clean and explode sections. </a:t>
            </a:r>
            <a:r>
              <a:rPr sz="1000" b="0" i="0">
                <a:solidFill>
                  <a:srgbClr val="595959"/>
                </a:solidFill>
                <a:latin typeface="Calibri"/>
                <a:cs typeface="Calibri"/>
              </a:rPr>
              <a:t>Checks the text, tidies it and flags problems.</a:t>
            </a:r>
          </a:p>
        </p:txBody>
      </p:sp>
      <p:sp>
        <p:nvSpPr>
          <p:cNvPr id="95" name="Oval 94"/>
          <p:cNvSpPr/>
          <p:nvPr/>
        </p:nvSpPr>
        <p:spPr>
          <a:xfrm>
            <a:off x="4572000" y="3328415"/>
            <a:ext cx="201168" cy="201168"/>
          </a:xfrm>
          <a:prstGeom prst="ellipse">
            <a:avLst/>
          </a:prstGeom>
          <a:solidFill>
            <a:srgbClr val="E8710A"/>
          </a:solidFill>
          <a:ln>
            <a:noFill/>
          </a:ln>
          <a:effectLst/>
        </p:spPr>
        <p:txBody>
          <a:bodyPr rtlCol="0" anchor="ctr" lIns="36576" rIns="36576"/>
          <a:lstStyle/>
          <a:p>
            <a:pPr algn="ctr"/>
          </a:p>
        </p:txBody>
      </p:sp>
      <p:sp>
        <p:nvSpPr>
          <p:cNvPr id="96" name="TextBox 95"/>
          <p:cNvSpPr txBox="1"/>
          <p:nvPr/>
        </p:nvSpPr>
        <p:spPr>
          <a:xfrm>
            <a:off x="4572000" y="3328415"/>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9</a:t>
            </a:r>
          </a:p>
        </p:txBody>
      </p:sp>
      <p:sp>
        <p:nvSpPr>
          <p:cNvPr id="97" name="TextBox 96"/>
          <p:cNvSpPr txBox="1"/>
          <p:nvPr/>
        </p:nvSpPr>
        <p:spPr>
          <a:xfrm>
            <a:off x="4864608" y="3255263"/>
            <a:ext cx="3730752" cy="338328"/>
          </a:xfrm>
          <a:prstGeom prst="rect">
            <a:avLst/>
          </a:prstGeom>
          <a:noFill/>
        </p:spPr>
        <p:txBody>
          <a:bodyPr wrap="square" lIns="0" rIns="0" tIns="0" bIns="0" anchor="ctr">
            <a:spAutoFit/>
          </a:bodyPr>
          <a:lstStyle/>
          <a:p>
            <a:pPr algn="l"/>
            <a:r>
              <a:rPr sz="1000" b="1" i="0">
                <a:solidFill>
                  <a:srgbClr val="1D1D1B"/>
                </a:solidFill>
                <a:latin typeface="Calibri"/>
                <a:cs typeface="Calibri"/>
              </a:rPr>
              <a:t>Render node page. </a:t>
            </a:r>
            <a:r>
              <a:rPr sz="1000" b="0" i="0">
                <a:solidFill>
                  <a:srgbClr val="595959"/>
                </a:solidFill>
                <a:latin typeface="Calibri"/>
                <a:cs typeface="Calibri"/>
              </a:rPr>
              <a:t>Adds the tables, service list and contacts from node_record.</a:t>
            </a:r>
          </a:p>
        </p:txBody>
      </p:sp>
      <p:sp>
        <p:nvSpPr>
          <p:cNvPr id="98" name="Oval 97"/>
          <p:cNvSpPr/>
          <p:nvPr/>
        </p:nvSpPr>
        <p:spPr>
          <a:xfrm>
            <a:off x="4572000" y="3666744"/>
            <a:ext cx="201168" cy="201168"/>
          </a:xfrm>
          <a:prstGeom prst="ellipse">
            <a:avLst/>
          </a:prstGeom>
          <a:solidFill>
            <a:srgbClr val="E8710A"/>
          </a:solidFill>
          <a:ln>
            <a:noFill/>
          </a:ln>
          <a:effectLst/>
        </p:spPr>
        <p:txBody>
          <a:bodyPr rtlCol="0" anchor="ctr" lIns="36576" rIns="36576"/>
          <a:lstStyle/>
          <a:p>
            <a:pPr algn="ctr"/>
          </a:p>
        </p:txBody>
      </p:sp>
      <p:sp>
        <p:nvSpPr>
          <p:cNvPr id="99" name="TextBox 98"/>
          <p:cNvSpPr txBox="1"/>
          <p:nvPr/>
        </p:nvSpPr>
        <p:spPr>
          <a:xfrm>
            <a:off x="4572000" y="3666744"/>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10</a:t>
            </a:r>
          </a:p>
        </p:txBody>
      </p:sp>
      <p:sp>
        <p:nvSpPr>
          <p:cNvPr id="100" name="TextBox 99"/>
          <p:cNvSpPr txBox="1"/>
          <p:nvPr/>
        </p:nvSpPr>
        <p:spPr>
          <a:xfrm>
            <a:off x="4864608" y="3593591"/>
            <a:ext cx="3730752" cy="338328"/>
          </a:xfrm>
          <a:prstGeom prst="rect">
            <a:avLst/>
          </a:prstGeom>
          <a:noFill/>
        </p:spPr>
        <p:txBody>
          <a:bodyPr wrap="square" lIns="0" rIns="0" tIns="0" bIns="0" anchor="ctr">
            <a:spAutoFit/>
          </a:bodyPr>
          <a:lstStyle/>
          <a:p>
            <a:pPr algn="l"/>
            <a:r>
              <a:rPr sz="1000" b="1" i="0">
                <a:solidFill>
                  <a:srgbClr val="1D1D1B"/>
                </a:solidFill>
                <a:latin typeface="Calibri"/>
                <a:cs typeface="Calibri"/>
              </a:rPr>
              <a:t>Create markdown file. </a:t>
            </a:r>
            <a:r>
              <a:rPr sz="1000" b="0" i="0">
                <a:solidFill>
                  <a:srgbClr val="595959"/>
                </a:solidFill>
                <a:latin typeface="Calibri"/>
                <a:cs typeface="Calibri"/>
              </a:rPr>
              <a:t>Turns the page into a .md file.</a:t>
            </a:r>
          </a:p>
        </p:txBody>
      </p:sp>
      <p:sp>
        <p:nvSpPr>
          <p:cNvPr id="101" name="Oval 100"/>
          <p:cNvSpPr/>
          <p:nvPr/>
        </p:nvSpPr>
        <p:spPr>
          <a:xfrm>
            <a:off x="4572000" y="4005072"/>
            <a:ext cx="201168" cy="201168"/>
          </a:xfrm>
          <a:prstGeom prst="ellipse">
            <a:avLst/>
          </a:prstGeom>
          <a:solidFill>
            <a:srgbClr val="1A73E8"/>
          </a:solidFill>
          <a:ln>
            <a:noFill/>
          </a:ln>
          <a:effectLst/>
        </p:spPr>
        <p:txBody>
          <a:bodyPr rtlCol="0" anchor="ctr" lIns="36576" rIns="36576"/>
          <a:lstStyle/>
          <a:p>
            <a:pPr algn="ctr"/>
          </a:p>
        </p:txBody>
      </p:sp>
      <p:sp>
        <p:nvSpPr>
          <p:cNvPr id="102" name="TextBox 101"/>
          <p:cNvSpPr txBox="1"/>
          <p:nvPr/>
        </p:nvSpPr>
        <p:spPr>
          <a:xfrm>
            <a:off x="4572000" y="4005072"/>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11</a:t>
            </a:r>
          </a:p>
        </p:txBody>
      </p:sp>
      <p:sp>
        <p:nvSpPr>
          <p:cNvPr id="103" name="TextBox 102"/>
          <p:cNvSpPr txBox="1"/>
          <p:nvPr/>
        </p:nvSpPr>
        <p:spPr>
          <a:xfrm>
            <a:off x="4864608" y="3931920"/>
            <a:ext cx="3730752" cy="338328"/>
          </a:xfrm>
          <a:prstGeom prst="rect">
            <a:avLst/>
          </a:prstGeom>
          <a:noFill/>
        </p:spPr>
        <p:txBody>
          <a:bodyPr wrap="square" lIns="0" rIns="0" tIns="0" bIns="0" anchor="ctr">
            <a:spAutoFit/>
          </a:bodyPr>
          <a:lstStyle/>
          <a:p>
            <a:pPr algn="l"/>
            <a:r>
              <a:rPr sz="1000" b="1" i="0">
                <a:solidFill>
                  <a:srgbClr val="1D1D1B"/>
                </a:solidFill>
                <a:latin typeface="Calibri"/>
                <a:cs typeface="Calibri"/>
              </a:rPr>
              <a:t>Upload node page to Drive. </a:t>
            </a:r>
            <a:r>
              <a:rPr sz="1000" b="0" i="0">
                <a:solidFill>
                  <a:srgbClr val="595959"/>
                </a:solidFill>
                <a:latin typeface="Calibri"/>
                <a:cs typeface="Calibri"/>
              </a:rPr>
              <a:t>Saves the page in the EB-Nodes folder.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n8n workflow: AI Node Writer</a:t>
            </a:r>
          </a:p>
        </p:txBody>
      </p:sp>
      <p:sp>
        <p:nvSpPr>
          <p:cNvPr id="3" name="TextBox 2"/>
          <p:cNvSpPr txBox="1"/>
          <p:nvPr/>
        </p:nvSpPr>
        <p:spPr>
          <a:xfrm>
            <a:off x="457200" y="914400"/>
            <a:ext cx="2743200" cy="274320"/>
          </a:xfrm>
          <a:prstGeom prst="rect">
            <a:avLst/>
          </a:prstGeom>
          <a:noFill/>
        </p:spPr>
        <p:txBody>
          <a:bodyPr wrap="square" lIns="0" rIns="0" tIns="0" bIns="0" anchor="t">
            <a:spAutoFit/>
          </a:bodyPr>
          <a:lstStyle/>
          <a:p>
            <a:pPr algn="l"/>
            <a:r>
              <a:rPr sz="1200" b="1" i="0">
                <a:solidFill>
                  <a:srgbClr val="1D1D1B"/>
                </a:solidFill>
                <a:latin typeface="Source Sans Pro"/>
                <a:cs typeface="Source Sans Pro"/>
              </a:rPr>
              <a:t>What it gets</a:t>
            </a:r>
          </a:p>
        </p:txBody>
      </p:sp>
      <p:sp>
        <p:nvSpPr>
          <p:cNvPr id="4" name="Rounded Rectangle 3"/>
          <p:cNvSpPr/>
          <p:nvPr/>
        </p:nvSpPr>
        <p:spPr>
          <a:xfrm>
            <a:off x="457200" y="1234440"/>
            <a:ext cx="2743200" cy="2103120"/>
          </a:xfrm>
          <a:prstGeom prst="roundRect">
            <a:avLst>
              <a:gd name="adj" fmla="val 2608"/>
            </a:avLst>
          </a:prstGeom>
          <a:solidFill>
            <a:srgbClr val="1E1E1E"/>
          </a:solidFill>
          <a:ln>
            <a:noFill/>
          </a:ln>
          <a:effectLst/>
        </p:spPr>
        <p:txBody>
          <a:bodyPr rtlCol="0" anchor="ctr" lIns="36576" rIns="36576"/>
          <a:lstStyle/>
          <a:p>
            <a:pPr algn="ctr"/>
          </a:p>
        </p:txBody>
      </p:sp>
      <p:sp>
        <p:nvSpPr>
          <p:cNvPr id="5" name="TextBox 4"/>
          <p:cNvSpPr txBox="1"/>
          <p:nvPr/>
        </p:nvSpPr>
        <p:spPr>
          <a:xfrm>
            <a:off x="621792" y="1362456"/>
            <a:ext cx="2468880" cy="1874519"/>
          </a:xfrm>
          <a:prstGeom prst="rect">
            <a:avLst/>
          </a:prstGeom>
          <a:noFill/>
        </p:spPr>
        <p:txBody>
          <a:bodyPr wrap="square" lIns="0" rIns="0" tIns="0" bIns="0" anchor="t">
            <a:spAutoFit/>
          </a:bodyPr>
          <a:lstStyle/>
          <a:p>
            <a:pPr algn="l"/>
            <a:r>
              <a:rPr sz="900" b="0" i="0">
                <a:solidFill>
                  <a:srgbClr val="D4D4D4"/>
                </a:solidFill>
                <a:latin typeface="Consolas"/>
                <a:cs typeface="Consolas"/>
              </a:rPr>
              <a:t>Node: Flanders BioImaging</a:t>
            </a:r>
          </a:p>
          <a:p>
            <a:pPr algn="l"/>
            <a:r>
              <a:rPr sz="900" b="0" i="0">
                <a:solidFill>
                  <a:srgbClr val="D4D4D4"/>
                </a:solidFill>
                <a:latin typeface="Consolas"/>
                <a:cs typeface="Consolas"/>
              </a:rPr>
              <a:t>Country: Belgium</a:t>
            </a:r>
          </a:p>
          <a:p>
            <a:pPr algn="l"/>
            <a:r>
              <a:rPr sz="900" b="0" i="0">
                <a:solidFill>
                  <a:srgbClr val="D4D4D4"/>
                </a:solidFill>
                <a:latin typeface="Consolas"/>
                <a:cs typeface="Consolas"/>
              </a:rPr>
              <a:t/>
            </a:r>
          </a:p>
          <a:p>
            <a:pPr algn="l"/>
            <a:r>
              <a:rPr sz="900" b="0" i="0">
                <a:solidFill>
                  <a:srgbClr val="D4D4D4"/>
                </a:solidFill>
                <a:latin typeface="Consolas"/>
                <a:cs typeface="Consolas"/>
              </a:rPr>
              <a:t>node_briefing:</a:t>
            </a:r>
          </a:p>
          <a:p>
            <a:pPr algn="l"/>
            <a:r>
              <a:rPr sz="900" b="0" i="0">
                <a:solidFill>
                  <a:srgbClr val="D4D4D4"/>
                </a:solidFill>
                <a:latin typeface="Consolas"/>
                <a:cs typeface="Consolas"/>
              </a:rPr>
              <a:t>{"identity": {...},</a:t>
            </a:r>
          </a:p>
          <a:p>
            <a:pPr algn="l"/>
            <a:r>
              <a:rPr sz="900" b="0" i="0">
                <a:solidFill>
                  <a:srgbClr val="D4D4D4"/>
                </a:solidFill>
                <a:latin typeface="Consolas"/>
                <a:cs typeface="Consolas"/>
              </a:rPr>
              <a:t> "strength_profile": [...],</a:t>
            </a:r>
          </a:p>
          <a:p>
            <a:pPr algn="l"/>
            <a:r>
              <a:rPr sz="900" b="0" i="0">
                <a:solidFill>
                  <a:srgbClr val="D4D4D4"/>
                </a:solidFill>
                <a:latin typeface="Consolas"/>
                <a:cs typeface="Consolas"/>
              </a:rPr>
              <a:t> "technologies_by_category":</a:t>
            </a:r>
          </a:p>
          <a:p>
            <a:pPr algn="l"/>
            <a:r>
              <a:rPr sz="900" b="0" i="0">
                <a:solidFill>
                  <a:srgbClr val="D4D4D4"/>
                </a:solidFill>
                <a:latin typeface="Consolas"/>
                <a:cs typeface="Consolas"/>
              </a:rPr>
              <a:t>   [...], ...}</a:t>
            </a:r>
          </a:p>
        </p:txBody>
      </p:sp>
      <p:sp>
        <p:nvSpPr>
          <p:cNvPr id="6" name="Rounded Rectangle 5"/>
          <p:cNvSpPr/>
          <p:nvPr/>
        </p:nvSpPr>
        <p:spPr>
          <a:xfrm>
            <a:off x="3474720" y="1234440"/>
            <a:ext cx="2194560" cy="2103120"/>
          </a:xfrm>
          <a:prstGeom prst="roundRect">
            <a:avLst>
              <a:gd name="adj" fmla="val 3478"/>
            </a:avLst>
          </a:prstGeom>
          <a:solidFill>
            <a:srgbClr val="F3EEF8"/>
          </a:solidFill>
          <a:ln w="19050">
            <a:solidFill>
              <a:srgbClr val="6A4C93"/>
            </a:solidFill>
          </a:ln>
          <a:effectLst/>
        </p:spPr>
        <p:txBody>
          <a:bodyPr rtlCol="0" anchor="ctr" lIns="36576" rIns="36576"/>
          <a:lstStyle/>
          <a:p>
            <a:pPr algn="ctr"/>
          </a:p>
        </p:txBody>
      </p:sp>
      <p:pic>
        <p:nvPicPr>
          <p:cNvPr id="7" name="Picture 6" descr="robot_brand.png"/>
          <p:cNvPicPr>
            <a:picLocks noChangeAspect="1"/>
          </p:cNvPicPr>
          <p:nvPr/>
        </p:nvPicPr>
        <p:blipFill>
          <a:blip r:embed="rId3"/>
          <a:stretch>
            <a:fillRect/>
          </a:stretch>
        </p:blipFill>
        <p:spPr>
          <a:xfrm>
            <a:off x="3639312" y="1371600"/>
            <a:ext cx="310896" cy="310896"/>
          </a:xfrm>
          <a:prstGeom prst="rect">
            <a:avLst/>
          </a:prstGeom>
        </p:spPr>
      </p:pic>
      <p:sp>
        <p:nvSpPr>
          <p:cNvPr id="8" name="TextBox 7"/>
          <p:cNvSpPr txBox="1"/>
          <p:nvPr/>
        </p:nvSpPr>
        <p:spPr>
          <a:xfrm>
            <a:off x="4023359" y="1353312"/>
            <a:ext cx="1554480" cy="365760"/>
          </a:xfrm>
          <a:prstGeom prst="rect">
            <a:avLst/>
          </a:prstGeom>
          <a:noFill/>
        </p:spPr>
        <p:txBody>
          <a:bodyPr wrap="square" lIns="0" rIns="0" tIns="0" bIns="0" anchor="ctr">
            <a:spAutoFit/>
          </a:bodyPr>
          <a:lstStyle/>
          <a:p>
            <a:pPr algn="l"/>
            <a:r>
              <a:rPr sz="1300" b="1" i="0">
                <a:solidFill>
                  <a:srgbClr val="1D1D1B"/>
                </a:solidFill>
                <a:latin typeface="Calibri"/>
                <a:cs typeface="Calibri"/>
              </a:rPr>
              <a:t>AI Node Writer</a:t>
            </a:r>
          </a:p>
        </p:txBody>
      </p:sp>
      <p:sp>
        <p:nvSpPr>
          <p:cNvPr id="9" name="TextBox 8"/>
          <p:cNvSpPr txBox="1"/>
          <p:nvPr/>
        </p:nvSpPr>
        <p:spPr>
          <a:xfrm>
            <a:off x="3639312" y="1828800"/>
            <a:ext cx="1920240" cy="1463040"/>
          </a:xfrm>
          <a:prstGeom prst="rect">
            <a:avLst/>
          </a:prstGeom>
          <a:noFill/>
        </p:spPr>
        <p:txBody>
          <a:bodyPr wrap="square" lIns="0" rIns="0" tIns="0" bIns="0" anchor="t">
            <a:spAutoFit/>
          </a:bodyPr>
          <a:lstStyle/>
          <a:p>
            <a:pPr algn="l">
              <a:spcAft>
                <a:spcPts val="600"/>
              </a:spcAft>
            </a:pPr>
            <a:r>
              <a:rPr sz="1200" b="0" i="0">
                <a:solidFill>
                  <a:srgbClr val="595959"/>
                </a:solidFill>
                <a:latin typeface="Calibri"/>
                <a:cs typeface="Calibri"/>
              </a:rPr>
              <a:t>Claude Opus 5.5</a:t>
            </a:r>
          </a:p>
          <a:p>
            <a:pPr algn="l">
              <a:spcAft>
                <a:spcPts val="600"/>
              </a:spcAft>
            </a:pPr>
            <a:r>
              <a:rPr sz="1200" b="0" i="0">
                <a:solidFill>
                  <a:srgbClr val="595959"/>
                </a:solidFill>
                <a:latin typeface="Calibri"/>
                <a:cs typeface="Calibri"/>
              </a:rPr>
              <a:t>Temperature 0.2</a:t>
            </a:r>
          </a:p>
          <a:p>
            <a:pPr algn="l">
              <a:spcAft>
                <a:spcPts val="600"/>
              </a:spcAft>
            </a:pPr>
            <a:r>
              <a:rPr sz="1200" b="0" i="0">
                <a:solidFill>
                  <a:srgbClr val="595959"/>
                </a:solidFill>
                <a:latin typeface="Calibri"/>
                <a:cs typeface="Calibri"/>
              </a:rPr>
              <a:t>Max 21,000 tokens</a:t>
            </a:r>
          </a:p>
        </p:txBody>
      </p:sp>
      <p:cxnSp>
        <p:nvCxnSpPr>
          <p:cNvPr id="10" name="Connector 9"/>
          <p:cNvCxnSpPr/>
          <p:nvPr/>
        </p:nvCxnSpPr>
        <p:spPr>
          <a:xfrm>
            <a:off x="3218688" y="2286000"/>
            <a:ext cx="228600" cy="0"/>
          </a:xfrm>
          <a:prstGeom prst="line">
            <a:avLst/>
          </a:prstGeom>
          <a:ln w="19050">
            <a:solidFill>
              <a:srgbClr val="6A4C9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943600" y="914400"/>
            <a:ext cx="2743200" cy="274320"/>
          </a:xfrm>
          <a:prstGeom prst="rect">
            <a:avLst/>
          </a:prstGeom>
          <a:noFill/>
        </p:spPr>
        <p:txBody>
          <a:bodyPr wrap="square" lIns="0" rIns="0" tIns="0" bIns="0" anchor="t">
            <a:spAutoFit/>
          </a:bodyPr>
          <a:lstStyle/>
          <a:p>
            <a:pPr algn="l"/>
            <a:r>
              <a:rPr sz="1200" b="1" i="0">
                <a:solidFill>
                  <a:srgbClr val="1D1D1B"/>
                </a:solidFill>
                <a:latin typeface="Source Sans Pro"/>
                <a:cs typeface="Source Sans Pro"/>
              </a:rPr>
              <a:t>What it returns</a:t>
            </a:r>
          </a:p>
        </p:txBody>
      </p:sp>
      <p:sp>
        <p:nvSpPr>
          <p:cNvPr id="12" name="Rounded Rectangle 11"/>
          <p:cNvSpPr/>
          <p:nvPr/>
        </p:nvSpPr>
        <p:spPr>
          <a:xfrm>
            <a:off x="5943600" y="1234440"/>
            <a:ext cx="2743200" cy="2103120"/>
          </a:xfrm>
          <a:prstGeom prst="roundRect">
            <a:avLst>
              <a:gd name="adj" fmla="val 2608"/>
            </a:avLst>
          </a:prstGeom>
          <a:solidFill>
            <a:srgbClr val="1E1E1E"/>
          </a:solidFill>
          <a:ln>
            <a:noFill/>
          </a:ln>
          <a:effectLst/>
        </p:spPr>
        <p:txBody>
          <a:bodyPr rtlCol="0" anchor="ctr" lIns="36576" rIns="36576"/>
          <a:lstStyle/>
          <a:p>
            <a:pPr algn="ctr"/>
          </a:p>
        </p:txBody>
      </p:sp>
      <p:sp>
        <p:nvSpPr>
          <p:cNvPr id="13" name="TextBox 12"/>
          <p:cNvSpPr txBox="1"/>
          <p:nvPr/>
        </p:nvSpPr>
        <p:spPr>
          <a:xfrm>
            <a:off x="6108192" y="1362456"/>
            <a:ext cx="2468880" cy="1874519"/>
          </a:xfrm>
          <a:prstGeom prst="rect">
            <a:avLst/>
          </a:prstGeom>
          <a:noFill/>
        </p:spPr>
        <p:txBody>
          <a:bodyPr wrap="square" lIns="0" rIns="0" tIns="0" bIns="0" anchor="t">
            <a:spAutoFit/>
          </a:bodyPr>
          <a:lstStyle/>
          <a:p>
            <a:pPr algn="l"/>
            <a:r>
              <a:rPr sz="900" b="0" i="0">
                <a:solidFill>
                  <a:srgbClr val="D4D4D4"/>
                </a:solidFill>
                <a:latin typeface="Consolas"/>
                <a:cs typeface="Consolas"/>
              </a:rPr>
              <a:t>{"sections": [</a:t>
            </a:r>
          </a:p>
          <a:p>
            <a:pPr algn="l"/>
            <a:r>
              <a:rPr sz="900" b="0" i="0">
                <a:solidFill>
                  <a:srgbClr val="D4D4D4"/>
                </a:solidFill>
                <a:latin typeface="Consolas"/>
                <a:cs typeface="Consolas"/>
              </a:rPr>
              <a:t> {"section_title":</a:t>
            </a:r>
          </a:p>
          <a:p>
            <a:pPr algn="l"/>
            <a:r>
              <a:rPr sz="900" b="0" i="0">
                <a:solidFill>
                  <a:srgbClr val="D4D4D4"/>
                </a:solidFill>
                <a:latin typeface="Consolas"/>
                <a:cs typeface="Consolas"/>
              </a:rPr>
              <a:t>   "Overview",</a:t>
            </a:r>
          </a:p>
          <a:p>
            <a:pPr algn="l"/>
            <a:r>
              <a:rPr sz="900" b="0" i="0">
                <a:solidFill>
                  <a:srgbClr val="D4D4D4"/>
                </a:solidFill>
                <a:latin typeface="Consolas"/>
                <a:cs typeface="Consolas"/>
              </a:rPr>
              <a:t>  "section_text": "...",</a:t>
            </a:r>
          </a:p>
          <a:p>
            <a:pPr algn="l"/>
            <a:r>
              <a:rPr sz="900" b="0" i="0">
                <a:solidFill>
                  <a:srgbClr val="D4D4D4"/>
                </a:solidFill>
                <a:latin typeface="Consolas"/>
                <a:cs typeface="Consolas"/>
              </a:rPr>
              <a:t>  "word_count": 262},</a:t>
            </a:r>
          </a:p>
          <a:p>
            <a:pPr algn="l"/>
            <a:r>
              <a:rPr sz="900" b="0" i="0">
                <a:solidFill>
                  <a:srgbClr val="D4D4D4"/>
                </a:solidFill>
                <a:latin typeface="Consolas"/>
                <a:cs typeface="Consolas"/>
              </a:rPr>
              <a:t> ... four more</a:t>
            </a:r>
          </a:p>
          <a:p>
            <a:pPr algn="l"/>
            <a:r>
              <a:rPr sz="900" b="0" i="0">
                <a:solidFill>
                  <a:srgbClr val="D4D4D4"/>
                </a:solidFill>
                <a:latin typeface="Consolas"/>
                <a:cs typeface="Consolas"/>
              </a:rPr>
              <a:t>]}</a:t>
            </a:r>
          </a:p>
        </p:txBody>
      </p:sp>
      <p:cxnSp>
        <p:nvCxnSpPr>
          <p:cNvPr id="14" name="Connector 13"/>
          <p:cNvCxnSpPr/>
          <p:nvPr/>
        </p:nvCxnSpPr>
        <p:spPr>
          <a:xfrm>
            <a:off x="5687568" y="2286000"/>
            <a:ext cx="228600" cy="0"/>
          </a:xfrm>
          <a:prstGeom prst="line">
            <a:avLst/>
          </a:prstGeom>
          <a:ln w="19050">
            <a:solidFill>
              <a:srgbClr val="6A4C9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57200" y="3611880"/>
            <a:ext cx="8229600" cy="731520"/>
          </a:xfrm>
          <a:prstGeom prst="rect">
            <a:avLst/>
          </a:prstGeom>
          <a:noFill/>
        </p:spPr>
        <p:txBody>
          <a:bodyPr wrap="square" lIns="0" rIns="0" tIns="0" bIns="0" anchor="t">
            <a:spAutoFit/>
          </a:bodyPr>
          <a:lstStyle/>
          <a:p>
            <a:pPr algn="l"/>
            <a:r>
              <a:rPr sz="1200" b="0" i="0">
                <a:solidFill>
                  <a:srgbClr val="595959"/>
                </a:solidFill>
                <a:latin typeface="Calibri"/>
                <a:cs typeface="Calibri"/>
              </a:rPr>
              <a:t>The writer only sees node_briefing, so it never gets contacts, addresses or links. It returns the five text sections in one JSON object.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n8n workflow: The sections of a Node page</a:t>
            </a:r>
          </a:p>
        </p:txBody>
      </p:sp>
      <p:sp>
        <p:nvSpPr>
          <p:cNvPr id="3" name="TextBox 2"/>
          <p:cNvSpPr txBox="1"/>
          <p:nvPr/>
        </p:nvSpPr>
        <p:spPr>
          <a:xfrm>
            <a:off x="457200" y="868680"/>
            <a:ext cx="2331720" cy="274320"/>
          </a:xfrm>
          <a:prstGeom prst="rect">
            <a:avLst/>
          </a:prstGeom>
          <a:noFill/>
        </p:spPr>
        <p:txBody>
          <a:bodyPr wrap="square" lIns="0" rIns="0" tIns="0" bIns="0" anchor="b">
            <a:spAutoFit/>
          </a:bodyPr>
          <a:lstStyle/>
          <a:p>
            <a:pPr algn="l"/>
            <a:r>
              <a:rPr sz="1000" b="1" i="0">
                <a:solidFill>
                  <a:srgbClr val="8C8C8C"/>
                </a:solidFill>
                <a:latin typeface="Calibri"/>
                <a:cs typeface="Calibri"/>
              </a:rPr>
              <a:t>Section</a:t>
            </a:r>
          </a:p>
        </p:txBody>
      </p:sp>
      <p:sp>
        <p:nvSpPr>
          <p:cNvPr id="4" name="TextBox 3"/>
          <p:cNvSpPr txBox="1"/>
          <p:nvPr/>
        </p:nvSpPr>
        <p:spPr>
          <a:xfrm>
            <a:off x="2788920" y="868680"/>
            <a:ext cx="1051560" cy="274320"/>
          </a:xfrm>
          <a:prstGeom prst="rect">
            <a:avLst/>
          </a:prstGeom>
          <a:noFill/>
        </p:spPr>
        <p:txBody>
          <a:bodyPr wrap="square" lIns="0" rIns="0" tIns="0" bIns="0" anchor="b">
            <a:spAutoFit/>
          </a:bodyPr>
          <a:lstStyle/>
          <a:p>
            <a:pPr algn="l"/>
            <a:r>
              <a:rPr sz="1000" b="1" i="0">
                <a:solidFill>
                  <a:srgbClr val="8C8C8C"/>
                </a:solidFill>
                <a:latin typeface="Calibri"/>
                <a:cs typeface="Calibri"/>
              </a:rPr>
              <a:t>Words</a:t>
            </a:r>
          </a:p>
        </p:txBody>
      </p:sp>
      <p:sp>
        <p:nvSpPr>
          <p:cNvPr id="5" name="TextBox 4"/>
          <p:cNvSpPr txBox="1"/>
          <p:nvPr/>
        </p:nvSpPr>
        <p:spPr>
          <a:xfrm>
            <a:off x="3840479" y="868680"/>
            <a:ext cx="3429000" cy="274320"/>
          </a:xfrm>
          <a:prstGeom prst="rect">
            <a:avLst/>
          </a:prstGeom>
          <a:noFill/>
        </p:spPr>
        <p:txBody>
          <a:bodyPr wrap="square" lIns="0" rIns="0" tIns="0" bIns="0" anchor="b">
            <a:spAutoFit/>
          </a:bodyPr>
          <a:lstStyle/>
          <a:p>
            <a:pPr algn="l"/>
            <a:r>
              <a:rPr sz="1000" b="1" i="0">
                <a:solidFill>
                  <a:srgbClr val="8C8C8C"/>
                </a:solidFill>
                <a:latin typeface="Calibri"/>
                <a:cs typeface="Calibri"/>
              </a:rPr>
              <a:t>What it covers</a:t>
            </a:r>
          </a:p>
        </p:txBody>
      </p:sp>
      <p:sp>
        <p:nvSpPr>
          <p:cNvPr id="6" name="TextBox 5"/>
          <p:cNvSpPr txBox="1"/>
          <p:nvPr/>
        </p:nvSpPr>
        <p:spPr>
          <a:xfrm>
            <a:off x="7269479" y="868680"/>
            <a:ext cx="1417320" cy="274320"/>
          </a:xfrm>
          <a:prstGeom prst="rect">
            <a:avLst/>
          </a:prstGeom>
          <a:noFill/>
        </p:spPr>
        <p:txBody>
          <a:bodyPr wrap="square" lIns="0" rIns="0" tIns="0" bIns="0" anchor="b">
            <a:spAutoFit/>
          </a:bodyPr>
          <a:lstStyle/>
          <a:p>
            <a:pPr algn="l"/>
            <a:r>
              <a:rPr sz="1000" b="1" i="0">
                <a:solidFill>
                  <a:srgbClr val="8C8C8C"/>
                </a:solidFill>
                <a:latin typeface="Calibri"/>
                <a:cs typeface="Calibri"/>
              </a:rPr>
              <a:t>Added by code</a:t>
            </a:r>
          </a:p>
        </p:txBody>
      </p:sp>
      <p:sp>
        <p:nvSpPr>
          <p:cNvPr id="7" name="Rectangle 6"/>
          <p:cNvSpPr/>
          <p:nvPr/>
        </p:nvSpPr>
        <p:spPr>
          <a:xfrm>
            <a:off x="457200" y="1188720"/>
            <a:ext cx="8229600" cy="10972"/>
          </a:xfrm>
          <a:prstGeom prst="rect">
            <a:avLst/>
          </a:prstGeom>
          <a:solidFill>
            <a:srgbClr val="1D1D1B"/>
          </a:solidFill>
          <a:ln>
            <a:noFill/>
          </a:ln>
          <a:effectLst/>
        </p:spPr>
        <p:txBody>
          <a:bodyPr rtlCol="0" anchor="ctr" lIns="36576" rIns="36576"/>
          <a:lstStyle/>
          <a:p>
            <a:pPr algn="ctr"/>
          </a:p>
        </p:txBody>
      </p:sp>
      <p:sp>
        <p:nvSpPr>
          <p:cNvPr id="8" name="Rectangle 7"/>
          <p:cNvSpPr/>
          <p:nvPr/>
        </p:nvSpPr>
        <p:spPr>
          <a:xfrm>
            <a:off x="457200" y="1261872"/>
            <a:ext cx="73152" cy="384047"/>
          </a:xfrm>
          <a:prstGeom prst="rect">
            <a:avLst/>
          </a:prstGeom>
          <a:solidFill>
            <a:srgbClr val="6A4C93"/>
          </a:solidFill>
          <a:ln>
            <a:noFill/>
          </a:ln>
          <a:effectLst/>
        </p:spPr>
        <p:txBody>
          <a:bodyPr rtlCol="0" anchor="ctr" lIns="36576" rIns="36576"/>
          <a:lstStyle/>
          <a:p>
            <a:pPr algn="ctr"/>
          </a:p>
        </p:txBody>
      </p:sp>
      <p:sp>
        <p:nvSpPr>
          <p:cNvPr id="9" name="TextBox 8"/>
          <p:cNvSpPr txBox="1"/>
          <p:nvPr/>
        </p:nvSpPr>
        <p:spPr>
          <a:xfrm>
            <a:off x="621792" y="1188720"/>
            <a:ext cx="2148839" cy="530352"/>
          </a:xfrm>
          <a:prstGeom prst="rect">
            <a:avLst/>
          </a:prstGeom>
          <a:noFill/>
        </p:spPr>
        <p:txBody>
          <a:bodyPr wrap="square" lIns="0" rIns="0" tIns="0" bIns="0" anchor="ctr">
            <a:spAutoFit/>
          </a:bodyPr>
          <a:lstStyle/>
          <a:p>
            <a:pPr algn="l"/>
            <a:r>
              <a:rPr sz="1150" b="1" i="0">
                <a:solidFill>
                  <a:srgbClr val="1D1D1B"/>
                </a:solidFill>
                <a:latin typeface="Calibri"/>
                <a:cs typeface="Calibri"/>
              </a:rPr>
              <a:t>Overview</a:t>
            </a:r>
          </a:p>
        </p:txBody>
      </p:sp>
      <p:sp>
        <p:nvSpPr>
          <p:cNvPr id="10" name="TextBox 9"/>
          <p:cNvSpPr txBox="1"/>
          <p:nvPr/>
        </p:nvSpPr>
        <p:spPr>
          <a:xfrm>
            <a:off x="2788920" y="1188720"/>
            <a:ext cx="1051560" cy="530352"/>
          </a:xfrm>
          <a:prstGeom prst="rect">
            <a:avLst/>
          </a:prstGeom>
          <a:noFill/>
        </p:spPr>
        <p:txBody>
          <a:bodyPr wrap="square" lIns="0" rIns="0" tIns="0" bIns="0" anchor="ctr">
            <a:spAutoFit/>
          </a:bodyPr>
          <a:lstStyle/>
          <a:p>
            <a:pPr algn="l"/>
            <a:r>
              <a:rPr sz="1050" b="0" i="0">
                <a:solidFill>
                  <a:srgbClr val="595959"/>
                </a:solidFill>
                <a:latin typeface="Calibri"/>
                <a:cs typeface="Calibri"/>
              </a:rPr>
              <a:t>230 to 290</a:t>
            </a:r>
          </a:p>
        </p:txBody>
      </p:sp>
      <p:sp>
        <p:nvSpPr>
          <p:cNvPr id="11" name="TextBox 10"/>
          <p:cNvSpPr txBox="1"/>
          <p:nvPr/>
        </p:nvSpPr>
        <p:spPr>
          <a:xfrm>
            <a:off x="3840479" y="1188720"/>
            <a:ext cx="3291840" cy="530352"/>
          </a:xfrm>
          <a:prstGeom prst="rect">
            <a:avLst/>
          </a:prstGeom>
          <a:noFill/>
        </p:spPr>
        <p:txBody>
          <a:bodyPr wrap="square" lIns="0" rIns="0" tIns="0" bIns="0" anchor="ctr">
            <a:spAutoFit/>
          </a:bodyPr>
          <a:lstStyle/>
          <a:p>
            <a:pPr algn="l"/>
            <a:r>
              <a:rPr sz="1050" b="0" i="0">
                <a:solidFill>
                  <a:srgbClr val="595959"/>
                </a:solidFill>
                <a:latin typeface="Calibri"/>
                <a:cs typeface="Calibri"/>
              </a:rPr>
              <a:t>What the Node mainly offers, what the staff are expert in, and where each group of methods is</a:t>
            </a:r>
          </a:p>
        </p:txBody>
      </p:sp>
      <p:sp>
        <p:nvSpPr>
          <p:cNvPr id="12" name="Rectangle 11"/>
          <p:cNvSpPr/>
          <p:nvPr/>
        </p:nvSpPr>
        <p:spPr>
          <a:xfrm>
            <a:off x="457200" y="1719072"/>
            <a:ext cx="8229600" cy="5486"/>
          </a:xfrm>
          <a:prstGeom prst="rect">
            <a:avLst/>
          </a:prstGeom>
          <a:solidFill>
            <a:srgbClr val="D9D9D9"/>
          </a:solidFill>
          <a:ln>
            <a:noFill/>
          </a:ln>
          <a:effectLst/>
        </p:spPr>
        <p:txBody>
          <a:bodyPr rtlCol="0" anchor="ctr" lIns="36576" rIns="36576"/>
          <a:lstStyle/>
          <a:p>
            <a:pPr algn="ctr"/>
          </a:p>
        </p:txBody>
      </p:sp>
      <p:sp>
        <p:nvSpPr>
          <p:cNvPr id="13" name="Rectangle 12"/>
          <p:cNvSpPr/>
          <p:nvPr/>
        </p:nvSpPr>
        <p:spPr>
          <a:xfrm>
            <a:off x="457200" y="1792224"/>
            <a:ext cx="73152" cy="384047"/>
          </a:xfrm>
          <a:prstGeom prst="rect">
            <a:avLst/>
          </a:prstGeom>
          <a:solidFill>
            <a:srgbClr val="6A4C93"/>
          </a:solidFill>
          <a:ln>
            <a:noFill/>
          </a:ln>
          <a:effectLst/>
        </p:spPr>
        <p:txBody>
          <a:bodyPr rtlCol="0" anchor="ctr" lIns="36576" rIns="36576"/>
          <a:lstStyle/>
          <a:p>
            <a:pPr algn="ctr"/>
          </a:p>
        </p:txBody>
      </p:sp>
      <p:sp>
        <p:nvSpPr>
          <p:cNvPr id="14" name="TextBox 13"/>
          <p:cNvSpPr txBox="1"/>
          <p:nvPr/>
        </p:nvSpPr>
        <p:spPr>
          <a:xfrm>
            <a:off x="621792" y="1719072"/>
            <a:ext cx="2148839" cy="530352"/>
          </a:xfrm>
          <a:prstGeom prst="rect">
            <a:avLst/>
          </a:prstGeom>
          <a:noFill/>
        </p:spPr>
        <p:txBody>
          <a:bodyPr wrap="square" lIns="0" rIns="0" tIns="0" bIns="0" anchor="ctr">
            <a:spAutoFit/>
          </a:bodyPr>
          <a:lstStyle/>
          <a:p>
            <a:pPr algn="l"/>
            <a:r>
              <a:rPr sz="1150" b="1" i="0">
                <a:solidFill>
                  <a:srgbClr val="1D1D1B"/>
                </a:solidFill>
                <a:latin typeface="Calibri"/>
                <a:cs typeface="Calibri"/>
              </a:rPr>
              <a:t>Imaging technologies offered</a:t>
            </a:r>
          </a:p>
        </p:txBody>
      </p:sp>
      <p:sp>
        <p:nvSpPr>
          <p:cNvPr id="15" name="TextBox 14"/>
          <p:cNvSpPr txBox="1"/>
          <p:nvPr/>
        </p:nvSpPr>
        <p:spPr>
          <a:xfrm>
            <a:off x="2788920" y="1719072"/>
            <a:ext cx="1051560" cy="530352"/>
          </a:xfrm>
          <a:prstGeom prst="rect">
            <a:avLst/>
          </a:prstGeom>
          <a:noFill/>
        </p:spPr>
        <p:txBody>
          <a:bodyPr wrap="square" lIns="0" rIns="0" tIns="0" bIns="0" anchor="ctr">
            <a:spAutoFit/>
          </a:bodyPr>
          <a:lstStyle/>
          <a:p>
            <a:pPr algn="l"/>
            <a:r>
              <a:rPr sz="1050" b="0" i="0">
                <a:solidFill>
                  <a:srgbClr val="595959"/>
                </a:solidFill>
                <a:latin typeface="Calibri"/>
                <a:cs typeface="Calibri"/>
              </a:rPr>
              <a:t>180 to 240</a:t>
            </a:r>
          </a:p>
        </p:txBody>
      </p:sp>
      <p:sp>
        <p:nvSpPr>
          <p:cNvPr id="16" name="TextBox 15"/>
          <p:cNvSpPr txBox="1"/>
          <p:nvPr/>
        </p:nvSpPr>
        <p:spPr>
          <a:xfrm>
            <a:off x="3840479" y="1719072"/>
            <a:ext cx="3291840" cy="530352"/>
          </a:xfrm>
          <a:prstGeom prst="rect">
            <a:avLst/>
          </a:prstGeom>
          <a:noFill/>
        </p:spPr>
        <p:txBody>
          <a:bodyPr wrap="square" lIns="0" rIns="0" tIns="0" bIns="0" anchor="ctr">
            <a:spAutoFit/>
          </a:bodyPr>
          <a:lstStyle/>
          <a:p>
            <a:pPr algn="l"/>
            <a:r>
              <a:rPr sz="1050" b="0" i="0">
                <a:solidFill>
                  <a:srgbClr val="595959"/>
                </a:solidFill>
                <a:latin typeface="Calibri"/>
                <a:cs typeface="Calibri"/>
              </a:rPr>
              <a:t>What researchers can see and measure, with two to four named instruments</a:t>
            </a:r>
          </a:p>
        </p:txBody>
      </p:sp>
      <p:sp>
        <p:nvSpPr>
          <p:cNvPr id="17" name="Rounded Rectangle 16"/>
          <p:cNvSpPr/>
          <p:nvPr/>
        </p:nvSpPr>
        <p:spPr>
          <a:xfrm>
            <a:off x="7269479" y="1856231"/>
            <a:ext cx="1371600" cy="256032"/>
          </a:xfrm>
          <a:prstGeom prst="roundRect">
            <a:avLst>
              <a:gd name="adj" fmla="val 17857"/>
            </a:avLst>
          </a:prstGeom>
          <a:solidFill>
            <a:srgbClr val="E8F0FE"/>
          </a:solidFill>
          <a:ln>
            <a:noFill/>
          </a:ln>
          <a:effectLst/>
        </p:spPr>
        <p:txBody>
          <a:bodyPr rtlCol="0" anchor="ctr" lIns="36576" rIns="36576"/>
          <a:lstStyle/>
          <a:p>
            <a:pPr algn="ctr"/>
          </a:p>
        </p:txBody>
      </p:sp>
      <p:sp>
        <p:nvSpPr>
          <p:cNvPr id="18" name="TextBox 17"/>
          <p:cNvSpPr txBox="1"/>
          <p:nvPr/>
        </p:nvSpPr>
        <p:spPr>
          <a:xfrm>
            <a:off x="7269479" y="1856231"/>
            <a:ext cx="1371600" cy="256032"/>
          </a:xfrm>
          <a:prstGeom prst="rect">
            <a:avLst/>
          </a:prstGeom>
          <a:noFill/>
        </p:spPr>
        <p:txBody>
          <a:bodyPr wrap="square" lIns="0" rIns="0" tIns="0" bIns="0" anchor="ctr">
            <a:spAutoFit/>
          </a:bodyPr>
          <a:lstStyle/>
          <a:p>
            <a:pPr algn="ctr"/>
            <a:r>
              <a:rPr sz="950" b="1" i="0">
                <a:solidFill>
                  <a:srgbClr val="1A73E8"/>
                </a:solidFill>
                <a:latin typeface="Calibri"/>
                <a:cs typeface="Calibri"/>
              </a:rPr>
              <a:t>technology table</a:t>
            </a:r>
          </a:p>
        </p:txBody>
      </p:sp>
      <p:sp>
        <p:nvSpPr>
          <p:cNvPr id="19" name="Rectangle 18"/>
          <p:cNvSpPr/>
          <p:nvPr/>
        </p:nvSpPr>
        <p:spPr>
          <a:xfrm>
            <a:off x="457200" y="2249424"/>
            <a:ext cx="8229600" cy="5486"/>
          </a:xfrm>
          <a:prstGeom prst="rect">
            <a:avLst/>
          </a:prstGeom>
          <a:solidFill>
            <a:srgbClr val="D9D9D9"/>
          </a:solidFill>
          <a:ln>
            <a:noFill/>
          </a:ln>
          <a:effectLst/>
        </p:spPr>
        <p:txBody>
          <a:bodyPr rtlCol="0" anchor="ctr" lIns="36576" rIns="36576"/>
          <a:lstStyle/>
          <a:p>
            <a:pPr algn="ctr"/>
          </a:p>
        </p:txBody>
      </p:sp>
      <p:sp>
        <p:nvSpPr>
          <p:cNvPr id="20" name="Rectangle 19"/>
          <p:cNvSpPr/>
          <p:nvPr/>
        </p:nvSpPr>
        <p:spPr>
          <a:xfrm>
            <a:off x="457200" y="2322576"/>
            <a:ext cx="73152" cy="310896"/>
          </a:xfrm>
          <a:prstGeom prst="rect">
            <a:avLst/>
          </a:prstGeom>
          <a:solidFill>
            <a:srgbClr val="6A4C93"/>
          </a:solidFill>
          <a:ln>
            <a:noFill/>
          </a:ln>
          <a:effectLst/>
        </p:spPr>
        <p:txBody>
          <a:bodyPr rtlCol="0" anchor="ctr" lIns="36576" rIns="36576"/>
          <a:lstStyle/>
          <a:p>
            <a:pPr algn="ctr"/>
          </a:p>
        </p:txBody>
      </p:sp>
      <p:sp>
        <p:nvSpPr>
          <p:cNvPr id="21" name="TextBox 20"/>
          <p:cNvSpPr txBox="1"/>
          <p:nvPr/>
        </p:nvSpPr>
        <p:spPr>
          <a:xfrm>
            <a:off x="621792" y="2249424"/>
            <a:ext cx="2148839" cy="457200"/>
          </a:xfrm>
          <a:prstGeom prst="rect">
            <a:avLst/>
          </a:prstGeom>
          <a:noFill/>
        </p:spPr>
        <p:txBody>
          <a:bodyPr wrap="square" lIns="0" rIns="0" tIns="0" bIns="0" anchor="ctr">
            <a:spAutoFit/>
          </a:bodyPr>
          <a:lstStyle/>
          <a:p>
            <a:pPr algn="l"/>
            <a:r>
              <a:rPr sz="1150" b="1" i="0">
                <a:solidFill>
                  <a:srgbClr val="1D1D1B"/>
                </a:solidFill>
                <a:latin typeface="Calibri"/>
                <a:cs typeface="Calibri"/>
              </a:rPr>
              <a:t>Specialties and research focus</a:t>
            </a:r>
          </a:p>
        </p:txBody>
      </p:sp>
      <p:sp>
        <p:nvSpPr>
          <p:cNvPr id="22" name="TextBox 21"/>
          <p:cNvSpPr txBox="1"/>
          <p:nvPr/>
        </p:nvSpPr>
        <p:spPr>
          <a:xfrm>
            <a:off x="2788920" y="2249424"/>
            <a:ext cx="1051560" cy="457200"/>
          </a:xfrm>
          <a:prstGeom prst="rect">
            <a:avLst/>
          </a:prstGeom>
          <a:noFill/>
        </p:spPr>
        <p:txBody>
          <a:bodyPr wrap="square" lIns="0" rIns="0" tIns="0" bIns="0" anchor="ctr">
            <a:spAutoFit/>
          </a:bodyPr>
          <a:lstStyle/>
          <a:p>
            <a:pPr algn="l"/>
            <a:r>
              <a:rPr sz="1050" b="0" i="0">
                <a:solidFill>
                  <a:srgbClr val="595959"/>
                </a:solidFill>
                <a:latin typeface="Calibri"/>
                <a:cs typeface="Calibri"/>
              </a:rPr>
              <a:t>150 to 200</a:t>
            </a:r>
          </a:p>
        </p:txBody>
      </p:sp>
      <p:sp>
        <p:nvSpPr>
          <p:cNvPr id="23" name="TextBox 22"/>
          <p:cNvSpPr txBox="1"/>
          <p:nvPr/>
        </p:nvSpPr>
        <p:spPr>
          <a:xfrm>
            <a:off x="3840479" y="2249424"/>
            <a:ext cx="3291840" cy="457200"/>
          </a:xfrm>
          <a:prstGeom prst="rect">
            <a:avLst/>
          </a:prstGeom>
          <a:noFill/>
        </p:spPr>
        <p:txBody>
          <a:bodyPr wrap="square" lIns="0" rIns="0" tIns="0" bIns="0" anchor="ctr">
            <a:spAutoFit/>
          </a:bodyPr>
          <a:lstStyle/>
          <a:p>
            <a:pPr algn="l"/>
            <a:r>
              <a:rPr sz="1050" b="0" i="0">
                <a:solidFill>
                  <a:srgbClr val="595959"/>
                </a:solidFill>
                <a:latin typeface="Calibri"/>
                <a:cs typeface="Calibri"/>
              </a:rPr>
              <a:t>Research fields, organisms and sample types the facilities work with</a:t>
            </a:r>
          </a:p>
        </p:txBody>
      </p:sp>
      <p:sp>
        <p:nvSpPr>
          <p:cNvPr id="24" name="Rectangle 23"/>
          <p:cNvSpPr/>
          <p:nvPr/>
        </p:nvSpPr>
        <p:spPr>
          <a:xfrm>
            <a:off x="457200" y="2706624"/>
            <a:ext cx="8229600" cy="5486"/>
          </a:xfrm>
          <a:prstGeom prst="rect">
            <a:avLst/>
          </a:prstGeom>
          <a:solidFill>
            <a:srgbClr val="D9D9D9"/>
          </a:solidFill>
          <a:ln>
            <a:noFill/>
          </a:ln>
          <a:effectLst/>
        </p:spPr>
        <p:txBody>
          <a:bodyPr rtlCol="0" anchor="ctr" lIns="36576" rIns="36576"/>
          <a:lstStyle/>
          <a:p>
            <a:pPr algn="ctr"/>
          </a:p>
        </p:txBody>
      </p:sp>
      <p:sp>
        <p:nvSpPr>
          <p:cNvPr id="25" name="Rectangle 24"/>
          <p:cNvSpPr/>
          <p:nvPr/>
        </p:nvSpPr>
        <p:spPr>
          <a:xfrm>
            <a:off x="457200" y="2779776"/>
            <a:ext cx="73152" cy="310896"/>
          </a:xfrm>
          <a:prstGeom prst="rect">
            <a:avLst/>
          </a:prstGeom>
          <a:solidFill>
            <a:srgbClr val="6A4C93"/>
          </a:solidFill>
          <a:ln>
            <a:noFill/>
          </a:ln>
          <a:effectLst/>
        </p:spPr>
        <p:txBody>
          <a:bodyPr rtlCol="0" anchor="ctr" lIns="36576" rIns="36576"/>
          <a:lstStyle/>
          <a:p>
            <a:pPr algn="ctr"/>
          </a:p>
        </p:txBody>
      </p:sp>
      <p:sp>
        <p:nvSpPr>
          <p:cNvPr id="26" name="TextBox 25"/>
          <p:cNvSpPr txBox="1"/>
          <p:nvPr/>
        </p:nvSpPr>
        <p:spPr>
          <a:xfrm>
            <a:off x="621792" y="2706624"/>
            <a:ext cx="2148839" cy="457200"/>
          </a:xfrm>
          <a:prstGeom prst="rect">
            <a:avLst/>
          </a:prstGeom>
          <a:noFill/>
        </p:spPr>
        <p:txBody>
          <a:bodyPr wrap="square" lIns="0" rIns="0" tIns="0" bIns="0" anchor="ctr">
            <a:spAutoFit/>
          </a:bodyPr>
          <a:lstStyle/>
          <a:p>
            <a:pPr algn="l"/>
            <a:r>
              <a:rPr sz="1150" b="1" i="0">
                <a:solidFill>
                  <a:srgbClr val="1D1D1B"/>
                </a:solidFill>
                <a:latin typeface="Calibri"/>
                <a:cs typeface="Calibri"/>
              </a:rPr>
              <a:t>Services and user support</a:t>
            </a:r>
          </a:p>
        </p:txBody>
      </p:sp>
      <p:sp>
        <p:nvSpPr>
          <p:cNvPr id="27" name="TextBox 26"/>
          <p:cNvSpPr txBox="1"/>
          <p:nvPr/>
        </p:nvSpPr>
        <p:spPr>
          <a:xfrm>
            <a:off x="2788920" y="2706624"/>
            <a:ext cx="1051560" cy="457200"/>
          </a:xfrm>
          <a:prstGeom prst="rect">
            <a:avLst/>
          </a:prstGeom>
          <a:noFill/>
        </p:spPr>
        <p:txBody>
          <a:bodyPr wrap="square" lIns="0" rIns="0" tIns="0" bIns="0" anchor="ctr">
            <a:spAutoFit/>
          </a:bodyPr>
          <a:lstStyle/>
          <a:p>
            <a:pPr algn="l"/>
            <a:r>
              <a:rPr sz="1050" b="0" i="0">
                <a:solidFill>
                  <a:srgbClr val="595959"/>
                </a:solidFill>
                <a:latin typeface="Calibri"/>
                <a:cs typeface="Calibri"/>
              </a:rPr>
              <a:t>140 to 190</a:t>
            </a:r>
          </a:p>
        </p:txBody>
      </p:sp>
      <p:sp>
        <p:nvSpPr>
          <p:cNvPr id="28" name="TextBox 27"/>
          <p:cNvSpPr txBox="1"/>
          <p:nvPr/>
        </p:nvSpPr>
        <p:spPr>
          <a:xfrm>
            <a:off x="3840479" y="2706624"/>
            <a:ext cx="3291840" cy="457200"/>
          </a:xfrm>
          <a:prstGeom prst="rect">
            <a:avLst/>
          </a:prstGeom>
          <a:noFill/>
        </p:spPr>
        <p:txBody>
          <a:bodyPr wrap="square" lIns="0" rIns="0" tIns="0" bIns="0" anchor="ctr">
            <a:spAutoFit/>
          </a:bodyPr>
          <a:lstStyle/>
          <a:p>
            <a:pPr algn="l"/>
            <a:r>
              <a:rPr sz="1050" b="0" i="0">
                <a:solidFill>
                  <a:srgbClr val="595959"/>
                </a:solidFill>
                <a:latin typeface="Calibri"/>
                <a:cs typeface="Calibri"/>
              </a:rPr>
              <a:t>What working with the Node is like, from the SLA services only</a:t>
            </a:r>
          </a:p>
        </p:txBody>
      </p:sp>
      <p:sp>
        <p:nvSpPr>
          <p:cNvPr id="29" name="Rounded Rectangle 28"/>
          <p:cNvSpPr/>
          <p:nvPr/>
        </p:nvSpPr>
        <p:spPr>
          <a:xfrm>
            <a:off x="7269479" y="2807208"/>
            <a:ext cx="1371600" cy="256032"/>
          </a:xfrm>
          <a:prstGeom prst="roundRect">
            <a:avLst>
              <a:gd name="adj" fmla="val 17857"/>
            </a:avLst>
          </a:prstGeom>
          <a:solidFill>
            <a:srgbClr val="E8F0FE"/>
          </a:solidFill>
          <a:ln>
            <a:noFill/>
          </a:ln>
          <a:effectLst/>
        </p:spPr>
        <p:txBody>
          <a:bodyPr rtlCol="0" anchor="ctr" lIns="36576" rIns="36576"/>
          <a:lstStyle/>
          <a:p>
            <a:pPr algn="ctr"/>
          </a:p>
        </p:txBody>
      </p:sp>
      <p:sp>
        <p:nvSpPr>
          <p:cNvPr id="30" name="TextBox 29"/>
          <p:cNvSpPr txBox="1"/>
          <p:nvPr/>
        </p:nvSpPr>
        <p:spPr>
          <a:xfrm>
            <a:off x="7269479" y="2807208"/>
            <a:ext cx="1371600" cy="256032"/>
          </a:xfrm>
          <a:prstGeom prst="rect">
            <a:avLst/>
          </a:prstGeom>
          <a:noFill/>
        </p:spPr>
        <p:txBody>
          <a:bodyPr wrap="square" lIns="0" rIns="0" tIns="0" bIns="0" anchor="ctr">
            <a:spAutoFit/>
          </a:bodyPr>
          <a:lstStyle/>
          <a:p>
            <a:pPr algn="ctr"/>
            <a:r>
              <a:rPr sz="950" b="1" i="0">
                <a:solidFill>
                  <a:srgbClr val="1A73E8"/>
                </a:solidFill>
                <a:latin typeface="Calibri"/>
                <a:cs typeface="Calibri"/>
              </a:rPr>
              <a:t>service list</a:t>
            </a:r>
          </a:p>
        </p:txBody>
      </p:sp>
      <p:sp>
        <p:nvSpPr>
          <p:cNvPr id="31" name="Rectangle 30"/>
          <p:cNvSpPr/>
          <p:nvPr/>
        </p:nvSpPr>
        <p:spPr>
          <a:xfrm>
            <a:off x="457200" y="3163824"/>
            <a:ext cx="8229600" cy="5486"/>
          </a:xfrm>
          <a:prstGeom prst="rect">
            <a:avLst/>
          </a:prstGeom>
          <a:solidFill>
            <a:srgbClr val="D9D9D9"/>
          </a:solidFill>
          <a:ln>
            <a:noFill/>
          </a:ln>
          <a:effectLst/>
        </p:spPr>
        <p:txBody>
          <a:bodyPr rtlCol="0" anchor="ctr" lIns="36576" rIns="36576"/>
          <a:lstStyle/>
          <a:p>
            <a:pPr algn="ctr"/>
          </a:p>
        </p:txBody>
      </p:sp>
      <p:sp>
        <p:nvSpPr>
          <p:cNvPr id="32" name="Rectangle 31"/>
          <p:cNvSpPr/>
          <p:nvPr/>
        </p:nvSpPr>
        <p:spPr>
          <a:xfrm>
            <a:off x="457200" y="3236976"/>
            <a:ext cx="73152" cy="310896"/>
          </a:xfrm>
          <a:prstGeom prst="rect">
            <a:avLst/>
          </a:prstGeom>
          <a:solidFill>
            <a:srgbClr val="6A4C93"/>
          </a:solidFill>
          <a:ln>
            <a:noFill/>
          </a:ln>
          <a:effectLst/>
        </p:spPr>
        <p:txBody>
          <a:bodyPr rtlCol="0" anchor="ctr" lIns="36576" rIns="36576"/>
          <a:lstStyle/>
          <a:p>
            <a:pPr algn="ctr"/>
          </a:p>
        </p:txBody>
      </p:sp>
      <p:sp>
        <p:nvSpPr>
          <p:cNvPr id="33" name="TextBox 32"/>
          <p:cNvSpPr txBox="1"/>
          <p:nvPr/>
        </p:nvSpPr>
        <p:spPr>
          <a:xfrm>
            <a:off x="621792" y="3163824"/>
            <a:ext cx="2148839" cy="457200"/>
          </a:xfrm>
          <a:prstGeom prst="rect">
            <a:avLst/>
          </a:prstGeom>
          <a:noFill/>
        </p:spPr>
        <p:txBody>
          <a:bodyPr wrap="square" lIns="0" rIns="0" tIns="0" bIns="0" anchor="ctr">
            <a:spAutoFit/>
          </a:bodyPr>
          <a:lstStyle/>
          <a:p>
            <a:pPr algn="l"/>
            <a:r>
              <a:rPr sz="1150" b="1" i="0">
                <a:solidFill>
                  <a:srgbClr val="1D1D1B"/>
                </a:solidFill>
                <a:latin typeface="Calibri"/>
                <a:cs typeface="Calibri"/>
              </a:rPr>
              <a:t>Facilities</a:t>
            </a:r>
          </a:p>
        </p:txBody>
      </p:sp>
      <p:sp>
        <p:nvSpPr>
          <p:cNvPr id="34" name="TextBox 33"/>
          <p:cNvSpPr txBox="1"/>
          <p:nvPr/>
        </p:nvSpPr>
        <p:spPr>
          <a:xfrm>
            <a:off x="2788920" y="3163824"/>
            <a:ext cx="1051560" cy="457200"/>
          </a:xfrm>
          <a:prstGeom prst="rect">
            <a:avLst/>
          </a:prstGeom>
          <a:noFill/>
        </p:spPr>
        <p:txBody>
          <a:bodyPr wrap="square" lIns="0" rIns="0" tIns="0" bIns="0" anchor="ctr">
            <a:spAutoFit/>
          </a:bodyPr>
          <a:lstStyle/>
          <a:p>
            <a:pPr algn="l"/>
            <a:r>
              <a:rPr sz="1050" b="0" i="0">
                <a:solidFill>
                  <a:srgbClr val="595959"/>
                </a:solidFill>
                <a:latin typeface="Calibri"/>
                <a:cs typeface="Calibri"/>
              </a:rPr>
              <a:t>180 to 240</a:t>
            </a:r>
          </a:p>
        </p:txBody>
      </p:sp>
      <p:sp>
        <p:nvSpPr>
          <p:cNvPr id="35" name="TextBox 34"/>
          <p:cNvSpPr txBox="1"/>
          <p:nvPr/>
        </p:nvSpPr>
        <p:spPr>
          <a:xfrm>
            <a:off x="3840479" y="3163824"/>
            <a:ext cx="3291840" cy="457200"/>
          </a:xfrm>
          <a:prstGeom prst="rect">
            <a:avLst/>
          </a:prstGeom>
          <a:noFill/>
        </p:spPr>
        <p:txBody>
          <a:bodyPr wrap="square" lIns="0" rIns="0" tIns="0" bIns="0" anchor="ctr">
            <a:spAutoFit/>
          </a:bodyPr>
          <a:lstStyle/>
          <a:p>
            <a:pPr algn="l"/>
            <a:r>
              <a:rPr sz="1050" b="0" i="0">
                <a:solidFill>
                  <a:srgbClr val="595959"/>
                </a:solidFill>
                <a:latin typeface="Calibri"/>
                <a:cs typeface="Calibri"/>
              </a:rPr>
              <a:t>What each facility does, grouped by type of work</a:t>
            </a:r>
          </a:p>
        </p:txBody>
      </p:sp>
      <p:sp>
        <p:nvSpPr>
          <p:cNvPr id="36" name="Rounded Rectangle 35"/>
          <p:cNvSpPr/>
          <p:nvPr/>
        </p:nvSpPr>
        <p:spPr>
          <a:xfrm>
            <a:off x="7269479" y="3264408"/>
            <a:ext cx="1371600" cy="256032"/>
          </a:xfrm>
          <a:prstGeom prst="roundRect">
            <a:avLst>
              <a:gd name="adj" fmla="val 17857"/>
            </a:avLst>
          </a:prstGeom>
          <a:solidFill>
            <a:srgbClr val="E8F0FE"/>
          </a:solidFill>
          <a:ln>
            <a:noFill/>
          </a:ln>
          <a:effectLst/>
        </p:spPr>
        <p:txBody>
          <a:bodyPr rtlCol="0" anchor="ctr" lIns="36576" rIns="36576"/>
          <a:lstStyle/>
          <a:p>
            <a:pPr algn="ctr"/>
          </a:p>
        </p:txBody>
      </p:sp>
      <p:sp>
        <p:nvSpPr>
          <p:cNvPr id="37" name="TextBox 36"/>
          <p:cNvSpPr txBox="1"/>
          <p:nvPr/>
        </p:nvSpPr>
        <p:spPr>
          <a:xfrm>
            <a:off x="7269479" y="3264408"/>
            <a:ext cx="1371600" cy="256032"/>
          </a:xfrm>
          <a:prstGeom prst="rect">
            <a:avLst/>
          </a:prstGeom>
          <a:noFill/>
        </p:spPr>
        <p:txBody>
          <a:bodyPr wrap="square" lIns="0" rIns="0" tIns="0" bIns="0" anchor="ctr">
            <a:spAutoFit/>
          </a:bodyPr>
          <a:lstStyle/>
          <a:p>
            <a:pPr algn="ctr"/>
            <a:r>
              <a:rPr sz="950" b="1" i="0">
                <a:solidFill>
                  <a:srgbClr val="1A73E8"/>
                </a:solidFill>
                <a:latin typeface="Calibri"/>
                <a:cs typeface="Calibri"/>
              </a:rPr>
              <a:t>facility table</a:t>
            </a:r>
          </a:p>
        </p:txBody>
      </p:sp>
      <p:sp>
        <p:nvSpPr>
          <p:cNvPr id="38" name="Rectangle 37"/>
          <p:cNvSpPr/>
          <p:nvPr/>
        </p:nvSpPr>
        <p:spPr>
          <a:xfrm>
            <a:off x="457200" y="3621024"/>
            <a:ext cx="8229600" cy="5486"/>
          </a:xfrm>
          <a:prstGeom prst="rect">
            <a:avLst/>
          </a:prstGeom>
          <a:solidFill>
            <a:srgbClr val="D9D9D9"/>
          </a:solidFill>
          <a:ln>
            <a:noFill/>
          </a:ln>
          <a:effectLst/>
        </p:spPr>
        <p:txBody>
          <a:bodyPr rtlCol="0" anchor="ctr" lIns="36576" rIns="36576"/>
          <a:lstStyle/>
          <a:p>
            <a:pPr algn="ctr"/>
          </a:p>
        </p:txBody>
      </p:sp>
      <p:sp>
        <p:nvSpPr>
          <p:cNvPr id="39" name="Rectangle 38"/>
          <p:cNvSpPr/>
          <p:nvPr/>
        </p:nvSpPr>
        <p:spPr>
          <a:xfrm>
            <a:off x="457200" y="3694176"/>
            <a:ext cx="73152" cy="310896"/>
          </a:xfrm>
          <a:prstGeom prst="rect">
            <a:avLst/>
          </a:prstGeom>
          <a:solidFill>
            <a:srgbClr val="1A73E8"/>
          </a:solidFill>
          <a:ln>
            <a:noFill/>
          </a:ln>
          <a:effectLst/>
        </p:spPr>
        <p:txBody>
          <a:bodyPr rtlCol="0" anchor="ctr" lIns="36576" rIns="36576"/>
          <a:lstStyle/>
          <a:p>
            <a:pPr algn="ctr"/>
          </a:p>
        </p:txBody>
      </p:sp>
      <p:sp>
        <p:nvSpPr>
          <p:cNvPr id="40" name="TextBox 39"/>
          <p:cNvSpPr txBox="1"/>
          <p:nvPr/>
        </p:nvSpPr>
        <p:spPr>
          <a:xfrm>
            <a:off x="621792" y="3621024"/>
            <a:ext cx="2148839" cy="457200"/>
          </a:xfrm>
          <a:prstGeom prst="rect">
            <a:avLst/>
          </a:prstGeom>
          <a:noFill/>
        </p:spPr>
        <p:txBody>
          <a:bodyPr wrap="square" lIns="0" rIns="0" tIns="0" bIns="0" anchor="ctr">
            <a:spAutoFit/>
          </a:bodyPr>
          <a:lstStyle/>
          <a:p>
            <a:pPr algn="l"/>
            <a:r>
              <a:rPr sz="1150" b="1" i="0">
                <a:solidFill>
                  <a:srgbClr val="1D1D1B"/>
                </a:solidFill>
                <a:latin typeface="Calibri"/>
                <a:cs typeface="Calibri"/>
              </a:rPr>
              <a:t>Access and contact</a:t>
            </a:r>
          </a:p>
        </p:txBody>
      </p:sp>
      <p:sp>
        <p:nvSpPr>
          <p:cNvPr id="41" name="TextBox 40"/>
          <p:cNvSpPr txBox="1"/>
          <p:nvPr/>
        </p:nvSpPr>
        <p:spPr>
          <a:xfrm>
            <a:off x="2788920" y="3621024"/>
            <a:ext cx="1051560" cy="457200"/>
          </a:xfrm>
          <a:prstGeom prst="rect">
            <a:avLst/>
          </a:prstGeom>
          <a:noFill/>
        </p:spPr>
        <p:txBody>
          <a:bodyPr wrap="square" lIns="0" rIns="0" tIns="0" bIns="0" anchor="ctr">
            <a:spAutoFit/>
          </a:bodyPr>
          <a:lstStyle/>
          <a:p>
            <a:pPr algn="l"/>
            <a:r>
              <a:rPr sz="1050" b="0" i="0">
                <a:solidFill>
                  <a:srgbClr val="595959"/>
                </a:solidFill>
                <a:latin typeface="Calibri"/>
                <a:cs typeface="Calibri"/>
              </a:rPr>
              <a:t>no AI text</a:t>
            </a:r>
          </a:p>
        </p:txBody>
      </p:sp>
      <p:sp>
        <p:nvSpPr>
          <p:cNvPr id="42" name="TextBox 41"/>
          <p:cNvSpPr txBox="1"/>
          <p:nvPr/>
        </p:nvSpPr>
        <p:spPr>
          <a:xfrm>
            <a:off x="3840479" y="3621024"/>
            <a:ext cx="3291840" cy="457200"/>
          </a:xfrm>
          <a:prstGeom prst="rect">
            <a:avLst/>
          </a:prstGeom>
          <a:noFill/>
        </p:spPr>
        <p:txBody>
          <a:bodyPr wrap="square" lIns="0" rIns="0" tIns="0" bIns="0" anchor="ctr">
            <a:spAutoFit/>
          </a:bodyPr>
          <a:lstStyle/>
          <a:p>
            <a:pPr algn="l"/>
            <a:r>
              <a:rPr sz="1050" b="0" i="0">
                <a:solidFill>
                  <a:srgbClr val="595959"/>
                </a:solidFill>
                <a:latin typeface="Calibri"/>
                <a:cs typeface="Calibri"/>
              </a:rPr>
              <a:t>Node contact, website, Access Portal link, facility addresses</a:t>
            </a:r>
          </a:p>
        </p:txBody>
      </p:sp>
      <p:sp>
        <p:nvSpPr>
          <p:cNvPr id="43" name="Rounded Rectangle 42"/>
          <p:cNvSpPr/>
          <p:nvPr/>
        </p:nvSpPr>
        <p:spPr>
          <a:xfrm>
            <a:off x="7269479" y="3721608"/>
            <a:ext cx="1371600" cy="256032"/>
          </a:xfrm>
          <a:prstGeom prst="roundRect">
            <a:avLst>
              <a:gd name="adj" fmla="val 17857"/>
            </a:avLst>
          </a:prstGeom>
          <a:solidFill>
            <a:srgbClr val="E8F0FE"/>
          </a:solidFill>
          <a:ln>
            <a:noFill/>
          </a:ln>
          <a:effectLst/>
        </p:spPr>
        <p:txBody>
          <a:bodyPr rtlCol="0" anchor="ctr" lIns="36576" rIns="36576"/>
          <a:lstStyle/>
          <a:p>
            <a:pPr algn="ctr"/>
          </a:p>
        </p:txBody>
      </p:sp>
      <p:sp>
        <p:nvSpPr>
          <p:cNvPr id="44" name="TextBox 43"/>
          <p:cNvSpPr txBox="1"/>
          <p:nvPr/>
        </p:nvSpPr>
        <p:spPr>
          <a:xfrm>
            <a:off x="7269479" y="3721608"/>
            <a:ext cx="1371600" cy="256032"/>
          </a:xfrm>
          <a:prstGeom prst="rect">
            <a:avLst/>
          </a:prstGeom>
          <a:noFill/>
        </p:spPr>
        <p:txBody>
          <a:bodyPr wrap="square" lIns="0" rIns="0" tIns="0" bIns="0" anchor="ctr">
            <a:spAutoFit/>
          </a:bodyPr>
          <a:lstStyle/>
          <a:p>
            <a:pPr algn="ctr"/>
            <a:r>
              <a:rPr sz="950" b="1" i="0">
                <a:solidFill>
                  <a:srgbClr val="1A73E8"/>
                </a:solidFill>
                <a:latin typeface="Calibri"/>
                <a:cs typeface="Calibri"/>
              </a:rPr>
              <a:t>contact block</a:t>
            </a:r>
          </a:p>
        </p:txBody>
      </p:sp>
      <p:sp>
        <p:nvSpPr>
          <p:cNvPr id="45" name="Rectangle 44"/>
          <p:cNvSpPr/>
          <p:nvPr/>
        </p:nvSpPr>
        <p:spPr>
          <a:xfrm>
            <a:off x="457200" y="4078224"/>
            <a:ext cx="8229600" cy="5486"/>
          </a:xfrm>
          <a:prstGeom prst="rect">
            <a:avLst/>
          </a:prstGeom>
          <a:solidFill>
            <a:srgbClr val="D9D9D9"/>
          </a:solidFill>
          <a:ln>
            <a:noFill/>
          </a:ln>
          <a:effectLst/>
        </p:spPr>
        <p:txBody>
          <a:bodyPr rtlCol="0" anchor="ctr" lIns="36576" rIns="36576"/>
          <a:lstStyle/>
          <a:p>
            <a:pPr algn="ctr"/>
          </a:p>
        </p:txBody>
      </p:sp>
      <p:sp>
        <p:nvSpPr>
          <p:cNvPr id="46" name="Rectangle 45"/>
          <p:cNvSpPr/>
          <p:nvPr/>
        </p:nvSpPr>
        <p:spPr>
          <a:xfrm>
            <a:off x="457200" y="4206240"/>
            <a:ext cx="109728" cy="109728"/>
          </a:xfrm>
          <a:prstGeom prst="rect">
            <a:avLst/>
          </a:prstGeom>
          <a:solidFill>
            <a:srgbClr val="6A4C93"/>
          </a:solidFill>
          <a:ln>
            <a:noFill/>
          </a:ln>
          <a:effectLst/>
        </p:spPr>
        <p:txBody>
          <a:bodyPr rtlCol="0" anchor="ctr" lIns="36576" rIns="36576"/>
          <a:lstStyle/>
          <a:p>
            <a:pPr algn="ctr"/>
          </a:p>
        </p:txBody>
      </p:sp>
      <p:sp>
        <p:nvSpPr>
          <p:cNvPr id="47" name="TextBox 46"/>
          <p:cNvSpPr txBox="1"/>
          <p:nvPr/>
        </p:nvSpPr>
        <p:spPr>
          <a:xfrm>
            <a:off x="640080" y="4133087"/>
            <a:ext cx="2286000" cy="256032"/>
          </a:xfrm>
          <a:prstGeom prst="rect">
            <a:avLst/>
          </a:prstGeom>
          <a:noFill/>
        </p:spPr>
        <p:txBody>
          <a:bodyPr wrap="square" lIns="0" rIns="0" tIns="0" bIns="0" anchor="ctr">
            <a:spAutoFit/>
          </a:bodyPr>
          <a:lstStyle/>
          <a:p>
            <a:pPr algn="l"/>
            <a:r>
              <a:rPr sz="1000" b="0" i="0">
                <a:solidFill>
                  <a:srgbClr val="595959"/>
                </a:solidFill>
                <a:latin typeface="Calibri"/>
                <a:cs typeface="Calibri"/>
              </a:rPr>
              <a:t>written by the AI</a:t>
            </a:r>
          </a:p>
        </p:txBody>
      </p:sp>
      <p:sp>
        <p:nvSpPr>
          <p:cNvPr id="48" name="Rectangle 47"/>
          <p:cNvSpPr/>
          <p:nvPr/>
        </p:nvSpPr>
        <p:spPr>
          <a:xfrm>
            <a:off x="2286000" y="4206240"/>
            <a:ext cx="109728" cy="109728"/>
          </a:xfrm>
          <a:prstGeom prst="rect">
            <a:avLst/>
          </a:prstGeom>
          <a:solidFill>
            <a:srgbClr val="1A73E8"/>
          </a:solidFill>
          <a:ln>
            <a:noFill/>
          </a:ln>
          <a:effectLst/>
        </p:spPr>
        <p:txBody>
          <a:bodyPr rtlCol="0" anchor="ctr" lIns="36576" rIns="36576"/>
          <a:lstStyle/>
          <a:p>
            <a:pPr algn="ctr"/>
          </a:p>
        </p:txBody>
      </p:sp>
      <p:sp>
        <p:nvSpPr>
          <p:cNvPr id="49" name="TextBox 48"/>
          <p:cNvSpPr txBox="1"/>
          <p:nvPr/>
        </p:nvSpPr>
        <p:spPr>
          <a:xfrm>
            <a:off x="2468880" y="4133087"/>
            <a:ext cx="2286000" cy="256032"/>
          </a:xfrm>
          <a:prstGeom prst="rect">
            <a:avLst/>
          </a:prstGeom>
          <a:noFill/>
        </p:spPr>
        <p:txBody>
          <a:bodyPr wrap="square" lIns="0" rIns="0" tIns="0" bIns="0" anchor="ctr">
            <a:spAutoFit/>
          </a:bodyPr>
          <a:lstStyle/>
          <a:p>
            <a:pPr algn="l"/>
            <a:r>
              <a:rPr sz="1000" b="0" i="0">
                <a:solidFill>
                  <a:srgbClr val="595959"/>
                </a:solidFill>
                <a:latin typeface="Calibri"/>
                <a:cs typeface="Calibri"/>
              </a:rPr>
              <a:t>built by code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n8n workflow: Quality control</a:t>
            </a:r>
          </a:p>
        </p:txBody>
      </p:sp>
      <p:sp>
        <p:nvSpPr>
          <p:cNvPr id="3" name="Rounded Rectangle 2"/>
          <p:cNvSpPr/>
          <p:nvPr/>
        </p:nvSpPr>
        <p:spPr>
          <a:xfrm>
            <a:off x="457200" y="868680"/>
            <a:ext cx="1817370" cy="502920"/>
          </a:xfrm>
          <a:prstGeom prst="roundRect">
            <a:avLst>
              <a:gd name="adj" fmla="val 14545"/>
            </a:avLst>
          </a:prstGeom>
          <a:solidFill>
            <a:srgbClr val="FFFFFF"/>
          </a:solidFill>
          <a:ln w="22225">
            <a:solidFill>
              <a:srgbClr val="6A4C93"/>
            </a:solidFill>
          </a:ln>
          <a:effectLst/>
        </p:spPr>
        <p:txBody>
          <a:bodyPr rtlCol="0" anchor="ctr" lIns="36576" rIns="36576"/>
          <a:lstStyle/>
          <a:p>
            <a:pPr algn="ctr"/>
          </a:p>
        </p:txBody>
      </p:sp>
      <p:pic>
        <p:nvPicPr>
          <p:cNvPr id="4" name="Picture 3" descr="robot_brand.png"/>
          <p:cNvPicPr>
            <a:picLocks noChangeAspect="1"/>
          </p:cNvPicPr>
          <p:nvPr/>
        </p:nvPicPr>
        <p:blipFill>
          <a:blip r:embed="rId3"/>
          <a:stretch>
            <a:fillRect/>
          </a:stretch>
        </p:blipFill>
        <p:spPr>
          <a:xfrm>
            <a:off x="566928" y="978408"/>
            <a:ext cx="274320" cy="274320"/>
          </a:xfrm>
          <a:prstGeom prst="rect">
            <a:avLst/>
          </a:prstGeom>
        </p:spPr>
      </p:pic>
      <p:sp>
        <p:nvSpPr>
          <p:cNvPr id="5" name="TextBox 4"/>
          <p:cNvSpPr txBox="1"/>
          <p:nvPr/>
        </p:nvSpPr>
        <p:spPr>
          <a:xfrm>
            <a:off x="914400" y="868680"/>
            <a:ext cx="1314450" cy="502920"/>
          </a:xfrm>
          <a:prstGeom prst="rect">
            <a:avLst/>
          </a:prstGeom>
          <a:noFill/>
        </p:spPr>
        <p:txBody>
          <a:bodyPr wrap="square" lIns="0" rIns="0" tIns="0" bIns="0" anchor="ctr">
            <a:spAutoFit/>
          </a:bodyPr>
          <a:lstStyle/>
          <a:p>
            <a:pPr algn="l"/>
            <a:r>
              <a:rPr sz="1050" b="1" i="0">
                <a:solidFill>
                  <a:srgbClr val="1D1D1B"/>
                </a:solidFill>
                <a:latin typeface="Calibri"/>
                <a:cs typeface="Calibri"/>
              </a:rPr>
              <a:t>AI Node Writer</a:t>
            </a:r>
          </a:p>
        </p:txBody>
      </p:sp>
      <p:cxnSp>
        <p:nvCxnSpPr>
          <p:cNvPr id="6" name="Connector 5"/>
          <p:cNvCxnSpPr/>
          <p:nvPr/>
        </p:nvCxnSpPr>
        <p:spPr>
          <a:xfrm>
            <a:off x="2302001" y="1115568"/>
            <a:ext cx="265176" cy="0"/>
          </a:xfrm>
          <a:prstGeom prst="line">
            <a:avLst/>
          </a:prstGeom>
          <a:ln w="1905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594610" y="868680"/>
            <a:ext cx="1817370" cy="502920"/>
          </a:xfrm>
          <a:prstGeom prst="roundRect">
            <a:avLst>
              <a:gd name="adj" fmla="val 14545"/>
            </a:avLst>
          </a:prstGeom>
          <a:solidFill>
            <a:srgbClr val="FFFFFF"/>
          </a:solidFill>
          <a:ln w="22225">
            <a:solidFill>
              <a:srgbClr val="E8710A"/>
            </a:solidFill>
          </a:ln>
          <a:effectLst/>
        </p:spPr>
        <p:txBody>
          <a:bodyPr rtlCol="0" anchor="ctr" lIns="36576" rIns="36576"/>
          <a:lstStyle/>
          <a:p>
            <a:pPr algn="ctr"/>
          </a:p>
        </p:txBody>
      </p:sp>
      <p:pic>
        <p:nvPicPr>
          <p:cNvPr id="8" name="Picture 7" descr="code_brand.png"/>
          <p:cNvPicPr>
            <a:picLocks noChangeAspect="1"/>
          </p:cNvPicPr>
          <p:nvPr/>
        </p:nvPicPr>
        <p:blipFill>
          <a:blip r:embed="rId4"/>
          <a:stretch>
            <a:fillRect/>
          </a:stretch>
        </p:blipFill>
        <p:spPr>
          <a:xfrm>
            <a:off x="2704338" y="978408"/>
            <a:ext cx="274320" cy="274320"/>
          </a:xfrm>
          <a:prstGeom prst="rect">
            <a:avLst/>
          </a:prstGeom>
        </p:spPr>
      </p:pic>
      <p:sp>
        <p:nvSpPr>
          <p:cNvPr id="9" name="TextBox 8"/>
          <p:cNvSpPr txBox="1"/>
          <p:nvPr/>
        </p:nvSpPr>
        <p:spPr>
          <a:xfrm>
            <a:off x="3051810" y="868680"/>
            <a:ext cx="1314450" cy="502920"/>
          </a:xfrm>
          <a:prstGeom prst="rect">
            <a:avLst/>
          </a:prstGeom>
          <a:noFill/>
        </p:spPr>
        <p:txBody>
          <a:bodyPr wrap="square" lIns="0" rIns="0" tIns="0" bIns="0" anchor="ctr">
            <a:spAutoFit/>
          </a:bodyPr>
          <a:lstStyle/>
          <a:p>
            <a:pPr algn="l"/>
            <a:r>
              <a:rPr sz="1050" b="1" i="0">
                <a:solidFill>
                  <a:srgbClr val="1D1D1B"/>
                </a:solidFill>
                <a:latin typeface="Calibri"/>
                <a:cs typeface="Calibri"/>
              </a:rPr>
              <a:t>Clean and explode sections</a:t>
            </a:r>
          </a:p>
        </p:txBody>
      </p:sp>
      <p:cxnSp>
        <p:nvCxnSpPr>
          <p:cNvPr id="10" name="Connector 9"/>
          <p:cNvCxnSpPr/>
          <p:nvPr/>
        </p:nvCxnSpPr>
        <p:spPr>
          <a:xfrm>
            <a:off x="4439412" y="1115568"/>
            <a:ext cx="265176" cy="0"/>
          </a:xfrm>
          <a:prstGeom prst="line">
            <a:avLst/>
          </a:prstGeom>
          <a:ln w="1905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732020" y="868680"/>
            <a:ext cx="1817370" cy="502920"/>
          </a:xfrm>
          <a:prstGeom prst="roundRect">
            <a:avLst>
              <a:gd name="adj" fmla="val 14545"/>
            </a:avLst>
          </a:prstGeom>
          <a:solidFill>
            <a:srgbClr val="FFFFFF"/>
          </a:solidFill>
          <a:ln w="22225">
            <a:solidFill>
              <a:srgbClr val="E8710A"/>
            </a:solidFill>
          </a:ln>
          <a:effectLst/>
        </p:spPr>
        <p:txBody>
          <a:bodyPr rtlCol="0" anchor="ctr" lIns="36576" rIns="36576"/>
          <a:lstStyle/>
          <a:p>
            <a:pPr algn="ctr"/>
          </a:p>
        </p:txBody>
      </p:sp>
      <p:pic>
        <p:nvPicPr>
          <p:cNvPr id="12" name="Picture 11" descr="code_brand.png"/>
          <p:cNvPicPr>
            <a:picLocks noChangeAspect="1"/>
          </p:cNvPicPr>
          <p:nvPr/>
        </p:nvPicPr>
        <p:blipFill>
          <a:blip r:embed="rId4"/>
          <a:stretch>
            <a:fillRect/>
          </a:stretch>
        </p:blipFill>
        <p:spPr>
          <a:xfrm>
            <a:off x="4841748" y="978408"/>
            <a:ext cx="274320" cy="274320"/>
          </a:xfrm>
          <a:prstGeom prst="rect">
            <a:avLst/>
          </a:prstGeom>
        </p:spPr>
      </p:pic>
      <p:sp>
        <p:nvSpPr>
          <p:cNvPr id="13" name="TextBox 12"/>
          <p:cNvSpPr txBox="1"/>
          <p:nvPr/>
        </p:nvSpPr>
        <p:spPr>
          <a:xfrm>
            <a:off x="5189220" y="868680"/>
            <a:ext cx="1314450" cy="502920"/>
          </a:xfrm>
          <a:prstGeom prst="rect">
            <a:avLst/>
          </a:prstGeom>
          <a:noFill/>
        </p:spPr>
        <p:txBody>
          <a:bodyPr wrap="square" lIns="0" rIns="0" tIns="0" bIns="0" anchor="ctr">
            <a:spAutoFit/>
          </a:bodyPr>
          <a:lstStyle/>
          <a:p>
            <a:pPr algn="l"/>
            <a:r>
              <a:rPr sz="1050" b="1" i="0">
                <a:solidFill>
                  <a:srgbClr val="1D1D1B"/>
                </a:solidFill>
                <a:latin typeface="Calibri"/>
                <a:cs typeface="Calibri"/>
              </a:rPr>
              <a:t>Render node page</a:t>
            </a:r>
          </a:p>
        </p:txBody>
      </p:sp>
      <p:cxnSp>
        <p:nvCxnSpPr>
          <p:cNvPr id="14" name="Connector 13"/>
          <p:cNvCxnSpPr/>
          <p:nvPr/>
        </p:nvCxnSpPr>
        <p:spPr>
          <a:xfrm>
            <a:off x="6576822" y="1115568"/>
            <a:ext cx="265176" cy="0"/>
          </a:xfrm>
          <a:prstGeom prst="line">
            <a:avLst/>
          </a:prstGeom>
          <a:ln w="1905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869429" y="868680"/>
            <a:ext cx="1817370" cy="502920"/>
          </a:xfrm>
          <a:prstGeom prst="roundRect">
            <a:avLst>
              <a:gd name="adj" fmla="val 14545"/>
            </a:avLst>
          </a:prstGeom>
          <a:solidFill>
            <a:srgbClr val="FFFFFF"/>
          </a:solidFill>
          <a:ln w="22225">
            <a:solidFill>
              <a:srgbClr val="009B3C"/>
            </a:solidFill>
          </a:ln>
          <a:effectLst/>
        </p:spPr>
        <p:txBody>
          <a:bodyPr rtlCol="0" anchor="ctr" lIns="36576" rIns="36576"/>
          <a:lstStyle/>
          <a:p>
            <a:pPr algn="ctr"/>
          </a:p>
        </p:txBody>
      </p:sp>
      <p:pic>
        <p:nvPicPr>
          <p:cNvPr id="16" name="Picture 15" descr="page_brand.png"/>
          <p:cNvPicPr>
            <a:picLocks noChangeAspect="1"/>
          </p:cNvPicPr>
          <p:nvPr/>
        </p:nvPicPr>
        <p:blipFill>
          <a:blip r:embed="rId5"/>
          <a:stretch>
            <a:fillRect/>
          </a:stretch>
        </p:blipFill>
        <p:spPr>
          <a:xfrm>
            <a:off x="6979157" y="978408"/>
            <a:ext cx="274320" cy="274320"/>
          </a:xfrm>
          <a:prstGeom prst="rect">
            <a:avLst/>
          </a:prstGeom>
        </p:spPr>
      </p:pic>
      <p:sp>
        <p:nvSpPr>
          <p:cNvPr id="17" name="TextBox 16"/>
          <p:cNvSpPr txBox="1"/>
          <p:nvPr/>
        </p:nvSpPr>
        <p:spPr>
          <a:xfrm>
            <a:off x="7326629" y="868680"/>
            <a:ext cx="1314450" cy="502920"/>
          </a:xfrm>
          <a:prstGeom prst="rect">
            <a:avLst/>
          </a:prstGeom>
          <a:noFill/>
        </p:spPr>
        <p:txBody>
          <a:bodyPr wrap="square" lIns="0" rIns="0" tIns="0" bIns="0" anchor="ctr">
            <a:spAutoFit/>
          </a:bodyPr>
          <a:lstStyle/>
          <a:p>
            <a:pPr algn="l"/>
            <a:r>
              <a:rPr sz="1050" b="1" i="0">
                <a:solidFill>
                  <a:srgbClr val="1D1D1B"/>
                </a:solidFill>
                <a:latin typeface="Calibri"/>
                <a:cs typeface="Calibri"/>
              </a:rPr>
              <a:t>Node page (.md)</a:t>
            </a:r>
          </a:p>
        </p:txBody>
      </p:sp>
      <p:sp>
        <p:nvSpPr>
          <p:cNvPr id="18" name="Rounded Rectangle 17"/>
          <p:cNvSpPr/>
          <p:nvPr/>
        </p:nvSpPr>
        <p:spPr>
          <a:xfrm>
            <a:off x="457200" y="1600200"/>
            <a:ext cx="2590800" cy="2606040"/>
          </a:xfrm>
          <a:prstGeom prst="roundRect">
            <a:avLst>
              <a:gd name="adj" fmla="val 2823"/>
            </a:avLst>
          </a:prstGeom>
          <a:solidFill>
            <a:srgbClr val="FBEAEA"/>
          </a:solidFill>
          <a:ln>
            <a:noFill/>
          </a:ln>
          <a:effectLst/>
        </p:spPr>
        <p:txBody>
          <a:bodyPr rtlCol="0" anchor="ctr" lIns="36576" rIns="36576"/>
          <a:lstStyle/>
          <a:p>
            <a:pPr algn="ctr"/>
          </a:p>
        </p:txBody>
      </p:sp>
      <p:sp>
        <p:nvSpPr>
          <p:cNvPr id="19" name="TextBox 18"/>
          <p:cNvSpPr txBox="1"/>
          <p:nvPr/>
        </p:nvSpPr>
        <p:spPr>
          <a:xfrm>
            <a:off x="640080" y="1691640"/>
            <a:ext cx="2225040" cy="329184"/>
          </a:xfrm>
          <a:prstGeom prst="rect">
            <a:avLst/>
          </a:prstGeom>
          <a:noFill/>
        </p:spPr>
        <p:txBody>
          <a:bodyPr wrap="square" lIns="0" rIns="0" tIns="0" bIns="0" anchor="ctr">
            <a:spAutoFit/>
          </a:bodyPr>
          <a:lstStyle/>
          <a:p>
            <a:pPr algn="l"/>
            <a:r>
              <a:rPr sz="1300" b="1" i="0">
                <a:solidFill>
                  <a:srgbClr val="B03A2E"/>
                </a:solidFill>
                <a:latin typeface="Source Sans Pro"/>
                <a:cs typeface="Source Sans Pro"/>
              </a:rPr>
              <a:t>Clean: stops the run</a:t>
            </a:r>
          </a:p>
        </p:txBody>
      </p:sp>
      <p:sp>
        <p:nvSpPr>
          <p:cNvPr id="20" name="Oval 19"/>
          <p:cNvSpPr/>
          <p:nvPr/>
        </p:nvSpPr>
        <p:spPr>
          <a:xfrm>
            <a:off x="640080" y="2212848"/>
            <a:ext cx="91440" cy="91440"/>
          </a:xfrm>
          <a:prstGeom prst="ellipse">
            <a:avLst/>
          </a:prstGeom>
          <a:solidFill>
            <a:srgbClr val="B03A2E"/>
          </a:solidFill>
          <a:ln>
            <a:noFill/>
          </a:ln>
          <a:effectLst/>
        </p:spPr>
        <p:txBody>
          <a:bodyPr rtlCol="0" anchor="ctr" lIns="36576" rIns="36576"/>
          <a:lstStyle/>
          <a:p>
            <a:pPr algn="ctr"/>
          </a:p>
        </p:txBody>
      </p:sp>
      <p:sp>
        <p:nvSpPr>
          <p:cNvPr id="21" name="TextBox 20"/>
          <p:cNvSpPr txBox="1"/>
          <p:nvPr/>
        </p:nvSpPr>
        <p:spPr>
          <a:xfrm>
            <a:off x="822960" y="2103120"/>
            <a:ext cx="2087880" cy="502920"/>
          </a:xfrm>
          <a:prstGeom prst="rect">
            <a:avLst/>
          </a:prstGeom>
          <a:noFill/>
        </p:spPr>
        <p:txBody>
          <a:bodyPr wrap="square" lIns="0" rIns="0" tIns="0" bIns="0" anchor="t">
            <a:spAutoFit/>
          </a:bodyPr>
          <a:lstStyle/>
          <a:p>
            <a:pPr algn="l"/>
            <a:r>
              <a:rPr sz="1100" b="0" i="0">
                <a:solidFill>
                  <a:srgbClr val="1D1D1B"/>
                </a:solidFill>
                <a:latin typeface="Calibri"/>
                <a:cs typeface="Calibri"/>
              </a:rPr>
              <a:t>The writer sent back nothing</a:t>
            </a:r>
          </a:p>
        </p:txBody>
      </p:sp>
      <p:sp>
        <p:nvSpPr>
          <p:cNvPr id="22" name="Oval 21"/>
          <p:cNvSpPr/>
          <p:nvPr/>
        </p:nvSpPr>
        <p:spPr>
          <a:xfrm>
            <a:off x="640080" y="2761488"/>
            <a:ext cx="91440" cy="91440"/>
          </a:xfrm>
          <a:prstGeom prst="ellipse">
            <a:avLst/>
          </a:prstGeom>
          <a:solidFill>
            <a:srgbClr val="B03A2E"/>
          </a:solidFill>
          <a:ln>
            <a:noFill/>
          </a:ln>
          <a:effectLst/>
        </p:spPr>
        <p:txBody>
          <a:bodyPr rtlCol="0" anchor="ctr" lIns="36576" rIns="36576"/>
          <a:lstStyle/>
          <a:p>
            <a:pPr algn="ctr"/>
          </a:p>
        </p:txBody>
      </p:sp>
      <p:sp>
        <p:nvSpPr>
          <p:cNvPr id="23" name="TextBox 22"/>
          <p:cNvSpPr txBox="1"/>
          <p:nvPr/>
        </p:nvSpPr>
        <p:spPr>
          <a:xfrm>
            <a:off x="822960" y="2651760"/>
            <a:ext cx="2087880" cy="502920"/>
          </a:xfrm>
          <a:prstGeom prst="rect">
            <a:avLst/>
          </a:prstGeom>
          <a:noFill/>
        </p:spPr>
        <p:txBody>
          <a:bodyPr wrap="square" lIns="0" rIns="0" tIns="0" bIns="0" anchor="t">
            <a:spAutoFit/>
          </a:bodyPr>
          <a:lstStyle/>
          <a:p>
            <a:pPr algn="l"/>
            <a:r>
              <a:rPr sz="1100" b="0" i="0">
                <a:solidFill>
                  <a:srgbClr val="1D1D1B"/>
                </a:solidFill>
                <a:latin typeface="Calibri"/>
                <a:cs typeface="Calibri"/>
              </a:rPr>
              <a:t>A section is missing or empty</a:t>
            </a:r>
          </a:p>
        </p:txBody>
      </p:sp>
      <p:sp>
        <p:nvSpPr>
          <p:cNvPr id="24" name="Oval 23"/>
          <p:cNvSpPr/>
          <p:nvPr/>
        </p:nvSpPr>
        <p:spPr>
          <a:xfrm>
            <a:off x="640080" y="3310127"/>
            <a:ext cx="91440" cy="91440"/>
          </a:xfrm>
          <a:prstGeom prst="ellipse">
            <a:avLst/>
          </a:prstGeom>
          <a:solidFill>
            <a:srgbClr val="B03A2E"/>
          </a:solidFill>
          <a:ln>
            <a:noFill/>
          </a:ln>
          <a:effectLst/>
        </p:spPr>
        <p:txBody>
          <a:bodyPr rtlCol="0" anchor="ctr" lIns="36576" rIns="36576"/>
          <a:lstStyle/>
          <a:p>
            <a:pPr algn="ctr"/>
          </a:p>
        </p:txBody>
      </p:sp>
      <p:sp>
        <p:nvSpPr>
          <p:cNvPr id="25" name="TextBox 24"/>
          <p:cNvSpPr txBox="1"/>
          <p:nvPr/>
        </p:nvSpPr>
        <p:spPr>
          <a:xfrm>
            <a:off x="822960" y="3200399"/>
            <a:ext cx="2087880" cy="502920"/>
          </a:xfrm>
          <a:prstGeom prst="rect">
            <a:avLst/>
          </a:prstGeom>
          <a:noFill/>
        </p:spPr>
        <p:txBody>
          <a:bodyPr wrap="square" lIns="0" rIns="0" tIns="0" bIns="0" anchor="t">
            <a:spAutoFit/>
          </a:bodyPr>
          <a:lstStyle/>
          <a:p>
            <a:pPr algn="l"/>
            <a:r>
              <a:rPr sz="1100" b="0" i="0">
                <a:solidFill>
                  <a:srgbClr val="1D1D1B"/>
                </a:solidFill>
                <a:latin typeface="Calibri"/>
                <a:cs typeface="Calibri"/>
              </a:rPr>
              <a:t>The text names neither this Node nor its facilities</a:t>
            </a:r>
          </a:p>
        </p:txBody>
      </p:sp>
      <p:sp>
        <p:nvSpPr>
          <p:cNvPr id="26" name="Rounded Rectangle 25"/>
          <p:cNvSpPr/>
          <p:nvPr/>
        </p:nvSpPr>
        <p:spPr>
          <a:xfrm>
            <a:off x="3276600" y="1600200"/>
            <a:ext cx="2590800" cy="2606040"/>
          </a:xfrm>
          <a:prstGeom prst="roundRect">
            <a:avLst>
              <a:gd name="adj" fmla="val 2823"/>
            </a:avLst>
          </a:prstGeom>
          <a:solidFill>
            <a:srgbClr val="FDF3E1"/>
          </a:solidFill>
          <a:ln>
            <a:noFill/>
          </a:ln>
          <a:effectLst/>
        </p:spPr>
        <p:txBody>
          <a:bodyPr rtlCol="0" anchor="ctr" lIns="36576" rIns="36576"/>
          <a:lstStyle/>
          <a:p>
            <a:pPr algn="ctr"/>
          </a:p>
        </p:txBody>
      </p:sp>
      <p:sp>
        <p:nvSpPr>
          <p:cNvPr id="27" name="TextBox 26"/>
          <p:cNvSpPr txBox="1"/>
          <p:nvPr/>
        </p:nvSpPr>
        <p:spPr>
          <a:xfrm>
            <a:off x="3459480" y="1691640"/>
            <a:ext cx="2225040" cy="329184"/>
          </a:xfrm>
          <a:prstGeom prst="rect">
            <a:avLst/>
          </a:prstGeom>
          <a:noFill/>
        </p:spPr>
        <p:txBody>
          <a:bodyPr wrap="square" lIns="0" rIns="0" tIns="0" bIns="0" anchor="ctr">
            <a:spAutoFit/>
          </a:bodyPr>
          <a:lstStyle/>
          <a:p>
            <a:pPr algn="l"/>
            <a:r>
              <a:rPr sz="1300" b="1" i="0">
                <a:solidFill>
                  <a:srgbClr val="B7791F"/>
                </a:solidFill>
                <a:latin typeface="Source Sans Pro"/>
                <a:cs typeface="Source Sans Pro"/>
              </a:rPr>
              <a:t>Clean: tidies and flags</a:t>
            </a:r>
          </a:p>
        </p:txBody>
      </p:sp>
      <p:sp>
        <p:nvSpPr>
          <p:cNvPr id="28" name="Oval 27"/>
          <p:cNvSpPr/>
          <p:nvPr/>
        </p:nvSpPr>
        <p:spPr>
          <a:xfrm>
            <a:off x="3459480" y="2212848"/>
            <a:ext cx="91440" cy="91440"/>
          </a:xfrm>
          <a:prstGeom prst="ellipse">
            <a:avLst/>
          </a:prstGeom>
          <a:solidFill>
            <a:srgbClr val="B7791F"/>
          </a:solidFill>
          <a:ln>
            <a:noFill/>
          </a:ln>
          <a:effectLst/>
        </p:spPr>
        <p:txBody>
          <a:bodyPr rtlCol="0" anchor="ctr" lIns="36576" rIns="36576"/>
          <a:lstStyle/>
          <a:p>
            <a:pPr algn="ctr"/>
          </a:p>
        </p:txBody>
      </p:sp>
      <p:sp>
        <p:nvSpPr>
          <p:cNvPr id="29" name="TextBox 28"/>
          <p:cNvSpPr txBox="1"/>
          <p:nvPr/>
        </p:nvSpPr>
        <p:spPr>
          <a:xfrm>
            <a:off x="3642360" y="2103120"/>
            <a:ext cx="2087880" cy="502920"/>
          </a:xfrm>
          <a:prstGeom prst="rect">
            <a:avLst/>
          </a:prstGeom>
          <a:noFill/>
        </p:spPr>
        <p:txBody>
          <a:bodyPr wrap="square" lIns="0" rIns="0" tIns="0" bIns="0" anchor="t">
            <a:spAutoFit/>
          </a:bodyPr>
          <a:lstStyle/>
          <a:p>
            <a:pPr algn="l"/>
            <a:r>
              <a:rPr sz="1100" b="0" i="0">
                <a:solidFill>
                  <a:srgbClr val="1D1D1B"/>
                </a:solidFill>
                <a:latin typeface="Calibri"/>
                <a:cs typeface="Calibri"/>
              </a:rPr>
              <a:t>Recounts the words in each section</a:t>
            </a:r>
          </a:p>
        </p:txBody>
      </p:sp>
      <p:sp>
        <p:nvSpPr>
          <p:cNvPr id="30" name="Oval 29"/>
          <p:cNvSpPr/>
          <p:nvPr/>
        </p:nvSpPr>
        <p:spPr>
          <a:xfrm>
            <a:off x="3459480" y="2761488"/>
            <a:ext cx="91440" cy="91440"/>
          </a:xfrm>
          <a:prstGeom prst="ellipse">
            <a:avLst/>
          </a:prstGeom>
          <a:solidFill>
            <a:srgbClr val="B7791F"/>
          </a:solidFill>
          <a:ln>
            <a:noFill/>
          </a:ln>
          <a:effectLst/>
        </p:spPr>
        <p:txBody>
          <a:bodyPr rtlCol="0" anchor="ctr" lIns="36576" rIns="36576"/>
          <a:lstStyle/>
          <a:p>
            <a:pPr algn="ctr"/>
          </a:p>
        </p:txBody>
      </p:sp>
      <p:sp>
        <p:nvSpPr>
          <p:cNvPr id="31" name="TextBox 30"/>
          <p:cNvSpPr txBox="1"/>
          <p:nvPr/>
        </p:nvSpPr>
        <p:spPr>
          <a:xfrm>
            <a:off x="3642360" y="2651760"/>
            <a:ext cx="2087880" cy="502920"/>
          </a:xfrm>
          <a:prstGeom prst="rect">
            <a:avLst/>
          </a:prstGeom>
          <a:noFill/>
        </p:spPr>
        <p:txBody>
          <a:bodyPr wrap="square" lIns="0" rIns="0" tIns="0" bIns="0" anchor="t">
            <a:spAutoFit/>
          </a:bodyPr>
          <a:lstStyle/>
          <a:p>
            <a:pPr algn="l"/>
            <a:r>
              <a:rPr sz="1100" b="0" i="0">
                <a:solidFill>
                  <a:srgbClr val="1D1D1B"/>
                </a:solidFill>
                <a:latin typeface="Calibri"/>
                <a:cs typeface="Calibri"/>
              </a:rPr>
              <a:t>Replaces dashes and removes email addresses</a:t>
            </a:r>
          </a:p>
        </p:txBody>
      </p:sp>
      <p:sp>
        <p:nvSpPr>
          <p:cNvPr id="32" name="Oval 31"/>
          <p:cNvSpPr/>
          <p:nvPr/>
        </p:nvSpPr>
        <p:spPr>
          <a:xfrm>
            <a:off x="3459480" y="3310127"/>
            <a:ext cx="91440" cy="91440"/>
          </a:xfrm>
          <a:prstGeom prst="ellipse">
            <a:avLst/>
          </a:prstGeom>
          <a:solidFill>
            <a:srgbClr val="B7791F"/>
          </a:solidFill>
          <a:ln>
            <a:noFill/>
          </a:ln>
          <a:effectLst/>
        </p:spPr>
        <p:txBody>
          <a:bodyPr rtlCol="0" anchor="ctr" lIns="36576" rIns="36576"/>
          <a:lstStyle/>
          <a:p>
            <a:pPr algn="ctr"/>
          </a:p>
        </p:txBody>
      </p:sp>
      <p:sp>
        <p:nvSpPr>
          <p:cNvPr id="33" name="TextBox 32"/>
          <p:cNvSpPr txBox="1"/>
          <p:nvPr/>
        </p:nvSpPr>
        <p:spPr>
          <a:xfrm>
            <a:off x="3642360" y="3200399"/>
            <a:ext cx="2087880" cy="502920"/>
          </a:xfrm>
          <a:prstGeom prst="rect">
            <a:avLst/>
          </a:prstGeom>
          <a:noFill/>
        </p:spPr>
        <p:txBody>
          <a:bodyPr wrap="square" lIns="0" rIns="0" tIns="0" bIns="0" anchor="t">
            <a:spAutoFit/>
          </a:bodyPr>
          <a:lstStyle/>
          <a:p>
            <a:pPr algn="l"/>
            <a:r>
              <a:rPr sz="1100" b="0" i="0">
                <a:solidFill>
                  <a:srgbClr val="1D1D1B"/>
                </a:solidFill>
                <a:latin typeface="Calibri"/>
                <a:cs typeface="Calibri"/>
              </a:rPr>
              <a:t>Flags banned words and hedging</a:t>
            </a:r>
          </a:p>
        </p:txBody>
      </p:sp>
      <p:sp>
        <p:nvSpPr>
          <p:cNvPr id="34" name="Oval 33"/>
          <p:cNvSpPr/>
          <p:nvPr/>
        </p:nvSpPr>
        <p:spPr>
          <a:xfrm>
            <a:off x="3459480" y="3858767"/>
            <a:ext cx="91440" cy="91440"/>
          </a:xfrm>
          <a:prstGeom prst="ellipse">
            <a:avLst/>
          </a:prstGeom>
          <a:solidFill>
            <a:srgbClr val="B7791F"/>
          </a:solidFill>
          <a:ln>
            <a:noFill/>
          </a:ln>
          <a:effectLst/>
        </p:spPr>
        <p:txBody>
          <a:bodyPr rtlCol="0" anchor="ctr" lIns="36576" rIns="36576"/>
          <a:lstStyle/>
          <a:p>
            <a:pPr algn="ctr"/>
          </a:p>
        </p:txBody>
      </p:sp>
      <p:sp>
        <p:nvSpPr>
          <p:cNvPr id="35" name="TextBox 34"/>
          <p:cNvSpPr txBox="1"/>
          <p:nvPr/>
        </p:nvSpPr>
        <p:spPr>
          <a:xfrm>
            <a:off x="3642360" y="3749039"/>
            <a:ext cx="2087880" cy="502920"/>
          </a:xfrm>
          <a:prstGeom prst="rect">
            <a:avLst/>
          </a:prstGeom>
          <a:noFill/>
        </p:spPr>
        <p:txBody>
          <a:bodyPr wrap="square" lIns="0" rIns="0" tIns="0" bIns="0" anchor="t">
            <a:spAutoFit/>
          </a:bodyPr>
          <a:lstStyle/>
          <a:p>
            <a:pPr algn="l"/>
            <a:r>
              <a:rPr sz="1100" b="0" i="0">
                <a:solidFill>
                  <a:srgbClr val="1D1D1B"/>
                </a:solidFill>
                <a:latin typeface="Calibri"/>
                <a:cs typeface="Calibri"/>
              </a:rPr>
              <a:t>Flags methods the Node does not have</a:t>
            </a:r>
          </a:p>
        </p:txBody>
      </p:sp>
      <p:sp>
        <p:nvSpPr>
          <p:cNvPr id="36" name="Rounded Rectangle 35"/>
          <p:cNvSpPr/>
          <p:nvPr/>
        </p:nvSpPr>
        <p:spPr>
          <a:xfrm>
            <a:off x="6096000" y="1600200"/>
            <a:ext cx="2590800" cy="2606040"/>
          </a:xfrm>
          <a:prstGeom prst="roundRect">
            <a:avLst>
              <a:gd name="adj" fmla="val 2823"/>
            </a:avLst>
          </a:prstGeom>
          <a:solidFill>
            <a:srgbClr val="E8F0FE"/>
          </a:solidFill>
          <a:ln>
            <a:noFill/>
          </a:ln>
          <a:effectLst/>
        </p:spPr>
        <p:txBody>
          <a:bodyPr rtlCol="0" anchor="ctr" lIns="36576" rIns="36576"/>
          <a:lstStyle/>
          <a:p>
            <a:pPr algn="ctr"/>
          </a:p>
        </p:txBody>
      </p:sp>
      <p:sp>
        <p:nvSpPr>
          <p:cNvPr id="37" name="TextBox 36"/>
          <p:cNvSpPr txBox="1"/>
          <p:nvPr/>
        </p:nvSpPr>
        <p:spPr>
          <a:xfrm>
            <a:off x="6278880" y="1691640"/>
            <a:ext cx="2225040" cy="329184"/>
          </a:xfrm>
          <a:prstGeom prst="rect">
            <a:avLst/>
          </a:prstGeom>
          <a:noFill/>
        </p:spPr>
        <p:txBody>
          <a:bodyPr wrap="square" lIns="0" rIns="0" tIns="0" bIns="0" anchor="ctr">
            <a:spAutoFit/>
          </a:bodyPr>
          <a:lstStyle/>
          <a:p>
            <a:pPr algn="l"/>
            <a:r>
              <a:rPr sz="1300" b="1" i="0">
                <a:solidFill>
                  <a:srgbClr val="1A73E8"/>
                </a:solidFill>
                <a:latin typeface="Source Sans Pro"/>
                <a:cs typeface="Source Sans Pro"/>
              </a:rPr>
              <a:t>Render: builds the page</a:t>
            </a:r>
          </a:p>
        </p:txBody>
      </p:sp>
      <p:sp>
        <p:nvSpPr>
          <p:cNvPr id="38" name="Oval 37"/>
          <p:cNvSpPr/>
          <p:nvPr/>
        </p:nvSpPr>
        <p:spPr>
          <a:xfrm>
            <a:off x="6278880" y="2212848"/>
            <a:ext cx="91440" cy="91440"/>
          </a:xfrm>
          <a:prstGeom prst="ellipse">
            <a:avLst/>
          </a:prstGeom>
          <a:solidFill>
            <a:srgbClr val="1A73E8"/>
          </a:solidFill>
          <a:ln>
            <a:noFill/>
          </a:ln>
          <a:effectLst/>
        </p:spPr>
        <p:txBody>
          <a:bodyPr rtlCol="0" anchor="ctr" lIns="36576" rIns="36576"/>
          <a:lstStyle/>
          <a:p>
            <a:pPr algn="ctr"/>
          </a:p>
        </p:txBody>
      </p:sp>
      <p:sp>
        <p:nvSpPr>
          <p:cNvPr id="39" name="TextBox 38"/>
          <p:cNvSpPr txBox="1"/>
          <p:nvPr/>
        </p:nvSpPr>
        <p:spPr>
          <a:xfrm>
            <a:off x="6461760" y="2103120"/>
            <a:ext cx="2087880" cy="502920"/>
          </a:xfrm>
          <a:prstGeom prst="rect">
            <a:avLst/>
          </a:prstGeom>
          <a:noFill/>
        </p:spPr>
        <p:txBody>
          <a:bodyPr wrap="square" lIns="0" rIns="0" tIns="0" bIns="0" anchor="t">
            <a:spAutoFit/>
          </a:bodyPr>
          <a:lstStyle/>
          <a:p>
            <a:pPr algn="l"/>
            <a:r>
              <a:rPr sz="1100" b="0" i="0">
                <a:solidFill>
                  <a:srgbClr val="1D1D1B"/>
                </a:solidFill>
                <a:latin typeface="Calibri"/>
                <a:cs typeface="Calibri"/>
              </a:rPr>
              <a:t>Technology table with providers and instruments</a:t>
            </a:r>
          </a:p>
        </p:txBody>
      </p:sp>
      <p:sp>
        <p:nvSpPr>
          <p:cNvPr id="40" name="Oval 39"/>
          <p:cNvSpPr/>
          <p:nvPr/>
        </p:nvSpPr>
        <p:spPr>
          <a:xfrm>
            <a:off x="6278880" y="2761488"/>
            <a:ext cx="91440" cy="91440"/>
          </a:xfrm>
          <a:prstGeom prst="ellipse">
            <a:avLst/>
          </a:prstGeom>
          <a:solidFill>
            <a:srgbClr val="1A73E8"/>
          </a:solidFill>
          <a:ln>
            <a:noFill/>
          </a:ln>
          <a:effectLst/>
        </p:spPr>
        <p:txBody>
          <a:bodyPr rtlCol="0" anchor="ctr" lIns="36576" rIns="36576"/>
          <a:lstStyle/>
          <a:p>
            <a:pPr algn="ctr"/>
          </a:p>
        </p:txBody>
      </p:sp>
      <p:sp>
        <p:nvSpPr>
          <p:cNvPr id="41" name="TextBox 40"/>
          <p:cNvSpPr txBox="1"/>
          <p:nvPr/>
        </p:nvSpPr>
        <p:spPr>
          <a:xfrm>
            <a:off x="6461760" y="2651760"/>
            <a:ext cx="2087880" cy="502920"/>
          </a:xfrm>
          <a:prstGeom prst="rect">
            <a:avLst/>
          </a:prstGeom>
          <a:noFill/>
        </p:spPr>
        <p:txBody>
          <a:bodyPr wrap="square" lIns="0" rIns="0" tIns="0" bIns="0" anchor="t">
            <a:spAutoFit/>
          </a:bodyPr>
          <a:lstStyle/>
          <a:p>
            <a:pPr algn="l"/>
            <a:r>
              <a:rPr sz="1100" b="0" i="0">
                <a:solidFill>
                  <a:srgbClr val="1D1D1B"/>
                </a:solidFill>
                <a:latin typeface="Calibri"/>
                <a:cs typeface="Calibri"/>
              </a:rPr>
              <a:t>Service list, SLA or "please confirm"</a:t>
            </a:r>
          </a:p>
        </p:txBody>
      </p:sp>
      <p:sp>
        <p:nvSpPr>
          <p:cNvPr id="42" name="Oval 41"/>
          <p:cNvSpPr/>
          <p:nvPr/>
        </p:nvSpPr>
        <p:spPr>
          <a:xfrm>
            <a:off x="6278880" y="3310127"/>
            <a:ext cx="91440" cy="91440"/>
          </a:xfrm>
          <a:prstGeom prst="ellipse">
            <a:avLst/>
          </a:prstGeom>
          <a:solidFill>
            <a:srgbClr val="1A73E8"/>
          </a:solidFill>
          <a:ln>
            <a:noFill/>
          </a:ln>
          <a:effectLst/>
        </p:spPr>
        <p:txBody>
          <a:bodyPr rtlCol="0" anchor="ctr" lIns="36576" rIns="36576"/>
          <a:lstStyle/>
          <a:p>
            <a:pPr algn="ctr"/>
          </a:p>
        </p:txBody>
      </p:sp>
      <p:sp>
        <p:nvSpPr>
          <p:cNvPr id="43" name="TextBox 42"/>
          <p:cNvSpPr txBox="1"/>
          <p:nvPr/>
        </p:nvSpPr>
        <p:spPr>
          <a:xfrm>
            <a:off x="6461760" y="3200399"/>
            <a:ext cx="2087880" cy="502920"/>
          </a:xfrm>
          <a:prstGeom prst="rect">
            <a:avLst/>
          </a:prstGeom>
          <a:noFill/>
        </p:spPr>
        <p:txBody>
          <a:bodyPr wrap="square" lIns="0" rIns="0" tIns="0" bIns="0" anchor="t">
            <a:spAutoFit/>
          </a:bodyPr>
          <a:lstStyle/>
          <a:p>
            <a:pPr algn="l"/>
            <a:r>
              <a:rPr sz="1100" b="0" i="0">
                <a:solidFill>
                  <a:srgbClr val="1D1D1B"/>
                </a:solidFill>
                <a:latin typeface="Calibri"/>
                <a:cs typeface="Calibri"/>
              </a:rPr>
              <a:t>Facility table with working links</a:t>
            </a:r>
          </a:p>
        </p:txBody>
      </p:sp>
      <p:sp>
        <p:nvSpPr>
          <p:cNvPr id="44" name="Oval 43"/>
          <p:cNvSpPr/>
          <p:nvPr/>
        </p:nvSpPr>
        <p:spPr>
          <a:xfrm>
            <a:off x="6278880" y="3858767"/>
            <a:ext cx="91440" cy="91440"/>
          </a:xfrm>
          <a:prstGeom prst="ellipse">
            <a:avLst/>
          </a:prstGeom>
          <a:solidFill>
            <a:srgbClr val="1A73E8"/>
          </a:solidFill>
          <a:ln>
            <a:noFill/>
          </a:ln>
          <a:effectLst/>
        </p:spPr>
        <p:txBody>
          <a:bodyPr rtlCol="0" anchor="ctr" lIns="36576" rIns="36576"/>
          <a:lstStyle/>
          <a:p>
            <a:pPr algn="ctr"/>
          </a:p>
        </p:txBody>
      </p:sp>
      <p:sp>
        <p:nvSpPr>
          <p:cNvPr id="45" name="TextBox 44"/>
          <p:cNvSpPr txBox="1"/>
          <p:nvPr/>
        </p:nvSpPr>
        <p:spPr>
          <a:xfrm>
            <a:off x="6461760" y="3749039"/>
            <a:ext cx="2087880" cy="502920"/>
          </a:xfrm>
          <a:prstGeom prst="rect">
            <a:avLst/>
          </a:prstGeom>
          <a:noFill/>
        </p:spPr>
        <p:txBody>
          <a:bodyPr wrap="square" lIns="0" rIns="0" tIns="0" bIns="0" anchor="t">
            <a:spAutoFit/>
          </a:bodyPr>
          <a:lstStyle/>
          <a:p>
            <a:pPr algn="l"/>
            <a:r>
              <a:rPr sz="1100" b="0" i="0">
                <a:solidFill>
                  <a:srgbClr val="1D1D1B"/>
                </a:solidFill>
                <a:latin typeface="Calibri"/>
                <a:cs typeface="Calibri"/>
              </a:rPr>
              <a:t>Contact block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697480"/>
            <a:ext cx="8229600" cy="502920"/>
          </a:xfrm>
          <a:prstGeom prst="rect">
            <a:avLst/>
          </a:prstGeom>
          <a:noFill/>
        </p:spPr>
        <p:txBody>
          <a:bodyPr wrap="square" lIns="0" rIns="0" tIns="0" bIns="0" anchor="ctr">
            <a:spAutoFit/>
          </a:bodyPr>
          <a:lstStyle/>
          <a:p>
            <a:pPr algn="ctr"/>
            <a:r>
              <a:rPr sz="2800" b="1" i="0">
                <a:solidFill>
                  <a:srgbClr val="1D1D1B"/>
                </a:solidFill>
                <a:latin typeface="Source Sans Pro"/>
                <a:cs typeface="Source Sans Pro"/>
              </a:rPr>
              <a:t>Backup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Columns used per sheet</a:t>
            </a:r>
          </a:p>
        </p:txBody>
      </p:sp>
      <p:sp>
        <p:nvSpPr>
          <p:cNvPr id="3" name="TextBox 2"/>
          <p:cNvSpPr txBox="1"/>
          <p:nvPr/>
        </p:nvSpPr>
        <p:spPr>
          <a:xfrm>
            <a:off x="457200" y="868680"/>
            <a:ext cx="2103120" cy="274320"/>
          </a:xfrm>
          <a:prstGeom prst="rect">
            <a:avLst/>
          </a:prstGeom>
          <a:noFill/>
        </p:spPr>
        <p:txBody>
          <a:bodyPr wrap="square" lIns="0" rIns="0" tIns="0" bIns="0" anchor="b">
            <a:spAutoFit/>
          </a:bodyPr>
          <a:lstStyle/>
          <a:p>
            <a:pPr algn="l"/>
            <a:r>
              <a:rPr sz="1000" b="1" i="0">
                <a:solidFill>
                  <a:srgbClr val="8C8C8C"/>
                </a:solidFill>
                <a:latin typeface="Calibri"/>
                <a:cs typeface="Calibri"/>
              </a:rPr>
              <a:t>Sheet</a:t>
            </a:r>
          </a:p>
        </p:txBody>
      </p:sp>
      <p:sp>
        <p:nvSpPr>
          <p:cNvPr id="4" name="TextBox 3"/>
          <p:cNvSpPr txBox="1"/>
          <p:nvPr/>
        </p:nvSpPr>
        <p:spPr>
          <a:xfrm>
            <a:off x="2651760" y="868680"/>
            <a:ext cx="5943600" cy="274320"/>
          </a:xfrm>
          <a:prstGeom prst="rect">
            <a:avLst/>
          </a:prstGeom>
          <a:noFill/>
        </p:spPr>
        <p:txBody>
          <a:bodyPr wrap="square" lIns="0" rIns="0" tIns="0" bIns="0" anchor="b">
            <a:spAutoFit/>
          </a:bodyPr>
          <a:lstStyle/>
          <a:p>
            <a:pPr algn="l"/>
            <a:r>
              <a:rPr sz="1000" b="1" i="0">
                <a:solidFill>
                  <a:srgbClr val="8C8C8C"/>
                </a:solidFill>
                <a:latin typeface="Calibri"/>
                <a:cs typeface="Calibri"/>
              </a:rPr>
              <a:t>Columns</a:t>
            </a:r>
          </a:p>
        </p:txBody>
      </p:sp>
      <p:sp>
        <p:nvSpPr>
          <p:cNvPr id="5" name="Rectangle 4"/>
          <p:cNvSpPr/>
          <p:nvPr/>
        </p:nvSpPr>
        <p:spPr>
          <a:xfrm>
            <a:off x="457200" y="1179576"/>
            <a:ext cx="8229600" cy="10972"/>
          </a:xfrm>
          <a:prstGeom prst="rect">
            <a:avLst/>
          </a:prstGeom>
          <a:solidFill>
            <a:srgbClr val="1D1D1B"/>
          </a:solidFill>
          <a:ln>
            <a:noFill/>
          </a:ln>
          <a:effectLst/>
        </p:spPr>
        <p:txBody>
          <a:bodyPr rtlCol="0" anchor="ctr" lIns="36576" rIns="36576"/>
          <a:lstStyle/>
          <a:p>
            <a:pPr algn="ctr"/>
          </a:p>
        </p:txBody>
      </p:sp>
      <p:sp>
        <p:nvSpPr>
          <p:cNvPr id="6" name="TextBox 5"/>
          <p:cNvSpPr txBox="1"/>
          <p:nvPr/>
        </p:nvSpPr>
        <p:spPr>
          <a:xfrm>
            <a:off x="457200" y="1216152"/>
            <a:ext cx="2084831" cy="301752"/>
          </a:xfrm>
          <a:prstGeom prst="rect">
            <a:avLst/>
          </a:prstGeom>
          <a:noFill/>
        </p:spPr>
        <p:txBody>
          <a:bodyPr wrap="square" lIns="0" rIns="0" tIns="0" bIns="0" anchor="ctr">
            <a:spAutoFit/>
          </a:bodyPr>
          <a:lstStyle/>
          <a:p>
            <a:pPr algn="l"/>
            <a:r>
              <a:rPr sz="1000" b="1" i="0">
                <a:solidFill>
                  <a:srgbClr val="1D1D1B"/>
                </a:solidFill>
                <a:latin typeface="Calibri"/>
                <a:cs typeface="Calibri"/>
              </a:rPr>
              <a:t>Nodes</a:t>
            </a:r>
          </a:p>
        </p:txBody>
      </p:sp>
      <p:sp>
        <p:nvSpPr>
          <p:cNvPr id="7" name="TextBox 6"/>
          <p:cNvSpPr txBox="1"/>
          <p:nvPr/>
        </p:nvSpPr>
        <p:spPr>
          <a:xfrm>
            <a:off x="2651760" y="1216152"/>
            <a:ext cx="5925312" cy="301752"/>
          </a:xfrm>
          <a:prstGeom prst="rect">
            <a:avLst/>
          </a:prstGeom>
          <a:noFill/>
        </p:spPr>
        <p:txBody>
          <a:bodyPr wrap="square" lIns="0" rIns="0" tIns="0" bIns="0" anchor="ctr">
            <a:spAutoFit/>
          </a:bodyPr>
          <a:lstStyle/>
          <a:p>
            <a:pPr algn="l"/>
            <a:r>
              <a:rPr sz="1000" b="0" i="0">
                <a:solidFill>
                  <a:srgbClr val="595959"/>
                </a:solidFill>
                <a:latin typeface="Consolas"/>
                <a:cs typeface="Consolas"/>
              </a:rPr>
              <a:t>node_name, node_uri, country_name, access_portal_url, service_summary</a:t>
            </a:r>
          </a:p>
        </p:txBody>
      </p:sp>
      <p:sp>
        <p:nvSpPr>
          <p:cNvPr id="8" name="Rectangle 7"/>
          <p:cNvSpPr/>
          <p:nvPr/>
        </p:nvSpPr>
        <p:spPr>
          <a:xfrm>
            <a:off x="457200" y="1536192"/>
            <a:ext cx="8229600" cy="5486"/>
          </a:xfrm>
          <a:prstGeom prst="rect">
            <a:avLst/>
          </a:prstGeom>
          <a:solidFill>
            <a:srgbClr val="D9D9D9"/>
          </a:solidFill>
          <a:ln>
            <a:noFill/>
          </a:ln>
          <a:effectLst/>
        </p:spPr>
        <p:txBody>
          <a:bodyPr rtlCol="0" anchor="ctr" lIns="36576" rIns="36576"/>
          <a:lstStyle/>
          <a:p>
            <a:pPr algn="ctr"/>
          </a:p>
        </p:txBody>
      </p:sp>
      <p:sp>
        <p:nvSpPr>
          <p:cNvPr id="9" name="TextBox 8"/>
          <p:cNvSpPr txBox="1"/>
          <p:nvPr/>
        </p:nvSpPr>
        <p:spPr>
          <a:xfrm>
            <a:off x="457200" y="1572768"/>
            <a:ext cx="2084831" cy="448056"/>
          </a:xfrm>
          <a:prstGeom prst="rect">
            <a:avLst/>
          </a:prstGeom>
          <a:noFill/>
        </p:spPr>
        <p:txBody>
          <a:bodyPr wrap="square" lIns="0" rIns="0" tIns="0" bIns="0" anchor="ctr">
            <a:spAutoFit/>
          </a:bodyPr>
          <a:lstStyle/>
          <a:p>
            <a:pPr algn="l"/>
            <a:r>
              <a:rPr sz="1000" b="1" i="0">
                <a:solidFill>
                  <a:srgbClr val="1D1D1B"/>
                </a:solidFill>
                <a:latin typeface="Calibri"/>
                <a:cs typeface="Calibri"/>
              </a:rPr>
              <a:t>Facilities</a:t>
            </a:r>
          </a:p>
        </p:txBody>
      </p:sp>
      <p:sp>
        <p:nvSpPr>
          <p:cNvPr id="10" name="TextBox 9"/>
          <p:cNvSpPr txBox="1"/>
          <p:nvPr/>
        </p:nvSpPr>
        <p:spPr>
          <a:xfrm>
            <a:off x="2651760" y="1572768"/>
            <a:ext cx="5925312" cy="448056"/>
          </a:xfrm>
          <a:prstGeom prst="rect">
            <a:avLst/>
          </a:prstGeom>
          <a:noFill/>
        </p:spPr>
        <p:txBody>
          <a:bodyPr wrap="square" lIns="0" rIns="0" tIns="0" bIns="0" anchor="ctr">
            <a:spAutoFit/>
          </a:bodyPr>
          <a:lstStyle/>
          <a:p>
            <a:pPr algn="l"/>
            <a:r>
              <a:rPr sz="1000" b="0" i="0">
                <a:solidFill>
                  <a:srgbClr val="595959"/>
                </a:solidFill>
                <a:latin typeface="Consolas"/>
                <a:cs typeface="Consolas"/>
              </a:rPr>
              <a:t>facility_name, institution, city, public_description, expertise, instruments, application_areas, address, website, facility_uri, navigator_route</a:t>
            </a:r>
          </a:p>
        </p:txBody>
      </p:sp>
      <p:sp>
        <p:nvSpPr>
          <p:cNvPr id="11" name="Rectangle 10"/>
          <p:cNvSpPr/>
          <p:nvPr/>
        </p:nvSpPr>
        <p:spPr>
          <a:xfrm>
            <a:off x="457200" y="2039112"/>
            <a:ext cx="8229600" cy="5486"/>
          </a:xfrm>
          <a:prstGeom prst="rect">
            <a:avLst/>
          </a:prstGeom>
          <a:solidFill>
            <a:srgbClr val="D9D9D9"/>
          </a:solidFill>
          <a:ln>
            <a:noFill/>
          </a:ln>
          <a:effectLst/>
        </p:spPr>
        <p:txBody>
          <a:bodyPr rtlCol="0" anchor="ctr" lIns="36576" rIns="36576"/>
          <a:lstStyle/>
          <a:p>
            <a:pPr algn="ctr"/>
          </a:p>
        </p:txBody>
      </p:sp>
      <p:sp>
        <p:nvSpPr>
          <p:cNvPr id="12" name="TextBox 11"/>
          <p:cNvSpPr txBox="1"/>
          <p:nvPr/>
        </p:nvSpPr>
        <p:spPr>
          <a:xfrm>
            <a:off x="457200" y="2075688"/>
            <a:ext cx="2084831" cy="301752"/>
          </a:xfrm>
          <a:prstGeom prst="rect">
            <a:avLst/>
          </a:prstGeom>
          <a:noFill/>
        </p:spPr>
        <p:txBody>
          <a:bodyPr wrap="square" lIns="0" rIns="0" tIns="0" bIns="0" anchor="ctr">
            <a:spAutoFit/>
          </a:bodyPr>
          <a:lstStyle/>
          <a:p>
            <a:pPr algn="l"/>
            <a:r>
              <a:rPr sz="1000" b="1" i="0">
                <a:solidFill>
                  <a:srgbClr val="1D1D1B"/>
                </a:solidFill>
                <a:latin typeface="Calibri"/>
                <a:cs typeface="Calibri"/>
              </a:rPr>
              <a:t>Technologies</a:t>
            </a:r>
          </a:p>
        </p:txBody>
      </p:sp>
      <p:sp>
        <p:nvSpPr>
          <p:cNvPr id="13" name="TextBox 12"/>
          <p:cNvSpPr txBox="1"/>
          <p:nvPr/>
        </p:nvSpPr>
        <p:spPr>
          <a:xfrm>
            <a:off x="2651760" y="2075688"/>
            <a:ext cx="5925312" cy="301752"/>
          </a:xfrm>
          <a:prstGeom prst="rect">
            <a:avLst/>
          </a:prstGeom>
          <a:noFill/>
        </p:spPr>
        <p:txBody>
          <a:bodyPr wrap="square" lIns="0" rIns="0" tIns="0" bIns="0" anchor="ctr">
            <a:spAutoFit/>
          </a:bodyPr>
          <a:lstStyle/>
          <a:p>
            <a:pPr algn="l"/>
            <a:r>
              <a:rPr sz="1000" b="0" i="0">
                <a:solidFill>
                  <a:srgbClr val="595959"/>
                </a:solidFill>
                <a:latin typeface="Consolas"/>
                <a:cs typeface="Consolas"/>
              </a:rPr>
              <a:t>technology_name, abbreviation, category_name</a:t>
            </a:r>
          </a:p>
        </p:txBody>
      </p:sp>
      <p:sp>
        <p:nvSpPr>
          <p:cNvPr id="14" name="Rectangle 13"/>
          <p:cNvSpPr/>
          <p:nvPr/>
        </p:nvSpPr>
        <p:spPr>
          <a:xfrm>
            <a:off x="457200" y="2395728"/>
            <a:ext cx="8229600" cy="5486"/>
          </a:xfrm>
          <a:prstGeom prst="rect">
            <a:avLst/>
          </a:prstGeom>
          <a:solidFill>
            <a:srgbClr val="D9D9D9"/>
          </a:solidFill>
          <a:ln>
            <a:noFill/>
          </a:ln>
          <a:effectLst/>
        </p:spPr>
        <p:txBody>
          <a:bodyPr rtlCol="0" anchor="ctr" lIns="36576" rIns="36576"/>
          <a:lstStyle/>
          <a:p>
            <a:pPr algn="ctr"/>
          </a:p>
        </p:txBody>
      </p:sp>
      <p:sp>
        <p:nvSpPr>
          <p:cNvPr id="15" name="TextBox 14"/>
          <p:cNvSpPr txBox="1"/>
          <p:nvPr/>
        </p:nvSpPr>
        <p:spPr>
          <a:xfrm>
            <a:off x="457200" y="2432304"/>
            <a:ext cx="2084831" cy="301752"/>
          </a:xfrm>
          <a:prstGeom prst="rect">
            <a:avLst/>
          </a:prstGeom>
          <a:noFill/>
        </p:spPr>
        <p:txBody>
          <a:bodyPr wrap="square" lIns="0" rIns="0" tIns="0" bIns="0" anchor="ctr">
            <a:spAutoFit/>
          </a:bodyPr>
          <a:lstStyle/>
          <a:p>
            <a:pPr algn="l"/>
            <a:r>
              <a:rPr sz="1000" b="1" i="0">
                <a:solidFill>
                  <a:srgbClr val="1D1D1B"/>
                </a:solidFill>
                <a:latin typeface="Calibri"/>
                <a:cs typeface="Calibri"/>
              </a:rPr>
              <a:t>Node / Facility Technologies</a:t>
            </a:r>
          </a:p>
        </p:txBody>
      </p:sp>
      <p:sp>
        <p:nvSpPr>
          <p:cNvPr id="16" name="TextBox 15"/>
          <p:cNvSpPr txBox="1"/>
          <p:nvPr/>
        </p:nvSpPr>
        <p:spPr>
          <a:xfrm>
            <a:off x="2651760" y="2432304"/>
            <a:ext cx="5925312" cy="301752"/>
          </a:xfrm>
          <a:prstGeom prst="rect">
            <a:avLst/>
          </a:prstGeom>
          <a:noFill/>
        </p:spPr>
        <p:txBody>
          <a:bodyPr wrap="square" lIns="0" rIns="0" tIns="0" bIns="0" anchor="ctr">
            <a:spAutoFit/>
          </a:bodyPr>
          <a:lstStyle/>
          <a:p>
            <a:pPr algn="l"/>
            <a:r>
              <a:rPr sz="1000" b="0" i="0">
                <a:solidFill>
                  <a:srgbClr val="595959"/>
                </a:solidFill>
                <a:latin typeface="Consolas"/>
                <a:cs typeface="Consolas"/>
              </a:rPr>
              <a:t>technology_uri, navigator_route, round3_relation_status</a:t>
            </a:r>
          </a:p>
        </p:txBody>
      </p:sp>
      <p:sp>
        <p:nvSpPr>
          <p:cNvPr id="17" name="Rectangle 16"/>
          <p:cNvSpPr/>
          <p:nvPr/>
        </p:nvSpPr>
        <p:spPr>
          <a:xfrm>
            <a:off x="457200" y="2752344"/>
            <a:ext cx="8229600" cy="5486"/>
          </a:xfrm>
          <a:prstGeom prst="rect">
            <a:avLst/>
          </a:prstGeom>
          <a:solidFill>
            <a:srgbClr val="D9D9D9"/>
          </a:solidFill>
          <a:ln>
            <a:noFill/>
          </a:ln>
          <a:effectLst/>
        </p:spPr>
        <p:txBody>
          <a:bodyPr rtlCol="0" anchor="ctr" lIns="36576" rIns="36576"/>
          <a:lstStyle/>
          <a:p>
            <a:pPr algn="ctr"/>
          </a:p>
        </p:txBody>
      </p:sp>
      <p:sp>
        <p:nvSpPr>
          <p:cNvPr id="18" name="TextBox 17"/>
          <p:cNvSpPr txBox="1"/>
          <p:nvPr/>
        </p:nvSpPr>
        <p:spPr>
          <a:xfrm>
            <a:off x="457200" y="2788920"/>
            <a:ext cx="2084831" cy="301752"/>
          </a:xfrm>
          <a:prstGeom prst="rect">
            <a:avLst/>
          </a:prstGeom>
          <a:noFill/>
        </p:spPr>
        <p:txBody>
          <a:bodyPr wrap="square" lIns="0" rIns="0" tIns="0" bIns="0" anchor="ctr">
            <a:spAutoFit/>
          </a:bodyPr>
          <a:lstStyle/>
          <a:p>
            <a:pPr algn="l"/>
            <a:r>
              <a:rPr sz="1000" b="1" i="0">
                <a:solidFill>
                  <a:srgbClr val="1D1D1B"/>
                </a:solidFill>
                <a:latin typeface="Calibri"/>
                <a:cs typeface="Calibri"/>
              </a:rPr>
              <a:t>Technology Guidance</a:t>
            </a:r>
          </a:p>
        </p:txBody>
      </p:sp>
      <p:sp>
        <p:nvSpPr>
          <p:cNvPr id="19" name="TextBox 18"/>
          <p:cNvSpPr txBox="1"/>
          <p:nvPr/>
        </p:nvSpPr>
        <p:spPr>
          <a:xfrm>
            <a:off x="2651760" y="2788920"/>
            <a:ext cx="5925312" cy="301752"/>
          </a:xfrm>
          <a:prstGeom prst="rect">
            <a:avLst/>
          </a:prstGeom>
          <a:noFill/>
        </p:spPr>
        <p:txBody>
          <a:bodyPr wrap="square" lIns="0" rIns="0" tIns="0" bIns="0" anchor="ctr">
            <a:spAutoFit/>
          </a:bodyPr>
          <a:lstStyle/>
          <a:p>
            <a:pPr algn="l"/>
            <a:r>
              <a:rPr sz="1000" b="0" i="0">
                <a:solidFill>
                  <a:srgbClr val="595959"/>
                </a:solidFill>
                <a:latin typeface="Consolas"/>
                <a:cs typeface="Consolas"/>
              </a:rPr>
              <a:t>modality, biological_scale, strengths</a:t>
            </a:r>
          </a:p>
        </p:txBody>
      </p:sp>
      <p:sp>
        <p:nvSpPr>
          <p:cNvPr id="20" name="Rectangle 19"/>
          <p:cNvSpPr/>
          <p:nvPr/>
        </p:nvSpPr>
        <p:spPr>
          <a:xfrm>
            <a:off x="457200" y="3108960"/>
            <a:ext cx="8229600" cy="5486"/>
          </a:xfrm>
          <a:prstGeom prst="rect">
            <a:avLst/>
          </a:prstGeom>
          <a:solidFill>
            <a:srgbClr val="D9D9D9"/>
          </a:solidFill>
          <a:ln>
            <a:noFill/>
          </a:ln>
          <a:effectLst/>
        </p:spPr>
        <p:txBody>
          <a:bodyPr rtlCol="0" anchor="ctr" lIns="36576" rIns="36576"/>
          <a:lstStyle/>
          <a:p>
            <a:pPr algn="ctr"/>
          </a:p>
        </p:txBody>
      </p:sp>
      <p:sp>
        <p:nvSpPr>
          <p:cNvPr id="21" name="TextBox 20"/>
          <p:cNvSpPr txBox="1"/>
          <p:nvPr/>
        </p:nvSpPr>
        <p:spPr>
          <a:xfrm>
            <a:off x="457200" y="3145536"/>
            <a:ext cx="2084831" cy="301752"/>
          </a:xfrm>
          <a:prstGeom prst="rect">
            <a:avLst/>
          </a:prstGeom>
          <a:noFill/>
        </p:spPr>
        <p:txBody>
          <a:bodyPr wrap="square" lIns="0" rIns="0" tIns="0" bIns="0" anchor="ctr">
            <a:spAutoFit/>
          </a:bodyPr>
          <a:lstStyle/>
          <a:p>
            <a:pPr algn="l"/>
            <a:r>
              <a:rPr sz="1000" b="1" i="0">
                <a:solidFill>
                  <a:srgbClr val="1D1D1B"/>
                </a:solidFill>
                <a:latin typeface="Calibri"/>
                <a:cs typeface="Calibri"/>
              </a:rPr>
              <a:t>Node Services</a:t>
            </a:r>
          </a:p>
        </p:txBody>
      </p:sp>
      <p:sp>
        <p:nvSpPr>
          <p:cNvPr id="22" name="TextBox 21"/>
          <p:cNvSpPr txBox="1"/>
          <p:nvPr/>
        </p:nvSpPr>
        <p:spPr>
          <a:xfrm>
            <a:off x="2651760" y="3145536"/>
            <a:ext cx="5925312" cy="301752"/>
          </a:xfrm>
          <a:prstGeom prst="rect">
            <a:avLst/>
          </a:prstGeom>
          <a:noFill/>
        </p:spPr>
        <p:txBody>
          <a:bodyPr wrap="square" lIns="0" rIns="0" tIns="0" bIns="0" anchor="ctr">
            <a:spAutoFit/>
          </a:bodyPr>
          <a:lstStyle/>
          <a:p>
            <a:pPr algn="l"/>
            <a:r>
              <a:rPr sz="1000" b="0" i="0">
                <a:solidFill>
                  <a:srgbClr val="595959"/>
                </a:solidFill>
                <a:latin typeface="Consolas"/>
                <a:cs typeface="Consolas"/>
              </a:rPr>
              <a:t>source_type, service_wording_sla, named_site_wording</a:t>
            </a:r>
          </a:p>
        </p:txBody>
      </p:sp>
      <p:sp>
        <p:nvSpPr>
          <p:cNvPr id="23" name="Rectangle 22"/>
          <p:cNvSpPr/>
          <p:nvPr/>
        </p:nvSpPr>
        <p:spPr>
          <a:xfrm>
            <a:off x="457200" y="3465576"/>
            <a:ext cx="8229600" cy="5486"/>
          </a:xfrm>
          <a:prstGeom prst="rect">
            <a:avLst/>
          </a:prstGeom>
          <a:solidFill>
            <a:srgbClr val="D9D9D9"/>
          </a:solidFill>
          <a:ln>
            <a:noFill/>
          </a:ln>
          <a:effectLst/>
        </p:spPr>
        <p:txBody>
          <a:bodyPr rtlCol="0" anchor="ctr" lIns="36576" rIns="36576"/>
          <a:lstStyle/>
          <a:p>
            <a:pPr algn="ctr"/>
          </a:p>
        </p:txBody>
      </p:sp>
      <p:sp>
        <p:nvSpPr>
          <p:cNvPr id="24" name="TextBox 23"/>
          <p:cNvSpPr txBox="1"/>
          <p:nvPr/>
        </p:nvSpPr>
        <p:spPr>
          <a:xfrm>
            <a:off x="457200" y="3502152"/>
            <a:ext cx="2084831" cy="301752"/>
          </a:xfrm>
          <a:prstGeom prst="rect">
            <a:avLst/>
          </a:prstGeom>
          <a:noFill/>
        </p:spPr>
        <p:txBody>
          <a:bodyPr wrap="square" lIns="0" rIns="0" tIns="0" bIns="0" anchor="ctr">
            <a:spAutoFit/>
          </a:bodyPr>
          <a:lstStyle/>
          <a:p>
            <a:pPr algn="l"/>
            <a:r>
              <a:rPr sz="1000" b="1" i="0">
                <a:solidFill>
                  <a:srgbClr val="1D1D1B"/>
                </a:solidFill>
                <a:latin typeface="Calibri"/>
                <a:cs typeface="Calibri"/>
              </a:rPr>
              <a:t>Contacts</a:t>
            </a:r>
          </a:p>
        </p:txBody>
      </p:sp>
      <p:sp>
        <p:nvSpPr>
          <p:cNvPr id="25" name="TextBox 24"/>
          <p:cNvSpPr txBox="1"/>
          <p:nvPr/>
        </p:nvSpPr>
        <p:spPr>
          <a:xfrm>
            <a:off x="2651760" y="3502152"/>
            <a:ext cx="5925312" cy="301752"/>
          </a:xfrm>
          <a:prstGeom prst="rect">
            <a:avLst/>
          </a:prstGeom>
          <a:noFill/>
        </p:spPr>
        <p:txBody>
          <a:bodyPr wrap="square" lIns="0" rIns="0" tIns="0" bIns="0" anchor="ctr">
            <a:spAutoFit/>
          </a:bodyPr>
          <a:lstStyle/>
          <a:p>
            <a:pPr algn="l"/>
            <a:r>
              <a:rPr sz="1000" b="0" i="0">
                <a:solidFill>
                  <a:srgbClr val="595959"/>
                </a:solidFill>
                <a:latin typeface="Consolas"/>
                <a:cs typeface="Consolas"/>
              </a:rPr>
              <a:t>first_name, last_name, role, email, navigator_route</a:t>
            </a:r>
          </a:p>
        </p:txBody>
      </p:sp>
      <p:sp>
        <p:nvSpPr>
          <p:cNvPr id="26" name="Rectangle 25"/>
          <p:cNvSpPr/>
          <p:nvPr/>
        </p:nvSpPr>
        <p:spPr>
          <a:xfrm>
            <a:off x="457200" y="3822192"/>
            <a:ext cx="8229600" cy="5486"/>
          </a:xfrm>
          <a:prstGeom prst="rect">
            <a:avLst/>
          </a:prstGeom>
          <a:solidFill>
            <a:srgbClr val="D9D9D9"/>
          </a:solidFill>
          <a:ln>
            <a:noFill/>
          </a:ln>
          <a:effectLst/>
        </p:spPr>
        <p:txBody>
          <a:bodyPr rtlCol="0" anchor="ctr" lIns="36576" rIns="36576"/>
          <a:lstStyle/>
          <a:p>
            <a:pPr algn="ctr"/>
          </a:p>
        </p:txBody>
      </p:sp>
      <p:sp>
        <p:nvSpPr>
          <p:cNvPr id="27" name="TextBox 26"/>
          <p:cNvSpPr txBox="1"/>
          <p:nvPr/>
        </p:nvSpPr>
        <p:spPr>
          <a:xfrm>
            <a:off x="457200" y="3858768"/>
            <a:ext cx="2084831" cy="301752"/>
          </a:xfrm>
          <a:prstGeom prst="rect">
            <a:avLst/>
          </a:prstGeom>
          <a:noFill/>
        </p:spPr>
        <p:txBody>
          <a:bodyPr wrap="square" lIns="0" rIns="0" tIns="0" bIns="0" anchor="ctr">
            <a:spAutoFit/>
          </a:bodyPr>
          <a:lstStyle/>
          <a:p>
            <a:pPr algn="l"/>
            <a:r>
              <a:rPr sz="1000" b="1" i="0">
                <a:solidFill>
                  <a:srgbClr val="1D1D1B"/>
                </a:solidFill>
                <a:latin typeface="Calibri"/>
                <a:cs typeface="Calibri"/>
              </a:rPr>
              <a:t>Evidence</a:t>
            </a:r>
          </a:p>
        </p:txBody>
      </p:sp>
      <p:sp>
        <p:nvSpPr>
          <p:cNvPr id="28" name="TextBox 27"/>
          <p:cNvSpPr txBox="1"/>
          <p:nvPr/>
        </p:nvSpPr>
        <p:spPr>
          <a:xfrm>
            <a:off x="2651760" y="3858768"/>
            <a:ext cx="5925312" cy="301752"/>
          </a:xfrm>
          <a:prstGeom prst="rect">
            <a:avLst/>
          </a:prstGeom>
          <a:noFill/>
        </p:spPr>
        <p:txBody>
          <a:bodyPr wrap="square" lIns="0" rIns="0" tIns="0" bIns="0" anchor="ctr">
            <a:spAutoFit/>
          </a:bodyPr>
          <a:lstStyle/>
          <a:p>
            <a:pPr algn="l"/>
            <a:r>
              <a:rPr sz="1000" b="0" i="0">
                <a:solidFill>
                  <a:srgbClr val="595959"/>
                </a:solidFill>
                <a:latin typeface="Consolas"/>
                <a:cs typeface="Consolas"/>
              </a:rPr>
              <a:t>instrument_model, manufacturer, sample_type, organism_species, biosafety_condition</a:t>
            </a:r>
          </a:p>
        </p:txBody>
      </p:sp>
      <p:sp>
        <p:nvSpPr>
          <p:cNvPr id="29" name="Rectangle 28"/>
          <p:cNvSpPr/>
          <p:nvPr/>
        </p:nvSpPr>
        <p:spPr>
          <a:xfrm>
            <a:off x="457200" y="4178808"/>
            <a:ext cx="8229600" cy="5486"/>
          </a:xfrm>
          <a:prstGeom prst="rect">
            <a:avLst/>
          </a:prstGeom>
          <a:solidFill>
            <a:srgbClr val="D9D9D9"/>
          </a:solidFill>
          <a:ln>
            <a:noFill/>
          </a:ln>
          <a:effectLst/>
        </p:spPr>
        <p:txBody>
          <a:bodyPr rtlCol="0" anchor="ctr" lIns="36576" rIns="36576"/>
          <a:lstStyle/>
          <a:p>
            <a:pPr algn="ctr"/>
          </a:p>
        </p:txBody>
      </p:sp>
      <p:sp>
        <p:nvSpPr>
          <p:cNvPr id="30" name="TextBox 29"/>
          <p:cNvSpPr txBox="1"/>
          <p:nvPr/>
        </p:nvSpPr>
        <p:spPr>
          <a:xfrm>
            <a:off x="457200" y="4215384"/>
            <a:ext cx="2084831" cy="301752"/>
          </a:xfrm>
          <a:prstGeom prst="rect">
            <a:avLst/>
          </a:prstGeom>
          <a:noFill/>
        </p:spPr>
        <p:txBody>
          <a:bodyPr wrap="square" lIns="0" rIns="0" tIns="0" bIns="0" anchor="ctr">
            <a:spAutoFit/>
          </a:bodyPr>
          <a:lstStyle/>
          <a:p>
            <a:pPr algn="l"/>
            <a:r>
              <a:rPr sz="1000" b="1" i="0">
                <a:solidFill>
                  <a:srgbClr val="1D1D1B"/>
                </a:solidFill>
                <a:latin typeface="Calibri"/>
                <a:cs typeface="Calibri"/>
              </a:rPr>
              <a:t>Data Enrichment</a:t>
            </a:r>
          </a:p>
        </p:txBody>
      </p:sp>
      <p:sp>
        <p:nvSpPr>
          <p:cNvPr id="31" name="TextBox 30"/>
          <p:cNvSpPr txBox="1"/>
          <p:nvPr/>
        </p:nvSpPr>
        <p:spPr>
          <a:xfrm>
            <a:off x="2651760" y="4215384"/>
            <a:ext cx="5925312" cy="301752"/>
          </a:xfrm>
          <a:prstGeom prst="rect">
            <a:avLst/>
          </a:prstGeom>
          <a:noFill/>
        </p:spPr>
        <p:txBody>
          <a:bodyPr wrap="square" lIns="0" rIns="0" tIns="0" bIns="0" anchor="ctr">
            <a:spAutoFit/>
          </a:bodyPr>
          <a:lstStyle/>
          <a:p>
            <a:pPr algn="l"/>
            <a:r>
              <a:rPr sz="1000" b="0" i="0">
                <a:solidFill>
                  <a:srgbClr val="595959"/>
                </a:solidFill>
                <a:latin typeface="Consolas"/>
                <a:cs typeface="Consolas"/>
              </a:rPr>
              <a:t>issue_id, ebi_fac_ids</a:t>
            </a:r>
          </a:p>
        </p:txBody>
      </p:sp>
      <p:sp>
        <p:nvSpPr>
          <p:cNvPr id="32" name="Rectangle 31"/>
          <p:cNvSpPr/>
          <p:nvPr/>
        </p:nvSpPr>
        <p:spPr>
          <a:xfrm>
            <a:off x="457200" y="4535424"/>
            <a:ext cx="8229600" cy="5486"/>
          </a:xfrm>
          <a:prstGeom prst="rect">
            <a:avLst/>
          </a:prstGeom>
          <a:solidFill>
            <a:srgbClr val="D9D9D9"/>
          </a:solidFill>
          <a:ln>
            <a:noFill/>
          </a:ln>
          <a:effectLst/>
        </p:spPr>
        <p:txBody>
          <a:bodyPr rtlCol="0" anchor="ctr" lIns="36576" rIns="36576"/>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Testing and versions</a:t>
            </a:r>
          </a:p>
        </p:txBody>
      </p:sp>
      <p:sp>
        <p:nvSpPr>
          <p:cNvPr id="3" name="TextBox 2"/>
          <p:cNvSpPr txBox="1"/>
          <p:nvPr/>
        </p:nvSpPr>
        <p:spPr>
          <a:xfrm>
            <a:off x="457200" y="868680"/>
            <a:ext cx="2834640" cy="274320"/>
          </a:xfrm>
          <a:prstGeom prst="rect">
            <a:avLst/>
          </a:prstGeom>
          <a:noFill/>
        </p:spPr>
        <p:txBody>
          <a:bodyPr wrap="square" lIns="0" rIns="0" tIns="0" bIns="0" anchor="b">
            <a:spAutoFit/>
          </a:bodyPr>
          <a:lstStyle/>
          <a:p>
            <a:pPr algn="l"/>
            <a:r>
              <a:rPr sz="1000" b="1" i="0">
                <a:solidFill>
                  <a:srgbClr val="8C8C8C"/>
                </a:solidFill>
                <a:latin typeface="Calibri"/>
                <a:cs typeface="Calibri"/>
              </a:rPr>
              <a:t>Tool</a:t>
            </a:r>
          </a:p>
        </p:txBody>
      </p:sp>
      <p:sp>
        <p:nvSpPr>
          <p:cNvPr id="4" name="TextBox 3"/>
          <p:cNvSpPr txBox="1"/>
          <p:nvPr/>
        </p:nvSpPr>
        <p:spPr>
          <a:xfrm>
            <a:off x="3383280" y="868680"/>
            <a:ext cx="5212080" cy="274320"/>
          </a:xfrm>
          <a:prstGeom prst="rect">
            <a:avLst/>
          </a:prstGeom>
          <a:noFill/>
        </p:spPr>
        <p:txBody>
          <a:bodyPr wrap="square" lIns="0" rIns="0" tIns="0" bIns="0" anchor="b">
            <a:spAutoFit/>
          </a:bodyPr>
          <a:lstStyle/>
          <a:p>
            <a:pPr algn="l"/>
            <a:r>
              <a:rPr sz="1000" b="1" i="0">
                <a:solidFill>
                  <a:srgbClr val="8C8C8C"/>
                </a:solidFill>
                <a:latin typeface="Calibri"/>
                <a:cs typeface="Calibri"/>
              </a:rPr>
              <a:t>What it does</a:t>
            </a:r>
          </a:p>
        </p:txBody>
      </p:sp>
      <p:sp>
        <p:nvSpPr>
          <p:cNvPr id="5" name="Rectangle 4"/>
          <p:cNvSpPr/>
          <p:nvPr/>
        </p:nvSpPr>
        <p:spPr>
          <a:xfrm>
            <a:off x="457200" y="1179576"/>
            <a:ext cx="8229600" cy="10972"/>
          </a:xfrm>
          <a:prstGeom prst="rect">
            <a:avLst/>
          </a:prstGeom>
          <a:solidFill>
            <a:srgbClr val="1D1D1B"/>
          </a:solidFill>
          <a:ln>
            <a:noFill/>
          </a:ln>
          <a:effectLst/>
        </p:spPr>
        <p:txBody>
          <a:bodyPr rtlCol="0" anchor="ctr" lIns="36576" rIns="36576"/>
          <a:lstStyle/>
          <a:p>
            <a:pPr algn="ctr"/>
          </a:p>
        </p:txBody>
      </p:sp>
      <p:sp>
        <p:nvSpPr>
          <p:cNvPr id="6" name="TextBox 5"/>
          <p:cNvSpPr txBox="1"/>
          <p:nvPr/>
        </p:nvSpPr>
        <p:spPr>
          <a:xfrm>
            <a:off x="457200" y="1216152"/>
            <a:ext cx="2816352" cy="329184"/>
          </a:xfrm>
          <a:prstGeom prst="rect">
            <a:avLst/>
          </a:prstGeom>
          <a:noFill/>
        </p:spPr>
        <p:txBody>
          <a:bodyPr wrap="square" lIns="0" rIns="0" tIns="0" bIns="0" anchor="ctr">
            <a:spAutoFit/>
          </a:bodyPr>
          <a:lstStyle/>
          <a:p>
            <a:pPr algn="l"/>
            <a:r>
              <a:rPr sz="1100" b="0" i="0">
                <a:solidFill>
                  <a:srgbClr val="1D1D1B"/>
                </a:solidFill>
                <a:latin typeface="Consolas"/>
                <a:cs typeface="Consolas"/>
              </a:rPr>
              <a:t>node tools/sim.js</a:t>
            </a:r>
          </a:p>
        </p:txBody>
      </p:sp>
      <p:sp>
        <p:nvSpPr>
          <p:cNvPr id="7" name="TextBox 6"/>
          <p:cNvSpPr txBox="1"/>
          <p:nvPr/>
        </p:nvSpPr>
        <p:spPr>
          <a:xfrm>
            <a:off x="3383280" y="1216152"/>
            <a:ext cx="5193792" cy="329184"/>
          </a:xfrm>
          <a:prstGeom prst="rect">
            <a:avLst/>
          </a:prstGeom>
          <a:noFill/>
        </p:spPr>
        <p:txBody>
          <a:bodyPr wrap="square" lIns="0" rIns="0" tIns="0" bIns="0" anchor="ctr">
            <a:spAutoFit/>
          </a:bodyPr>
          <a:lstStyle/>
          <a:p>
            <a:pPr algn="l"/>
            <a:r>
              <a:rPr sz="1100" b="0" i="0">
                <a:solidFill>
                  <a:srgbClr val="595959"/>
                </a:solidFill>
                <a:latin typeface="Calibri"/>
                <a:cs typeface="Calibri"/>
              </a:rPr>
              <a:t>runs the code nodes on all 40 Node files offline</a:t>
            </a:r>
          </a:p>
        </p:txBody>
      </p:sp>
      <p:sp>
        <p:nvSpPr>
          <p:cNvPr id="8" name="Rectangle 7"/>
          <p:cNvSpPr/>
          <p:nvPr/>
        </p:nvSpPr>
        <p:spPr>
          <a:xfrm>
            <a:off x="457200" y="1563624"/>
            <a:ext cx="8229600" cy="5486"/>
          </a:xfrm>
          <a:prstGeom prst="rect">
            <a:avLst/>
          </a:prstGeom>
          <a:solidFill>
            <a:srgbClr val="D9D9D9"/>
          </a:solidFill>
          <a:ln>
            <a:noFill/>
          </a:ln>
          <a:effectLst/>
        </p:spPr>
        <p:txBody>
          <a:bodyPr rtlCol="0" anchor="ctr" lIns="36576" rIns="36576"/>
          <a:lstStyle/>
          <a:p>
            <a:pPr algn="ctr"/>
          </a:p>
        </p:txBody>
      </p:sp>
      <p:sp>
        <p:nvSpPr>
          <p:cNvPr id="9" name="TextBox 8"/>
          <p:cNvSpPr txBox="1"/>
          <p:nvPr/>
        </p:nvSpPr>
        <p:spPr>
          <a:xfrm>
            <a:off x="457200" y="1600200"/>
            <a:ext cx="2816352" cy="329184"/>
          </a:xfrm>
          <a:prstGeom prst="rect">
            <a:avLst/>
          </a:prstGeom>
          <a:noFill/>
        </p:spPr>
        <p:txBody>
          <a:bodyPr wrap="square" lIns="0" rIns="0" tIns="0" bIns="0" anchor="ctr">
            <a:spAutoFit/>
          </a:bodyPr>
          <a:lstStyle/>
          <a:p>
            <a:pPr algn="l"/>
            <a:r>
              <a:rPr sz="1100" b="0" i="0">
                <a:solidFill>
                  <a:srgbClr val="1D1D1B"/>
                </a:solidFill>
                <a:latin typeface="Consolas"/>
                <a:cs typeface="Consolas"/>
              </a:rPr>
              <a:t>node tools/rerender.js</a:t>
            </a:r>
          </a:p>
        </p:txBody>
      </p:sp>
      <p:sp>
        <p:nvSpPr>
          <p:cNvPr id="10" name="TextBox 9"/>
          <p:cNvSpPr txBox="1"/>
          <p:nvPr/>
        </p:nvSpPr>
        <p:spPr>
          <a:xfrm>
            <a:off x="3383280" y="1600200"/>
            <a:ext cx="5193792" cy="329184"/>
          </a:xfrm>
          <a:prstGeom prst="rect">
            <a:avLst/>
          </a:prstGeom>
          <a:noFill/>
        </p:spPr>
        <p:txBody>
          <a:bodyPr wrap="square" lIns="0" rIns="0" tIns="0" bIns="0" anchor="ctr">
            <a:spAutoFit/>
          </a:bodyPr>
          <a:lstStyle/>
          <a:p>
            <a:pPr algn="l"/>
            <a:r>
              <a:rPr sz="1100" b="0" i="0">
                <a:solidFill>
                  <a:srgbClr val="595959"/>
                </a:solidFill>
                <a:latin typeface="Calibri"/>
                <a:cs typeface="Calibri"/>
              </a:rPr>
              <a:t>rebuilds the tables on finished pages without a new AI run</a:t>
            </a:r>
          </a:p>
        </p:txBody>
      </p:sp>
      <p:sp>
        <p:nvSpPr>
          <p:cNvPr id="11" name="Rectangle 10"/>
          <p:cNvSpPr/>
          <p:nvPr/>
        </p:nvSpPr>
        <p:spPr>
          <a:xfrm>
            <a:off x="457200" y="1947672"/>
            <a:ext cx="8229600" cy="5486"/>
          </a:xfrm>
          <a:prstGeom prst="rect">
            <a:avLst/>
          </a:prstGeom>
          <a:solidFill>
            <a:srgbClr val="D9D9D9"/>
          </a:solidFill>
          <a:ln>
            <a:noFill/>
          </a:ln>
          <a:effectLst/>
        </p:spPr>
        <p:txBody>
          <a:bodyPr rtlCol="0" anchor="ctr" lIns="36576" rIns="36576"/>
          <a:lstStyle/>
          <a:p>
            <a:pPr algn="ctr"/>
          </a:p>
        </p:txBody>
      </p:sp>
      <p:sp>
        <p:nvSpPr>
          <p:cNvPr id="12" name="TextBox 11"/>
          <p:cNvSpPr txBox="1"/>
          <p:nvPr/>
        </p:nvSpPr>
        <p:spPr>
          <a:xfrm>
            <a:off x="457200" y="1984248"/>
            <a:ext cx="2816352" cy="329184"/>
          </a:xfrm>
          <a:prstGeom prst="rect">
            <a:avLst/>
          </a:prstGeom>
          <a:noFill/>
        </p:spPr>
        <p:txBody>
          <a:bodyPr wrap="square" lIns="0" rIns="0" tIns="0" bIns="0" anchor="ctr">
            <a:spAutoFit/>
          </a:bodyPr>
          <a:lstStyle/>
          <a:p>
            <a:pPr algn="l"/>
            <a:r>
              <a:rPr sz="1100" b="0" i="0">
                <a:solidFill>
                  <a:srgbClr val="1D1D1B"/>
                </a:solidFill>
                <a:latin typeface="Consolas"/>
                <a:cs typeface="Consolas"/>
              </a:rPr>
              <a:t>python tools/check_pages.py</a:t>
            </a:r>
          </a:p>
        </p:txBody>
      </p:sp>
      <p:sp>
        <p:nvSpPr>
          <p:cNvPr id="13" name="TextBox 12"/>
          <p:cNvSpPr txBox="1"/>
          <p:nvPr/>
        </p:nvSpPr>
        <p:spPr>
          <a:xfrm>
            <a:off x="3383280" y="1984248"/>
            <a:ext cx="5193792" cy="329184"/>
          </a:xfrm>
          <a:prstGeom prst="rect">
            <a:avLst/>
          </a:prstGeom>
          <a:noFill/>
        </p:spPr>
        <p:txBody>
          <a:bodyPr wrap="square" lIns="0" rIns="0" tIns="0" bIns="0" anchor="ctr">
            <a:spAutoFit/>
          </a:bodyPr>
          <a:lstStyle/>
          <a:p>
            <a:pPr algn="l"/>
            <a:r>
              <a:rPr sz="1100" b="0" i="0">
                <a:solidFill>
                  <a:srgbClr val="595959"/>
                </a:solidFill>
                <a:latin typeface="Calibri"/>
                <a:cs typeface="Calibri"/>
              </a:rPr>
              <a:t>checks finished pages against the Node files</a:t>
            </a:r>
          </a:p>
        </p:txBody>
      </p:sp>
      <p:sp>
        <p:nvSpPr>
          <p:cNvPr id="14" name="Rectangle 13"/>
          <p:cNvSpPr/>
          <p:nvPr/>
        </p:nvSpPr>
        <p:spPr>
          <a:xfrm>
            <a:off x="457200" y="2331720"/>
            <a:ext cx="8229600" cy="5486"/>
          </a:xfrm>
          <a:prstGeom prst="rect">
            <a:avLst/>
          </a:prstGeom>
          <a:solidFill>
            <a:srgbClr val="D9D9D9"/>
          </a:solidFill>
          <a:ln>
            <a:noFill/>
          </a:ln>
          <a:effectLst/>
        </p:spPr>
        <p:txBody>
          <a:bodyPr rtlCol="0" anchor="ctr" lIns="36576" rIns="36576"/>
          <a:lstStyle/>
          <a:p>
            <a:pPr algn="ctr"/>
          </a:p>
        </p:txBody>
      </p:sp>
      <p:sp>
        <p:nvSpPr>
          <p:cNvPr id="15" name="TextBox 14"/>
          <p:cNvSpPr txBox="1"/>
          <p:nvPr/>
        </p:nvSpPr>
        <p:spPr>
          <a:xfrm>
            <a:off x="457200" y="2377440"/>
            <a:ext cx="8229600" cy="274320"/>
          </a:xfrm>
          <a:prstGeom prst="rect">
            <a:avLst/>
          </a:prstGeom>
          <a:noFill/>
        </p:spPr>
        <p:txBody>
          <a:bodyPr wrap="square" lIns="0" rIns="0" tIns="0" bIns="0" anchor="t">
            <a:spAutoFit/>
          </a:bodyPr>
          <a:lstStyle/>
          <a:p>
            <a:pPr algn="l"/>
            <a:r>
              <a:rPr sz="1200" b="1" i="0">
                <a:solidFill>
                  <a:srgbClr val="1D1D1B"/>
                </a:solidFill>
                <a:latin typeface="Source Sans Pro"/>
                <a:cs typeface="Source Sans Pro"/>
              </a:rPr>
              <a:t>System prompt versions</a:t>
            </a:r>
          </a:p>
        </p:txBody>
      </p:sp>
      <p:sp>
        <p:nvSpPr>
          <p:cNvPr id="16" name="Rectangle 15"/>
          <p:cNvSpPr/>
          <p:nvPr/>
        </p:nvSpPr>
        <p:spPr>
          <a:xfrm>
            <a:off x="457200" y="2862072"/>
            <a:ext cx="8229600" cy="10972"/>
          </a:xfrm>
          <a:prstGeom prst="rect">
            <a:avLst/>
          </a:prstGeom>
          <a:solidFill>
            <a:srgbClr val="BFBFBF"/>
          </a:solidFill>
          <a:ln>
            <a:noFill/>
          </a:ln>
          <a:effectLst/>
        </p:spPr>
        <p:txBody>
          <a:bodyPr rtlCol="0" anchor="ctr" lIns="36576" rIns="36576"/>
          <a:lstStyle/>
          <a:p>
            <a:pPr algn="ctr"/>
          </a:p>
        </p:txBody>
      </p:sp>
      <p:sp>
        <p:nvSpPr>
          <p:cNvPr id="17" name="Oval 16"/>
          <p:cNvSpPr/>
          <p:nvPr/>
        </p:nvSpPr>
        <p:spPr>
          <a:xfrm>
            <a:off x="457200" y="2798064"/>
            <a:ext cx="137160" cy="137160"/>
          </a:xfrm>
          <a:prstGeom prst="ellipse">
            <a:avLst/>
          </a:prstGeom>
          <a:solidFill>
            <a:srgbClr val="1D1D1B"/>
          </a:solidFill>
          <a:ln>
            <a:noFill/>
          </a:ln>
          <a:effectLst/>
        </p:spPr>
        <p:txBody>
          <a:bodyPr rtlCol="0" anchor="ctr" lIns="36576" rIns="36576"/>
          <a:lstStyle/>
          <a:p>
            <a:pPr algn="ctr"/>
          </a:p>
        </p:txBody>
      </p:sp>
      <p:sp>
        <p:nvSpPr>
          <p:cNvPr id="18" name="TextBox 17"/>
          <p:cNvSpPr txBox="1"/>
          <p:nvPr/>
        </p:nvSpPr>
        <p:spPr>
          <a:xfrm>
            <a:off x="457200" y="3017520"/>
            <a:ext cx="1554480" cy="256032"/>
          </a:xfrm>
          <a:prstGeom prst="rect">
            <a:avLst/>
          </a:prstGeom>
          <a:noFill/>
        </p:spPr>
        <p:txBody>
          <a:bodyPr wrap="square" lIns="0" rIns="0" tIns="0" bIns="0" anchor="t">
            <a:spAutoFit/>
          </a:bodyPr>
          <a:lstStyle/>
          <a:p>
            <a:pPr algn="l"/>
            <a:r>
              <a:rPr sz="1100" b="1" i="0">
                <a:solidFill>
                  <a:srgbClr val="1D1D1B"/>
                </a:solidFill>
                <a:latin typeface="Calibri"/>
                <a:cs typeface="Calibri"/>
              </a:rPr>
              <a:t>v1, 14 Oct</a:t>
            </a:r>
          </a:p>
        </p:txBody>
      </p:sp>
      <p:sp>
        <p:nvSpPr>
          <p:cNvPr id="19" name="TextBox 18"/>
          <p:cNvSpPr txBox="1"/>
          <p:nvPr/>
        </p:nvSpPr>
        <p:spPr>
          <a:xfrm>
            <a:off x="457200" y="3273552"/>
            <a:ext cx="1508760" cy="457200"/>
          </a:xfrm>
          <a:prstGeom prst="rect">
            <a:avLst/>
          </a:prstGeom>
          <a:noFill/>
        </p:spPr>
        <p:txBody>
          <a:bodyPr wrap="square" lIns="0" rIns="0" tIns="0" bIns="0" anchor="t">
            <a:spAutoFit/>
          </a:bodyPr>
          <a:lstStyle/>
          <a:p>
            <a:pPr algn="l"/>
            <a:r>
              <a:rPr sz="1050" b="0" i="0">
                <a:solidFill>
                  <a:srgbClr val="595959"/>
                </a:solidFill>
                <a:latin typeface="Calibri"/>
                <a:cs typeface="Calibri"/>
              </a:rPr>
              <a:t>five sections, facts only</a:t>
            </a:r>
          </a:p>
        </p:txBody>
      </p:sp>
      <p:sp>
        <p:nvSpPr>
          <p:cNvPr id="20" name="Oval 19"/>
          <p:cNvSpPr/>
          <p:nvPr/>
        </p:nvSpPr>
        <p:spPr>
          <a:xfrm>
            <a:off x="2103120" y="2798064"/>
            <a:ext cx="137160" cy="137160"/>
          </a:xfrm>
          <a:prstGeom prst="ellipse">
            <a:avLst/>
          </a:prstGeom>
          <a:solidFill>
            <a:srgbClr val="1D1D1B"/>
          </a:solidFill>
          <a:ln>
            <a:noFill/>
          </a:ln>
          <a:effectLst/>
        </p:spPr>
        <p:txBody>
          <a:bodyPr rtlCol="0" anchor="ctr" lIns="36576" rIns="36576"/>
          <a:lstStyle/>
          <a:p>
            <a:pPr algn="ctr"/>
          </a:p>
        </p:txBody>
      </p:sp>
      <p:sp>
        <p:nvSpPr>
          <p:cNvPr id="21" name="TextBox 20"/>
          <p:cNvSpPr txBox="1"/>
          <p:nvPr/>
        </p:nvSpPr>
        <p:spPr>
          <a:xfrm>
            <a:off x="2103120" y="3017520"/>
            <a:ext cx="1554480" cy="256032"/>
          </a:xfrm>
          <a:prstGeom prst="rect">
            <a:avLst/>
          </a:prstGeom>
          <a:noFill/>
        </p:spPr>
        <p:txBody>
          <a:bodyPr wrap="square" lIns="0" rIns="0" tIns="0" bIns="0" anchor="t">
            <a:spAutoFit/>
          </a:bodyPr>
          <a:lstStyle/>
          <a:p>
            <a:pPr algn="l"/>
            <a:r>
              <a:rPr sz="1100" b="1" i="0">
                <a:solidFill>
                  <a:srgbClr val="1D1D1B"/>
                </a:solidFill>
                <a:latin typeface="Calibri"/>
                <a:cs typeface="Calibri"/>
              </a:rPr>
              <a:t>v10, 14 Oct</a:t>
            </a:r>
          </a:p>
        </p:txBody>
      </p:sp>
      <p:sp>
        <p:nvSpPr>
          <p:cNvPr id="22" name="TextBox 21"/>
          <p:cNvSpPr txBox="1"/>
          <p:nvPr/>
        </p:nvSpPr>
        <p:spPr>
          <a:xfrm>
            <a:off x="2103120" y="3273552"/>
            <a:ext cx="1508760" cy="457200"/>
          </a:xfrm>
          <a:prstGeom prst="rect">
            <a:avLst/>
          </a:prstGeom>
          <a:noFill/>
        </p:spPr>
        <p:txBody>
          <a:bodyPr wrap="square" lIns="0" rIns="0" tIns="0" bIns="0" anchor="t">
            <a:spAutoFit/>
          </a:bodyPr>
          <a:lstStyle/>
          <a:p>
            <a:pPr algn="l"/>
            <a:r>
              <a:rPr sz="1050" b="0" i="0">
                <a:solidFill>
                  <a:srgbClr val="595959"/>
                </a:solidFill>
                <a:latin typeface="Calibri"/>
                <a:cs typeface="Calibri"/>
              </a:rPr>
              <a:t>plain style</a:t>
            </a:r>
          </a:p>
        </p:txBody>
      </p:sp>
      <p:sp>
        <p:nvSpPr>
          <p:cNvPr id="23" name="Oval 22"/>
          <p:cNvSpPr/>
          <p:nvPr/>
        </p:nvSpPr>
        <p:spPr>
          <a:xfrm>
            <a:off x="3749039" y="2798064"/>
            <a:ext cx="137160" cy="137160"/>
          </a:xfrm>
          <a:prstGeom prst="ellipse">
            <a:avLst/>
          </a:prstGeom>
          <a:solidFill>
            <a:srgbClr val="1D1D1B"/>
          </a:solidFill>
          <a:ln>
            <a:noFill/>
          </a:ln>
          <a:effectLst/>
        </p:spPr>
        <p:txBody>
          <a:bodyPr rtlCol="0" anchor="ctr" lIns="36576" rIns="36576"/>
          <a:lstStyle/>
          <a:p>
            <a:pPr algn="ctr"/>
          </a:p>
        </p:txBody>
      </p:sp>
      <p:sp>
        <p:nvSpPr>
          <p:cNvPr id="24" name="TextBox 23"/>
          <p:cNvSpPr txBox="1"/>
          <p:nvPr/>
        </p:nvSpPr>
        <p:spPr>
          <a:xfrm>
            <a:off x="3749039" y="3017520"/>
            <a:ext cx="1554480" cy="256032"/>
          </a:xfrm>
          <a:prstGeom prst="rect">
            <a:avLst/>
          </a:prstGeom>
          <a:noFill/>
        </p:spPr>
        <p:txBody>
          <a:bodyPr wrap="square" lIns="0" rIns="0" tIns="0" bIns="0" anchor="t">
            <a:spAutoFit/>
          </a:bodyPr>
          <a:lstStyle/>
          <a:p>
            <a:pPr algn="l"/>
            <a:r>
              <a:rPr sz="1100" b="1" i="0">
                <a:solidFill>
                  <a:srgbClr val="1D1D1B"/>
                </a:solidFill>
                <a:latin typeface="Calibri"/>
                <a:cs typeface="Calibri"/>
              </a:rPr>
              <a:t>v11, 15 Oct</a:t>
            </a:r>
          </a:p>
        </p:txBody>
      </p:sp>
      <p:sp>
        <p:nvSpPr>
          <p:cNvPr id="25" name="TextBox 24"/>
          <p:cNvSpPr txBox="1"/>
          <p:nvPr/>
        </p:nvSpPr>
        <p:spPr>
          <a:xfrm>
            <a:off x="3749039" y="3273552"/>
            <a:ext cx="1508760" cy="457200"/>
          </a:xfrm>
          <a:prstGeom prst="rect">
            <a:avLst/>
          </a:prstGeom>
          <a:noFill/>
        </p:spPr>
        <p:txBody>
          <a:bodyPr wrap="square" lIns="0" rIns="0" tIns="0" bIns="0" anchor="t">
            <a:spAutoFit/>
          </a:bodyPr>
          <a:lstStyle/>
          <a:p>
            <a:pPr algn="l"/>
            <a:r>
              <a:rPr sz="1050" b="0" i="0">
                <a:solidFill>
                  <a:srgbClr val="595959"/>
                </a:solidFill>
                <a:latin typeface="Calibri"/>
                <a:cs typeface="Calibri"/>
              </a:rPr>
              <a:t>methods only with their facilities</a:t>
            </a:r>
          </a:p>
        </p:txBody>
      </p:sp>
      <p:sp>
        <p:nvSpPr>
          <p:cNvPr id="26" name="Oval 25"/>
          <p:cNvSpPr/>
          <p:nvPr/>
        </p:nvSpPr>
        <p:spPr>
          <a:xfrm>
            <a:off x="5394960" y="2798064"/>
            <a:ext cx="137160" cy="137160"/>
          </a:xfrm>
          <a:prstGeom prst="ellipse">
            <a:avLst/>
          </a:prstGeom>
          <a:solidFill>
            <a:srgbClr val="1D1D1B"/>
          </a:solidFill>
          <a:ln>
            <a:noFill/>
          </a:ln>
          <a:effectLst/>
        </p:spPr>
        <p:txBody>
          <a:bodyPr rtlCol="0" anchor="ctr" lIns="36576" rIns="36576"/>
          <a:lstStyle/>
          <a:p>
            <a:pPr algn="ctr"/>
          </a:p>
        </p:txBody>
      </p:sp>
      <p:sp>
        <p:nvSpPr>
          <p:cNvPr id="27" name="TextBox 26"/>
          <p:cNvSpPr txBox="1"/>
          <p:nvPr/>
        </p:nvSpPr>
        <p:spPr>
          <a:xfrm>
            <a:off x="5394960" y="3017520"/>
            <a:ext cx="1554480" cy="256032"/>
          </a:xfrm>
          <a:prstGeom prst="rect">
            <a:avLst/>
          </a:prstGeom>
          <a:noFill/>
        </p:spPr>
        <p:txBody>
          <a:bodyPr wrap="square" lIns="0" rIns="0" tIns="0" bIns="0" anchor="t">
            <a:spAutoFit/>
          </a:bodyPr>
          <a:lstStyle/>
          <a:p>
            <a:pPr algn="l"/>
            <a:r>
              <a:rPr sz="1100" b="1" i="0">
                <a:solidFill>
                  <a:srgbClr val="1D1D1B"/>
                </a:solidFill>
                <a:latin typeface="Calibri"/>
                <a:cs typeface="Calibri"/>
              </a:rPr>
              <a:t>v13, 16 Oct</a:t>
            </a:r>
          </a:p>
        </p:txBody>
      </p:sp>
      <p:sp>
        <p:nvSpPr>
          <p:cNvPr id="28" name="TextBox 27"/>
          <p:cNvSpPr txBox="1"/>
          <p:nvPr/>
        </p:nvSpPr>
        <p:spPr>
          <a:xfrm>
            <a:off x="5394960" y="3273552"/>
            <a:ext cx="1508760" cy="457200"/>
          </a:xfrm>
          <a:prstGeom prst="rect">
            <a:avLst/>
          </a:prstGeom>
          <a:noFill/>
        </p:spPr>
        <p:txBody>
          <a:bodyPr wrap="square" lIns="0" rIns="0" tIns="0" bIns="0" anchor="t">
            <a:spAutoFit/>
          </a:bodyPr>
          <a:lstStyle/>
          <a:p>
            <a:pPr algn="l"/>
            <a:r>
              <a:rPr sz="1050" b="0" i="0">
                <a:solidFill>
                  <a:srgbClr val="595959"/>
                </a:solidFill>
                <a:latin typeface="Calibri"/>
                <a:cs typeface="Calibri"/>
              </a:rPr>
              <a:t>services only from the SLA</a:t>
            </a:r>
          </a:p>
        </p:txBody>
      </p:sp>
      <p:sp>
        <p:nvSpPr>
          <p:cNvPr id="29" name="Oval 28"/>
          <p:cNvSpPr/>
          <p:nvPr/>
        </p:nvSpPr>
        <p:spPr>
          <a:xfrm>
            <a:off x="7040880" y="2798064"/>
            <a:ext cx="137160" cy="137160"/>
          </a:xfrm>
          <a:prstGeom prst="ellipse">
            <a:avLst/>
          </a:prstGeom>
          <a:solidFill>
            <a:srgbClr val="009B3C"/>
          </a:solidFill>
          <a:ln>
            <a:noFill/>
          </a:ln>
          <a:effectLst/>
        </p:spPr>
        <p:txBody>
          <a:bodyPr rtlCol="0" anchor="ctr" lIns="36576" rIns="36576"/>
          <a:lstStyle/>
          <a:p>
            <a:pPr algn="ctr"/>
          </a:p>
        </p:txBody>
      </p:sp>
      <p:sp>
        <p:nvSpPr>
          <p:cNvPr id="30" name="TextBox 29"/>
          <p:cNvSpPr txBox="1"/>
          <p:nvPr/>
        </p:nvSpPr>
        <p:spPr>
          <a:xfrm>
            <a:off x="7040880" y="3017520"/>
            <a:ext cx="1554480" cy="256032"/>
          </a:xfrm>
          <a:prstGeom prst="rect">
            <a:avLst/>
          </a:prstGeom>
          <a:noFill/>
        </p:spPr>
        <p:txBody>
          <a:bodyPr wrap="square" lIns="0" rIns="0" tIns="0" bIns="0" anchor="t">
            <a:spAutoFit/>
          </a:bodyPr>
          <a:lstStyle/>
          <a:p>
            <a:pPr algn="l"/>
            <a:r>
              <a:rPr sz="1100" b="1" i="0">
                <a:solidFill>
                  <a:srgbClr val="1D1D1B"/>
                </a:solidFill>
                <a:latin typeface="Calibri"/>
                <a:cs typeface="Calibri"/>
              </a:rPr>
              <a:t>v16, 19 Oct</a:t>
            </a:r>
          </a:p>
        </p:txBody>
      </p:sp>
      <p:sp>
        <p:nvSpPr>
          <p:cNvPr id="31" name="TextBox 30"/>
          <p:cNvSpPr txBox="1"/>
          <p:nvPr/>
        </p:nvSpPr>
        <p:spPr>
          <a:xfrm>
            <a:off x="7040880" y="3273552"/>
            <a:ext cx="1508760" cy="457200"/>
          </a:xfrm>
          <a:prstGeom prst="rect">
            <a:avLst/>
          </a:prstGeom>
          <a:noFill/>
        </p:spPr>
        <p:txBody>
          <a:bodyPr wrap="square" lIns="0" rIns="0" tIns="0" bIns="0" anchor="t">
            <a:spAutoFit/>
          </a:bodyPr>
          <a:lstStyle/>
          <a:p>
            <a:pPr algn="l"/>
            <a:r>
              <a:rPr sz="1050" b="0" i="0">
                <a:solidFill>
                  <a:srgbClr val="595959"/>
                </a:solidFill>
                <a:latin typeface="Calibri"/>
                <a:cs typeface="Calibri"/>
              </a:rPr>
              <a:t>facts stated plainly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n8n workflow: Screenshot</a:t>
            </a:r>
          </a:p>
        </p:txBody>
      </p:sp>
      <p:sp>
        <p:nvSpPr>
          <p:cNvPr id="3" name="Rounded Rectangle 2"/>
          <p:cNvSpPr/>
          <p:nvPr/>
        </p:nvSpPr>
        <p:spPr>
          <a:xfrm>
            <a:off x="457200" y="914400"/>
            <a:ext cx="8229600" cy="3429000"/>
          </a:xfrm>
          <a:prstGeom prst="roundRect">
            <a:avLst>
              <a:gd name="adj" fmla="val 1600"/>
            </a:avLst>
          </a:prstGeom>
          <a:solidFill>
            <a:srgbClr val="F7F7F7"/>
          </a:solidFill>
          <a:ln w="12700">
            <a:solidFill>
              <a:srgbClr val="BFBFBF"/>
            </a:solidFill>
            <a:prstDash val="dash"/>
          </a:ln>
          <a:effectLst/>
        </p:spPr>
        <p:txBody>
          <a:bodyPr rtlCol="0" anchor="ctr" lIns="36576" rIns="36576"/>
          <a:lstStyle/>
          <a:p>
            <a:pPr algn="ctr"/>
          </a:p>
        </p:txBody>
      </p:sp>
      <p:sp>
        <p:nvSpPr>
          <p:cNvPr id="4" name="TextBox 3"/>
          <p:cNvSpPr txBox="1"/>
          <p:nvPr/>
        </p:nvSpPr>
        <p:spPr>
          <a:xfrm>
            <a:off x="457200" y="2468880"/>
            <a:ext cx="8229600" cy="365760"/>
          </a:xfrm>
          <a:prstGeom prst="rect">
            <a:avLst/>
          </a:prstGeom>
          <a:noFill/>
        </p:spPr>
        <p:txBody>
          <a:bodyPr wrap="square" lIns="0" rIns="0" tIns="0" bIns="0" anchor="ctr">
            <a:spAutoFit/>
          </a:bodyPr>
          <a:lstStyle/>
          <a:p>
            <a:pPr algn="ctr"/>
            <a:r>
              <a:rPr sz="1400" b="0" i="0">
                <a:solidFill>
                  <a:srgbClr val="8C8C8C"/>
                </a:solidFill>
                <a:latin typeface="Calibri"/>
                <a:cs typeface="Calibri"/>
              </a:rPr>
              <a:t>Paste the n8n screenshot here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Open question: Pages or JSON for the Navigator</a:t>
            </a:r>
          </a:p>
        </p:txBody>
      </p:sp>
      <p:sp>
        <p:nvSpPr>
          <p:cNvPr id="3" name="Rounded Rectangle 2"/>
          <p:cNvSpPr/>
          <p:nvPr/>
        </p:nvSpPr>
        <p:spPr>
          <a:xfrm>
            <a:off x="457200" y="1005840"/>
            <a:ext cx="3886200" cy="2377440"/>
          </a:xfrm>
          <a:prstGeom prst="roundRect">
            <a:avLst>
              <a:gd name="adj" fmla="val 3076"/>
            </a:avLst>
          </a:prstGeom>
          <a:solidFill>
            <a:srgbClr val="F2F2F2"/>
          </a:solidFill>
          <a:ln>
            <a:noFill/>
          </a:ln>
          <a:effectLst/>
        </p:spPr>
        <p:txBody>
          <a:bodyPr rtlCol="0" anchor="ctr" lIns="36576" rIns="36576"/>
          <a:lstStyle/>
          <a:p>
            <a:pPr algn="ctr"/>
          </a:p>
        </p:txBody>
      </p:sp>
      <p:sp>
        <p:nvSpPr>
          <p:cNvPr id="4" name="TextBox 3"/>
          <p:cNvSpPr txBox="1"/>
          <p:nvPr/>
        </p:nvSpPr>
        <p:spPr>
          <a:xfrm>
            <a:off x="731520" y="1188720"/>
            <a:ext cx="3337560" cy="365760"/>
          </a:xfrm>
          <a:prstGeom prst="rect">
            <a:avLst/>
          </a:prstGeom>
          <a:noFill/>
        </p:spPr>
        <p:txBody>
          <a:bodyPr wrap="square" lIns="0" rIns="0" tIns="0" bIns="0" anchor="t">
            <a:spAutoFit/>
          </a:bodyPr>
          <a:lstStyle/>
          <a:p>
            <a:pPr algn="l"/>
            <a:r>
              <a:rPr sz="1700" b="1" i="0">
                <a:solidFill>
                  <a:srgbClr val="1D1D1B"/>
                </a:solidFill>
                <a:latin typeface="Source Sans Pro"/>
                <a:cs typeface="Source Sans Pro"/>
              </a:rPr>
              <a:t>Node pages</a:t>
            </a:r>
          </a:p>
        </p:txBody>
      </p:sp>
      <p:sp>
        <p:nvSpPr>
          <p:cNvPr id="5" name="TextBox 4"/>
          <p:cNvSpPr txBox="1"/>
          <p:nvPr/>
        </p:nvSpPr>
        <p:spPr>
          <a:xfrm>
            <a:off x="731520" y="1572768"/>
            <a:ext cx="3337560" cy="274320"/>
          </a:xfrm>
          <a:prstGeom prst="rect">
            <a:avLst/>
          </a:prstGeom>
          <a:noFill/>
        </p:spPr>
        <p:txBody>
          <a:bodyPr wrap="square" lIns="0" rIns="0" tIns="0" bIns="0" anchor="t">
            <a:spAutoFit/>
          </a:bodyPr>
          <a:lstStyle/>
          <a:p>
            <a:pPr algn="l"/>
            <a:r>
              <a:rPr sz="1200" b="0" i="0">
                <a:solidFill>
                  <a:srgbClr val="8C8C8C"/>
                </a:solidFill>
                <a:latin typeface="Calibri"/>
                <a:cs typeface="Calibri"/>
              </a:rPr>
              <a:t>Ali</a:t>
            </a:r>
          </a:p>
        </p:txBody>
      </p:sp>
      <p:sp>
        <p:nvSpPr>
          <p:cNvPr id="6" name="TextBox 5"/>
          <p:cNvSpPr txBox="1"/>
          <p:nvPr/>
        </p:nvSpPr>
        <p:spPr>
          <a:xfrm>
            <a:off x="731520" y="1965960"/>
            <a:ext cx="3337560" cy="1280160"/>
          </a:xfrm>
          <a:prstGeom prst="rect">
            <a:avLst/>
          </a:prstGeom>
          <a:noFill/>
        </p:spPr>
        <p:txBody>
          <a:bodyPr wrap="square" lIns="0" rIns="0" tIns="0" bIns="0" anchor="t">
            <a:spAutoFit/>
          </a:bodyPr>
          <a:lstStyle/>
          <a:p>
            <a:pPr algn="l"/>
            <a:r>
              <a:rPr sz="1400" b="0" i="0">
                <a:solidFill>
                  <a:srgbClr val="595959"/>
                </a:solidFill>
                <a:latin typeface="Calibri"/>
                <a:cs typeface="Calibri"/>
              </a:rPr>
              <a:t>Nodes check the same text researchers read. Facts would have to be parsed back out of the prose.</a:t>
            </a:r>
          </a:p>
        </p:txBody>
      </p:sp>
      <p:sp>
        <p:nvSpPr>
          <p:cNvPr id="7" name="Rounded Rectangle 6"/>
          <p:cNvSpPr/>
          <p:nvPr/>
        </p:nvSpPr>
        <p:spPr>
          <a:xfrm>
            <a:off x="4800600" y="1005840"/>
            <a:ext cx="3886200" cy="2377440"/>
          </a:xfrm>
          <a:prstGeom prst="roundRect">
            <a:avLst>
              <a:gd name="adj" fmla="val 3076"/>
            </a:avLst>
          </a:prstGeom>
          <a:solidFill>
            <a:srgbClr val="F2F2F2"/>
          </a:solidFill>
          <a:ln>
            <a:noFill/>
          </a:ln>
          <a:effectLst/>
        </p:spPr>
        <p:txBody>
          <a:bodyPr rtlCol="0" anchor="ctr" lIns="36576" rIns="36576"/>
          <a:lstStyle/>
          <a:p>
            <a:pPr algn="ctr"/>
          </a:p>
        </p:txBody>
      </p:sp>
      <p:sp>
        <p:nvSpPr>
          <p:cNvPr id="8" name="TextBox 7"/>
          <p:cNvSpPr txBox="1"/>
          <p:nvPr/>
        </p:nvSpPr>
        <p:spPr>
          <a:xfrm>
            <a:off x="5074920" y="1188720"/>
            <a:ext cx="3337560" cy="365760"/>
          </a:xfrm>
          <a:prstGeom prst="rect">
            <a:avLst/>
          </a:prstGeom>
          <a:noFill/>
        </p:spPr>
        <p:txBody>
          <a:bodyPr wrap="square" lIns="0" rIns="0" tIns="0" bIns="0" anchor="t">
            <a:spAutoFit/>
          </a:bodyPr>
          <a:lstStyle/>
          <a:p>
            <a:pPr algn="l"/>
            <a:r>
              <a:rPr sz="1700" b="1" i="0">
                <a:solidFill>
                  <a:srgbClr val="1D1D1B"/>
                </a:solidFill>
                <a:latin typeface="Source Sans Pro"/>
                <a:cs typeface="Source Sans Pro"/>
              </a:rPr>
              <a:t>JSON per Node</a:t>
            </a:r>
          </a:p>
        </p:txBody>
      </p:sp>
      <p:sp>
        <p:nvSpPr>
          <p:cNvPr id="9" name="TextBox 8"/>
          <p:cNvSpPr txBox="1"/>
          <p:nvPr/>
        </p:nvSpPr>
        <p:spPr>
          <a:xfrm>
            <a:off x="5074920" y="1572768"/>
            <a:ext cx="3337560" cy="274320"/>
          </a:xfrm>
          <a:prstGeom prst="rect">
            <a:avLst/>
          </a:prstGeom>
          <a:noFill/>
        </p:spPr>
        <p:txBody>
          <a:bodyPr wrap="square" lIns="0" rIns="0" tIns="0" bIns="0" anchor="t">
            <a:spAutoFit/>
          </a:bodyPr>
          <a:lstStyle/>
          <a:p>
            <a:pPr algn="l"/>
            <a:r>
              <a:rPr sz="1200" b="0" i="0">
                <a:solidFill>
                  <a:srgbClr val="8C8C8C"/>
                </a:solidFill>
                <a:latin typeface="Calibri"/>
                <a:cs typeface="Calibri"/>
              </a:rPr>
              <a:t>Aman</a:t>
            </a:r>
          </a:p>
        </p:txBody>
      </p:sp>
      <p:sp>
        <p:nvSpPr>
          <p:cNvPr id="10" name="TextBox 9"/>
          <p:cNvSpPr txBox="1"/>
          <p:nvPr/>
        </p:nvSpPr>
        <p:spPr>
          <a:xfrm>
            <a:off x="5074920" y="1965960"/>
            <a:ext cx="3337560" cy="1280160"/>
          </a:xfrm>
          <a:prstGeom prst="rect">
            <a:avLst/>
          </a:prstGeom>
          <a:noFill/>
        </p:spPr>
        <p:txBody>
          <a:bodyPr wrap="square" lIns="0" rIns="0" tIns="0" bIns="0" anchor="t">
            <a:spAutoFit/>
          </a:bodyPr>
          <a:lstStyle/>
          <a:p>
            <a:pPr algn="l"/>
            <a:r>
              <a:rPr sz="1400" b="0" i="0">
                <a:solidFill>
                  <a:srgbClr val="595959"/>
                </a:solidFill>
                <a:latin typeface="Calibri"/>
                <a:cs typeface="Calibri"/>
              </a:rPr>
              <a:t>Exact fields from the Node Editor. Needs a schema agreed with KTH, and people still need the pages.</a:t>
            </a:r>
          </a:p>
        </p:txBody>
      </p:sp>
      <p:sp>
        <p:nvSpPr>
          <p:cNvPr id="11" name="TextBox 10"/>
          <p:cNvSpPr txBox="1"/>
          <p:nvPr/>
        </p:nvSpPr>
        <p:spPr>
          <a:xfrm>
            <a:off x="457200" y="3611880"/>
            <a:ext cx="8229600" cy="457200"/>
          </a:xfrm>
          <a:prstGeom prst="rect">
            <a:avLst/>
          </a:prstGeom>
          <a:noFill/>
        </p:spPr>
        <p:txBody>
          <a:bodyPr wrap="square" lIns="0" rIns="0" tIns="0" bIns="0" anchor="t">
            <a:spAutoFit/>
          </a:bodyPr>
          <a:lstStyle/>
          <a:p>
            <a:pPr algn="l"/>
            <a:r>
              <a:rPr sz="1400" b="0" i="0">
                <a:solidFill>
                  <a:srgbClr val="1D1D1B"/>
                </a:solidFill>
                <a:latin typeface="Calibri"/>
                <a:cs typeface="Calibri"/>
              </a:rPr>
              <a:t>Both can come from the same Node file.</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1181</Words>
  <Application>Microsoft Office PowerPoint</Application>
  <PresentationFormat>On-screen Show (16:9)</PresentationFormat>
  <Paragraphs>259</Paragraphs>
  <Slides>13</Slides>
  <Notes>13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Source Sans 3</vt:lpstr>
      <vt:lpstr>Arial</vt:lpstr>
      <vt:lpstr>Trebuchet MS</vt:lpstr>
      <vt:lpstr>Times New Roman</vt:lpstr>
      <vt:lpstr>Calibri</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Sudeep Das</dc:creator>
  <cp:lastModifiedBy>Joakim Edman</cp:lastModifiedBy>
  <cp:revision>1</cp:revision>
  <dcterms:created xsi:type="dcterms:W3CDTF">2026-04-06T19:27:44Z</dcterms:created>
  <dcterms:modified xsi:type="dcterms:W3CDTF">2026-04-10T15:17:42Z</dcterms:modified>
</cp:coreProperties>
</file>